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5" d="100"/>
          <a:sy n="105" d="100"/>
        </p:scale>
        <p:origin x="54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3" Type="http://schemas.openxmlformats.org/officeDocument/2006/relationships/tags" Target="../tags/tag13.xml"/><Relationship Id="rId18" Type="http://schemas.openxmlformats.org/officeDocument/2006/relationships/tags" Target="../tags/tag18.xml"/><Relationship Id="rId26" Type="http://schemas.openxmlformats.org/officeDocument/2006/relationships/tags" Target="../tags/tag26.xml"/><Relationship Id="rId3" Type="http://schemas.openxmlformats.org/officeDocument/2006/relationships/tags" Target="../tags/tag3.xml"/><Relationship Id="rId21" Type="http://schemas.openxmlformats.org/officeDocument/2006/relationships/tags" Target="../tags/tag21.xml"/><Relationship Id="rId34" Type="http://schemas.openxmlformats.org/officeDocument/2006/relationships/image" Target="../media/image10.png"/><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tags" Target="../tags/tag25.xml"/><Relationship Id="rId33" Type="http://schemas.openxmlformats.org/officeDocument/2006/relationships/notesSlide" Target="../notesSlides/notesSlide8.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tags" Target="../tags/tag20.xml"/><Relationship Id="rId29" Type="http://schemas.openxmlformats.org/officeDocument/2006/relationships/tags" Target="../tags/tag29.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24" Type="http://schemas.openxmlformats.org/officeDocument/2006/relationships/tags" Target="../tags/tag24.xml"/><Relationship Id="rId32" Type="http://schemas.openxmlformats.org/officeDocument/2006/relationships/slideLayout" Target="../slideLayouts/slideLayout1.xml"/><Relationship Id="rId5" Type="http://schemas.openxmlformats.org/officeDocument/2006/relationships/tags" Target="../tags/tag5.xml"/><Relationship Id="rId15" Type="http://schemas.openxmlformats.org/officeDocument/2006/relationships/tags" Target="../tags/tag15.xml"/><Relationship Id="rId23" Type="http://schemas.openxmlformats.org/officeDocument/2006/relationships/tags" Target="../tags/tag23.xml"/><Relationship Id="rId28" Type="http://schemas.openxmlformats.org/officeDocument/2006/relationships/tags" Target="../tags/tag28.xml"/><Relationship Id="rId10" Type="http://schemas.openxmlformats.org/officeDocument/2006/relationships/tags" Target="../tags/tag10.xml"/><Relationship Id="rId19" Type="http://schemas.openxmlformats.org/officeDocument/2006/relationships/tags" Target="../tags/tag19.xml"/><Relationship Id="rId31" Type="http://schemas.openxmlformats.org/officeDocument/2006/relationships/tags" Target="../tags/tag31.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tags" Target="../tags/tag22.xml"/><Relationship Id="rId27" Type="http://schemas.openxmlformats.org/officeDocument/2006/relationships/tags" Target="../tags/tag27.xml"/><Relationship Id="rId30" Type="http://schemas.openxmlformats.org/officeDocument/2006/relationships/tags" Target="../tags/tag30.xml"/><Relationship Id="rId8" Type="http://schemas.openxmlformats.org/officeDocument/2006/relationships/tags" Target="../tags/tag8.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3.jpeg"/><Relationship Id="rId5" Type="http://schemas.openxmlformats.org/officeDocument/2006/relationships/image" Target="../media/image12.jpeg"/><Relationship Id="rId4" Type="http://schemas.openxmlformats.org/officeDocument/2006/relationships/image" Target="../media/image11.jpeg"/></Relationships>
</file>

<file path=ppt/slides/_rels/slide10.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2.png"/><Relationship Id="rId9"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7000"/>
          </a:blip>
          <a:stretch>
            <a:fillRect/>
          </a:stretch>
        </p:blipFill>
        <p:spPr>
          <a:xfrm>
            <a:off x="0" y="0"/>
            <a:ext cx="9144000" cy="5143500"/>
          </a:xfrm>
          <a:prstGeom prst="rect">
            <a:avLst/>
          </a:prstGeom>
        </p:spPr>
      </p:pic>
      <p:pic>
        <p:nvPicPr>
          <p:cNvPr id="3" name="Image 1" descr="preencoded.png"/>
          <p:cNvPicPr>
            <a:picLocks noChangeAspect="1"/>
          </p:cNvPicPr>
          <p:nvPr/>
        </p:nvPicPr>
        <p:blipFill>
          <a:blip r:embed="rId4">
            <a:alphaModFix amt="50000"/>
          </a:blip>
          <a:stretch>
            <a:fillRect/>
          </a:stretch>
        </p:blipFill>
        <p:spPr>
          <a:xfrm>
            <a:off x="-548640" y="-548640"/>
            <a:ext cx="6583680" cy="6583680"/>
          </a:xfrm>
          <a:prstGeom prst="rect">
            <a:avLst/>
          </a:prstGeom>
        </p:spPr>
      </p:pic>
      <p:pic>
        <p:nvPicPr>
          <p:cNvPr id="4" name="Image 2" descr="preencoded.png"/>
          <p:cNvPicPr>
            <a:picLocks noChangeAspect="1"/>
          </p:cNvPicPr>
          <p:nvPr/>
        </p:nvPicPr>
        <p:blipFill>
          <a:blip r:embed="rId5">
            <a:alphaModFix amt="20000"/>
          </a:blip>
          <a:stretch>
            <a:fillRect/>
          </a:stretch>
        </p:blipFill>
        <p:spPr>
          <a:xfrm>
            <a:off x="5303520" y="274320"/>
            <a:ext cx="3657600" cy="3657600"/>
          </a:xfrm>
          <a:prstGeom prst="rect">
            <a:avLst/>
          </a:prstGeom>
        </p:spPr>
      </p:pic>
      <p:pic>
        <p:nvPicPr>
          <p:cNvPr id="5" name="Image 3" descr="preencoded.png"/>
          <p:cNvPicPr>
            <a:picLocks noChangeAspect="1"/>
          </p:cNvPicPr>
          <p:nvPr/>
        </p:nvPicPr>
        <p:blipFill>
          <a:blip r:embed="rId6"/>
          <a:stretch>
            <a:fillRect/>
          </a:stretch>
        </p:blipFill>
        <p:spPr>
          <a:xfrm>
            <a:off x="228600" y="137160"/>
            <a:ext cx="713232" cy="713232"/>
          </a:xfrm>
          <a:prstGeom prst="rect">
            <a:avLst/>
          </a:prstGeom>
        </p:spPr>
      </p:pic>
      <p:pic>
        <p:nvPicPr>
          <p:cNvPr id="6" name="Image 4" descr="preencoded.png"/>
          <p:cNvPicPr>
            <a:picLocks noChangeAspect="1"/>
          </p:cNvPicPr>
          <p:nvPr/>
        </p:nvPicPr>
        <p:blipFill>
          <a:blip r:embed="rId7"/>
          <a:stretch>
            <a:fillRect/>
          </a:stretch>
        </p:blipFill>
        <p:spPr>
          <a:xfrm>
            <a:off x="8302752" y="54864"/>
            <a:ext cx="713232" cy="713232"/>
          </a:xfrm>
          <a:prstGeom prst="rect">
            <a:avLst/>
          </a:prstGeom>
        </p:spPr>
      </p:pic>
      <p:sp>
        <p:nvSpPr>
          <p:cNvPr id="7" name="Text 0"/>
          <p:cNvSpPr/>
          <p:nvPr/>
        </p:nvSpPr>
        <p:spPr>
          <a:xfrm>
            <a:off x="457200" y="960120"/>
            <a:ext cx="5029200" cy="292608"/>
          </a:xfrm>
          <a:prstGeom prst="rect">
            <a:avLst/>
          </a:prstGeom>
          <a:noFill/>
        </p:spPr>
        <p:txBody>
          <a:bodyPr wrap="square" lIns="0" tIns="0" rIns="0" bIns="0" rtlCol="0" anchor="ctr"/>
          <a:lstStyle/>
          <a:p>
            <a:pPr marL="0" indent="0">
              <a:buNone/>
            </a:pPr>
            <a:r>
              <a:rPr lang="en-US" sz="1300" i="1" dirty="0">
                <a:solidFill>
                  <a:srgbClr val="FFFFFF"/>
                </a:solidFill>
                <a:latin typeface="Calibri" panose="020F0502020204030204" pitchFamily="34" charset="0"/>
                <a:ea typeface="Calibri" panose="020F0502020204030204" pitchFamily="34" charset="-122"/>
                <a:cs typeface="Calibri" panose="020F0502020204030204" pitchFamily="34" charset="-120"/>
              </a:rPr>
              <a:t>HackNovation 2.0</a:t>
            </a:r>
            <a:endParaRPr lang="en-US" sz="1300" dirty="0"/>
          </a:p>
        </p:txBody>
      </p:sp>
      <p:sp>
        <p:nvSpPr>
          <p:cNvPr id="8" name="Text 1"/>
          <p:cNvSpPr/>
          <p:nvPr/>
        </p:nvSpPr>
        <p:spPr>
          <a:xfrm>
            <a:off x="457200" y="1325880"/>
            <a:ext cx="5486400" cy="914400"/>
          </a:xfrm>
          <a:prstGeom prst="rect">
            <a:avLst/>
          </a:prstGeom>
          <a:noFill/>
        </p:spPr>
        <p:txBody>
          <a:bodyPr wrap="square" lIns="0" tIns="0" rIns="0" bIns="0" rtlCol="0" anchor="ctr"/>
          <a:lstStyle/>
          <a:p>
            <a:pPr marL="0" indent="0">
              <a:buNone/>
            </a:pPr>
            <a:r>
              <a:rPr lang="en-US" sz="6000" b="1" dirty="0">
                <a:solidFill>
                  <a:srgbClr val="FFFFFF"/>
                </a:solidFill>
                <a:latin typeface="Calibri" panose="020F0502020204030204" pitchFamily="34" charset="0"/>
                <a:ea typeface="Calibri" panose="020F0502020204030204" pitchFamily="34" charset="-122"/>
                <a:cs typeface="Calibri" panose="020F0502020204030204" pitchFamily="34" charset="-120"/>
              </a:rPr>
              <a:t>SafeHer</a:t>
            </a:r>
            <a:endParaRPr lang="en-US" sz="6000" dirty="0"/>
          </a:p>
        </p:txBody>
      </p:sp>
      <p:sp>
        <p:nvSpPr>
          <p:cNvPr id="9" name="Text 2"/>
          <p:cNvSpPr/>
          <p:nvPr/>
        </p:nvSpPr>
        <p:spPr>
          <a:xfrm>
            <a:off x="457200" y="2286000"/>
            <a:ext cx="5669280" cy="438912"/>
          </a:xfrm>
          <a:prstGeom prst="rect">
            <a:avLst/>
          </a:prstGeom>
          <a:noFill/>
        </p:spPr>
        <p:txBody>
          <a:bodyPr wrap="square" lIns="0" tIns="0" rIns="0" bIns="0" rtlCol="0" anchor="ctr"/>
          <a:lstStyle/>
          <a:p>
            <a:pPr marL="0" indent="0">
              <a:buNone/>
            </a:pPr>
            <a:r>
              <a:rPr lang="en-US" sz="2200" b="1" dirty="0">
                <a:solidFill>
                  <a:srgbClr val="8887FC"/>
                </a:solidFill>
                <a:latin typeface="Calibri" panose="020F0502020204030204" pitchFamily="34" charset="0"/>
                <a:ea typeface="Calibri" panose="020F0502020204030204" pitchFamily="34" charset="-122"/>
                <a:cs typeface="Calibri" panose="020F0502020204030204" pitchFamily="34" charset="-120"/>
              </a:rPr>
              <a:t>Android App Architecture</a:t>
            </a:r>
            <a:endParaRPr lang="en-US" sz="2200" dirty="0"/>
          </a:p>
        </p:txBody>
      </p:sp>
      <p:sp>
        <p:nvSpPr>
          <p:cNvPr id="10" name="Text 3"/>
          <p:cNvSpPr/>
          <p:nvPr/>
        </p:nvSpPr>
        <p:spPr>
          <a:xfrm>
            <a:off x="457200" y="2816352"/>
            <a:ext cx="5486400" cy="566928"/>
          </a:xfrm>
          <a:prstGeom prst="rect">
            <a:avLst/>
          </a:prstGeom>
          <a:noFill/>
        </p:spPr>
        <p:txBody>
          <a:bodyPr wrap="square" lIns="0" tIns="0" rIns="0" bIns="0" rtlCol="0" anchor="ctr"/>
          <a:lstStyle/>
          <a:p>
            <a:pPr marL="0" indent="0">
              <a:buNone/>
            </a:pPr>
            <a:r>
              <a:rPr lang="en-US" sz="1100" dirty="0">
                <a:solidFill>
                  <a:srgbClr val="BBBBDD"/>
                </a:solidFill>
                <a:latin typeface="Calibri" panose="020F0502020204030204" pitchFamily="34" charset="0"/>
                <a:ea typeface="Calibri" panose="020F0502020204030204" pitchFamily="34" charset="-122"/>
                <a:cs typeface="Calibri" panose="020F0502020204030204" pitchFamily="34" charset="-120"/>
              </a:rPr>
              <a:t>A plain-English guide to how a safety app is structured</a:t>
            </a:r>
            <a:endParaRPr lang="en-US" sz="1100" dirty="0"/>
          </a:p>
          <a:p>
            <a:pPr marL="0" indent="0">
              <a:buNone/>
            </a:pPr>
            <a:r>
              <a:rPr lang="en-US" sz="1100" dirty="0">
                <a:solidFill>
                  <a:srgbClr val="BBBBDD"/>
                </a:solidFill>
                <a:latin typeface="Calibri" panose="020F0502020204030204" pitchFamily="34" charset="0"/>
                <a:ea typeface="Calibri" panose="020F0502020204030204" pitchFamily="34" charset="-122"/>
                <a:cs typeface="Calibri" panose="020F0502020204030204" pitchFamily="34" charset="-120"/>
              </a:rPr>
              <a:t>— from Java brains to XML faces to Gradle muscle</a:t>
            </a:r>
            <a:endParaRPr lang="en-US" sz="1100" dirty="0"/>
          </a:p>
        </p:txBody>
      </p:sp>
      <p:sp>
        <p:nvSpPr>
          <p:cNvPr id="12" name="Text 5"/>
          <p:cNvSpPr/>
          <p:nvPr/>
        </p:nvSpPr>
        <p:spPr>
          <a:xfrm>
            <a:off x="457200" y="3547872"/>
            <a:ext cx="2286000" cy="402336"/>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COD -THREE</a:t>
            </a:r>
            <a:endParaRPr lang="en-US" sz="1300" dirty="0"/>
          </a:p>
        </p:txBody>
      </p:sp>
      <p:sp>
        <p:nvSpPr>
          <p:cNvPr id="13" name="Shape 6"/>
          <p:cNvSpPr/>
          <p:nvPr/>
        </p:nvSpPr>
        <p:spPr>
          <a:xfrm>
            <a:off x="0" y="4544568"/>
            <a:ext cx="9144000" cy="598932"/>
          </a:xfrm>
          <a:prstGeom prst="rect">
            <a:avLst/>
          </a:prstGeom>
          <a:solidFill>
            <a:srgbClr val="FFFFFF"/>
          </a:solidFill>
          <a:ln w="12700">
            <a:solidFill>
              <a:srgbClr val="FFFFFF"/>
            </a:solidFill>
            <a:prstDash val="solid"/>
          </a:ln>
        </p:spPr>
      </p:sp>
      <p:pic>
        <p:nvPicPr>
          <p:cNvPr id="14" name="Image 5" descr="preencoded.png"/>
          <p:cNvPicPr>
            <a:picLocks noChangeAspect="1"/>
          </p:cNvPicPr>
          <p:nvPr/>
        </p:nvPicPr>
        <p:blipFill>
          <a:blip r:embed="rId8"/>
          <a:stretch>
            <a:fillRect/>
          </a:stretch>
        </p:blipFill>
        <p:spPr>
          <a:xfrm>
            <a:off x="201168" y="4572000"/>
            <a:ext cx="1234440" cy="457200"/>
          </a:xfrm>
          <a:prstGeom prst="rect">
            <a:avLst/>
          </a:prstGeom>
        </p:spPr>
      </p:pic>
      <p:pic>
        <p:nvPicPr>
          <p:cNvPr id="15" name="Image 6" descr="preencoded.png"/>
          <p:cNvPicPr>
            <a:picLocks noChangeAspect="1"/>
          </p:cNvPicPr>
          <p:nvPr/>
        </p:nvPicPr>
        <p:blipFill>
          <a:blip r:embed="rId9"/>
          <a:stretch>
            <a:fillRect/>
          </a:stretch>
        </p:blipFill>
        <p:spPr>
          <a:xfrm>
            <a:off x="1627632" y="4581144"/>
            <a:ext cx="1188720" cy="438912"/>
          </a:xfrm>
          <a:prstGeom prst="rect">
            <a:avLst/>
          </a:prstGeom>
        </p:spPr>
      </p:pic>
      <p:pic>
        <p:nvPicPr>
          <p:cNvPr id="16" name="Image 7" descr="preencoded.png"/>
          <p:cNvPicPr>
            <a:picLocks noChangeAspect="1"/>
          </p:cNvPicPr>
          <p:nvPr/>
        </p:nvPicPr>
        <p:blipFill>
          <a:blip r:embed="rId10"/>
          <a:stretch>
            <a:fillRect/>
          </a:stretch>
        </p:blipFill>
        <p:spPr>
          <a:xfrm>
            <a:off x="2999232" y="4572000"/>
            <a:ext cx="1078992" cy="457200"/>
          </a:xfrm>
          <a:prstGeom prst="rect">
            <a:avLst/>
          </a:prstGeom>
        </p:spPr>
      </p:pic>
      <p:pic>
        <p:nvPicPr>
          <p:cNvPr id="17" name="Image 8" descr="preencoded.png"/>
          <p:cNvPicPr>
            <a:picLocks noChangeAspect="1"/>
          </p:cNvPicPr>
          <p:nvPr/>
        </p:nvPicPr>
        <p:blipFill>
          <a:blip r:embed="rId11"/>
          <a:stretch>
            <a:fillRect/>
          </a:stretch>
        </p:blipFill>
        <p:spPr>
          <a:xfrm>
            <a:off x="4251960" y="4608576"/>
            <a:ext cx="1371600" cy="402336"/>
          </a:xfrm>
          <a:prstGeom prst="rect">
            <a:avLst/>
          </a:prstGeom>
        </p:spPr>
      </p:pic>
      <p:pic>
        <p:nvPicPr>
          <p:cNvPr id="18" name="Image 9" descr="preencoded.png"/>
          <p:cNvPicPr>
            <a:picLocks noChangeAspect="1"/>
          </p:cNvPicPr>
          <p:nvPr/>
        </p:nvPicPr>
        <p:blipFill>
          <a:blip r:embed="rId12"/>
          <a:stretch>
            <a:fillRect/>
          </a:stretch>
        </p:blipFill>
        <p:spPr>
          <a:xfrm>
            <a:off x="7680960" y="4544568"/>
            <a:ext cx="1298448" cy="57607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59436" cy="4773168"/>
          </a:xfrm>
          <a:prstGeom prst="rect">
            <a:avLst/>
          </a:prstGeom>
          <a:solidFill>
            <a:srgbClr val="6062FF"/>
          </a:solidFill>
          <a:ln w="12700">
            <a:solidFill>
              <a:srgbClr val="6062FF"/>
            </a:solidFill>
            <a:prstDash val="solid"/>
          </a:ln>
        </p:spPr>
      </p:sp>
      <p:pic>
        <p:nvPicPr>
          <p:cNvPr id="3" name="Image 0" descr="preencoded.png"/>
          <p:cNvPicPr>
            <a:picLocks noChangeAspect="1"/>
          </p:cNvPicPr>
          <p:nvPr/>
        </p:nvPicPr>
        <p:blipFill>
          <a:blip r:embed="rId3"/>
          <a:stretch>
            <a:fillRect/>
          </a:stretch>
        </p:blipFill>
        <p:spPr>
          <a:xfrm>
            <a:off x="8321040" y="45720"/>
            <a:ext cx="658368" cy="658368"/>
          </a:xfrm>
          <a:prstGeom prst="rect">
            <a:avLst/>
          </a:prstGeom>
        </p:spPr>
      </p:pic>
      <p:sp>
        <p:nvSpPr>
          <p:cNvPr id="4" name="Shape 1"/>
          <p:cNvSpPr/>
          <p:nvPr/>
        </p:nvSpPr>
        <p:spPr>
          <a:xfrm>
            <a:off x="0" y="4773168"/>
            <a:ext cx="9144000" cy="370332"/>
          </a:xfrm>
          <a:prstGeom prst="rect">
            <a:avLst/>
          </a:prstGeom>
          <a:solidFill>
            <a:srgbClr val="FFFFFF"/>
          </a:solidFill>
          <a:ln w="12700">
            <a:solidFill>
              <a:srgbClr val="FFFFFF"/>
            </a:solidFill>
            <a:prstDash val="solid"/>
          </a:ln>
        </p:spPr>
      </p:sp>
      <p:sp>
        <p:nvSpPr>
          <p:cNvPr id="5" name="Shape 2"/>
          <p:cNvSpPr/>
          <p:nvPr/>
        </p:nvSpPr>
        <p:spPr>
          <a:xfrm>
            <a:off x="0" y="4773168"/>
            <a:ext cx="59436" cy="370332"/>
          </a:xfrm>
          <a:prstGeom prst="rect">
            <a:avLst/>
          </a:prstGeom>
          <a:solidFill>
            <a:srgbClr val="0F9ED5"/>
          </a:solidFill>
          <a:ln w="12700">
            <a:solidFill>
              <a:srgbClr val="0F9ED5"/>
            </a:solidFill>
            <a:prstDash val="solid"/>
          </a:ln>
        </p:spPr>
      </p:sp>
      <p:sp>
        <p:nvSpPr>
          <p:cNvPr id="6" name="Text 3"/>
          <p:cNvSpPr/>
          <p:nvPr/>
        </p:nvSpPr>
        <p:spPr>
          <a:xfrm>
            <a:off x="109728" y="4823460"/>
            <a:ext cx="5029200" cy="146304"/>
          </a:xfrm>
          <a:prstGeom prst="rect">
            <a:avLst/>
          </a:prstGeom>
          <a:noFill/>
        </p:spPr>
        <p:txBody>
          <a:bodyPr wrap="square" lIns="0" tIns="0" rIns="0" bIns="0" rtlCol="0" anchor="ctr"/>
          <a:lstStyle/>
          <a:p>
            <a:pPr marL="0" indent="0">
              <a:buNone/>
            </a:pPr>
            <a:r>
              <a:rPr lang="en-US" sz="650" dirty="0">
                <a:solidFill>
                  <a:srgbClr val="767676"/>
                </a:solidFill>
                <a:latin typeface="Calibri" panose="020F0502020204030204" pitchFamily="34" charset="0"/>
                <a:ea typeface="Calibri" panose="020F0502020204030204" pitchFamily="34" charset="-122"/>
                <a:cs typeface="Calibri" panose="020F0502020204030204" pitchFamily="34" charset="-120"/>
              </a:rPr>
              <a:t>HackNovation 2.0  |  R&amp;D Cell, GIET University, Gunupur</a:t>
            </a:r>
            <a:endParaRPr lang="en-US" sz="650" dirty="0"/>
          </a:p>
        </p:txBody>
      </p:sp>
      <p:sp>
        <p:nvSpPr>
          <p:cNvPr id="7" name="Text 4"/>
          <p:cNvSpPr/>
          <p:nvPr/>
        </p:nvSpPr>
        <p:spPr>
          <a:xfrm>
            <a:off x="4389120" y="4823460"/>
            <a:ext cx="365760" cy="146304"/>
          </a:xfrm>
          <a:prstGeom prst="rect">
            <a:avLst/>
          </a:prstGeom>
          <a:noFill/>
        </p:spPr>
        <p:txBody>
          <a:bodyPr wrap="square" lIns="0" tIns="0" rIns="0" bIns="0" rtlCol="0" anchor="ctr"/>
          <a:lstStyle/>
          <a:p>
            <a:pPr marL="0" indent="0" algn="ctr">
              <a:buNone/>
            </a:pPr>
            <a:r>
              <a:rPr lang="en-US" sz="650" dirty="0">
                <a:solidFill>
                  <a:srgbClr val="767676"/>
                </a:solidFill>
                <a:latin typeface="Calibri" panose="020F0502020204030204" pitchFamily="34" charset="0"/>
                <a:ea typeface="Calibri" panose="020F0502020204030204" pitchFamily="34" charset="-122"/>
                <a:cs typeface="Calibri" panose="020F0502020204030204" pitchFamily="34" charset="-120"/>
              </a:rPr>
              <a:t>2</a:t>
            </a:r>
            <a:endParaRPr lang="en-US" sz="650" dirty="0"/>
          </a:p>
        </p:txBody>
      </p:sp>
      <p:sp>
        <p:nvSpPr>
          <p:cNvPr id="8" name="Text 5"/>
          <p:cNvSpPr/>
          <p:nvPr/>
        </p:nvSpPr>
        <p:spPr>
          <a:xfrm>
            <a:off x="7223760" y="4823460"/>
            <a:ext cx="1828800" cy="146304"/>
          </a:xfrm>
          <a:prstGeom prst="rect">
            <a:avLst/>
          </a:prstGeom>
          <a:noFill/>
        </p:spPr>
        <p:txBody>
          <a:bodyPr wrap="square" lIns="0" tIns="0" rIns="0" bIns="0" rtlCol="0" anchor="ctr"/>
          <a:lstStyle/>
          <a:p>
            <a:pPr marL="0" indent="0" algn="r">
              <a:buNone/>
            </a:pPr>
            <a:r>
              <a:rPr lang="en-US" sz="650" dirty="0">
                <a:solidFill>
                  <a:srgbClr val="767676"/>
                </a:solidFill>
                <a:latin typeface="Calibri" panose="020F0502020204030204" pitchFamily="34" charset="0"/>
                <a:ea typeface="Calibri" panose="020F0502020204030204" pitchFamily="34" charset="-122"/>
                <a:cs typeface="Calibri" panose="020F0502020204030204" pitchFamily="34" charset="-120"/>
              </a:rPr>
              <a:t>COD-THREE</a:t>
            </a:r>
            <a:endParaRPr lang="en-US" sz="650" dirty="0"/>
          </a:p>
        </p:txBody>
      </p:sp>
      <p:sp>
        <p:nvSpPr>
          <p:cNvPr id="9" name="Text 6"/>
          <p:cNvSpPr/>
          <p:nvPr/>
        </p:nvSpPr>
        <p:spPr>
          <a:xfrm>
            <a:off x="256032" y="219456"/>
            <a:ext cx="7863840" cy="530352"/>
          </a:xfrm>
          <a:prstGeom prst="rect">
            <a:avLst/>
          </a:prstGeom>
          <a:noFill/>
        </p:spPr>
        <p:txBody>
          <a:bodyPr wrap="square" lIns="0" tIns="0" rIns="0" bIns="0" rtlCol="0" anchor="ctr"/>
          <a:lstStyle/>
          <a:p>
            <a:pPr marL="0" indent="0">
              <a:buNone/>
            </a:pPr>
            <a:r>
              <a:rPr lang="en-US" sz="2600" b="1" dirty="0">
                <a:solidFill>
                  <a:srgbClr val="000000"/>
                </a:solidFill>
                <a:latin typeface="Calibri" panose="020F0502020204030204" pitchFamily="34" charset="0"/>
                <a:ea typeface="Calibri" panose="020F0502020204030204" pitchFamily="34" charset="-122"/>
                <a:cs typeface="Calibri" panose="020F0502020204030204" pitchFamily="34" charset="-120"/>
              </a:rPr>
              <a:t>Problem Statement</a:t>
            </a:r>
            <a:endParaRPr lang="en-US" sz="2600" dirty="0"/>
          </a:p>
        </p:txBody>
      </p:sp>
      <p:sp>
        <p:nvSpPr>
          <p:cNvPr id="10" name="Shape 7"/>
          <p:cNvSpPr/>
          <p:nvPr/>
        </p:nvSpPr>
        <p:spPr>
          <a:xfrm>
            <a:off x="256032" y="768096"/>
            <a:ext cx="777240" cy="38405"/>
          </a:xfrm>
          <a:prstGeom prst="rect">
            <a:avLst/>
          </a:prstGeom>
          <a:solidFill>
            <a:srgbClr val="0F9ED5"/>
          </a:solidFill>
          <a:ln w="12700">
            <a:solidFill>
              <a:srgbClr val="0F9ED5"/>
            </a:solidFill>
            <a:prstDash val="solid"/>
          </a:ln>
        </p:spPr>
      </p:sp>
      <p:sp>
        <p:nvSpPr>
          <p:cNvPr id="11" name="Shape 8"/>
          <p:cNvSpPr/>
          <p:nvPr/>
        </p:nvSpPr>
        <p:spPr>
          <a:xfrm>
            <a:off x="237744" y="896112"/>
            <a:ext cx="8668512" cy="832104"/>
          </a:xfrm>
          <a:prstGeom prst="rect">
            <a:avLst/>
          </a:prstGeom>
          <a:solidFill>
            <a:srgbClr val="F6F9FF"/>
          </a:solidFill>
          <a:ln w="6350">
            <a:solidFill>
              <a:srgbClr val="E8ECFF"/>
            </a:solidFill>
            <a:prstDash val="solid"/>
          </a:ln>
        </p:spPr>
      </p:sp>
      <p:sp>
        <p:nvSpPr>
          <p:cNvPr id="12" name="Shape 9"/>
          <p:cNvSpPr/>
          <p:nvPr/>
        </p:nvSpPr>
        <p:spPr>
          <a:xfrm>
            <a:off x="237744" y="896112"/>
            <a:ext cx="43891" cy="832104"/>
          </a:xfrm>
          <a:prstGeom prst="rect">
            <a:avLst/>
          </a:prstGeom>
          <a:solidFill>
            <a:srgbClr val="6062FF"/>
          </a:solidFill>
          <a:ln w="12700">
            <a:solidFill>
              <a:srgbClr val="6062FF"/>
            </a:solidFill>
            <a:prstDash val="solid"/>
          </a:ln>
        </p:spPr>
      </p:sp>
      <p:sp>
        <p:nvSpPr>
          <p:cNvPr id="13" name="Text 10"/>
          <p:cNvSpPr/>
          <p:nvPr/>
        </p:nvSpPr>
        <p:spPr>
          <a:xfrm>
            <a:off x="329184" y="960120"/>
            <a:ext cx="8531352" cy="219456"/>
          </a:xfrm>
          <a:prstGeom prst="rect">
            <a:avLst/>
          </a:prstGeom>
          <a:noFill/>
        </p:spPr>
        <p:txBody>
          <a:bodyPr wrap="square" lIns="0" tIns="0" rIns="0" bIns="0" rtlCol="0" anchor="ctr"/>
          <a:lstStyle/>
          <a:p>
            <a:pPr marL="0" indent="0">
              <a:buNone/>
            </a:pPr>
            <a:r>
              <a:rPr lang="en-US" sz="1000" b="1" dirty="0">
                <a:solidFill>
                  <a:srgbClr val="6062FF"/>
                </a:solidFill>
                <a:latin typeface="Calibri" panose="020F0502020204030204" pitchFamily="34" charset="0"/>
                <a:ea typeface="Calibri" panose="020F0502020204030204" pitchFamily="34" charset="-122"/>
                <a:cs typeface="Calibri" panose="020F0502020204030204" pitchFamily="34" charset="-120"/>
              </a:rPr>
              <a:t>Background of the Problem</a:t>
            </a:r>
            <a:endParaRPr lang="en-US" sz="1000" dirty="0"/>
          </a:p>
        </p:txBody>
      </p:sp>
      <p:sp>
        <p:nvSpPr>
          <p:cNvPr id="14" name="Text 11"/>
          <p:cNvSpPr/>
          <p:nvPr/>
        </p:nvSpPr>
        <p:spPr>
          <a:xfrm>
            <a:off x="329184" y="1197864"/>
            <a:ext cx="8531352" cy="457200"/>
          </a:xfrm>
          <a:prstGeom prst="rect">
            <a:avLst/>
          </a:prstGeom>
          <a:noFill/>
        </p:spPr>
        <p:txBody>
          <a:bodyPr wrap="square" lIns="0" tIns="0" rIns="0" bIns="0" rtlCol="0" anchor="ctr"/>
          <a:lstStyle/>
          <a:p>
            <a:pPr marL="0" indent="0">
              <a:buNone/>
            </a:pPr>
            <a:r>
              <a:rPr lang="en-US" sz="850" dirty="0">
                <a:solidFill>
                  <a:srgbClr val="333333"/>
                </a:solidFill>
                <a:latin typeface="Calibri" panose="020F0502020204030204" pitchFamily="34" charset="0"/>
                <a:ea typeface="Calibri" panose="020F0502020204030204" pitchFamily="34" charset="-122"/>
                <a:cs typeface="Calibri" panose="020F0502020204030204" pitchFamily="34" charset="-120"/>
              </a:rPr>
              <a:t>Women's personal safety is critically underserved by existing technology. Current apps require internet connectivity, are complex to activate under stress, or fail silently when a phone is on silent mode — creating a dangerous gap between innovation and real-world safety needs.</a:t>
            </a:r>
            <a:endParaRPr lang="en-US" sz="850" dirty="0"/>
          </a:p>
        </p:txBody>
      </p:sp>
      <p:sp>
        <p:nvSpPr>
          <p:cNvPr id="15" name="Shape 12"/>
          <p:cNvSpPr/>
          <p:nvPr/>
        </p:nvSpPr>
        <p:spPr>
          <a:xfrm>
            <a:off x="237744" y="1810512"/>
            <a:ext cx="8668512" cy="832104"/>
          </a:xfrm>
          <a:prstGeom prst="rect">
            <a:avLst/>
          </a:prstGeom>
          <a:solidFill>
            <a:srgbClr val="F0FAFF"/>
          </a:solidFill>
          <a:ln w="6350">
            <a:solidFill>
              <a:srgbClr val="E8ECFF"/>
            </a:solidFill>
            <a:prstDash val="solid"/>
          </a:ln>
        </p:spPr>
      </p:sp>
      <p:sp>
        <p:nvSpPr>
          <p:cNvPr id="16" name="Shape 13"/>
          <p:cNvSpPr/>
          <p:nvPr/>
        </p:nvSpPr>
        <p:spPr>
          <a:xfrm>
            <a:off x="237744" y="1810512"/>
            <a:ext cx="43891" cy="832104"/>
          </a:xfrm>
          <a:prstGeom prst="rect">
            <a:avLst/>
          </a:prstGeom>
          <a:solidFill>
            <a:srgbClr val="0F9ED5"/>
          </a:solidFill>
          <a:ln w="12700">
            <a:solidFill>
              <a:srgbClr val="0F9ED5"/>
            </a:solidFill>
            <a:prstDash val="solid"/>
          </a:ln>
        </p:spPr>
      </p:sp>
      <p:sp>
        <p:nvSpPr>
          <p:cNvPr id="17" name="Text 14"/>
          <p:cNvSpPr/>
          <p:nvPr/>
        </p:nvSpPr>
        <p:spPr>
          <a:xfrm>
            <a:off x="329184" y="1874520"/>
            <a:ext cx="8531352" cy="219456"/>
          </a:xfrm>
          <a:prstGeom prst="rect">
            <a:avLst/>
          </a:prstGeom>
          <a:noFill/>
        </p:spPr>
        <p:txBody>
          <a:bodyPr wrap="square" lIns="0" tIns="0" rIns="0" bIns="0" rtlCol="0" anchor="ctr"/>
          <a:lstStyle/>
          <a:p>
            <a:pPr marL="0" indent="0">
              <a:buNone/>
            </a:pPr>
            <a:r>
              <a:rPr lang="en-US" sz="1000" b="1" dirty="0">
                <a:solidFill>
                  <a:srgbClr val="0F9ED5"/>
                </a:solidFill>
                <a:latin typeface="Calibri" panose="020F0502020204030204" pitchFamily="34" charset="0"/>
                <a:ea typeface="Calibri" panose="020F0502020204030204" pitchFamily="34" charset="-122"/>
                <a:cs typeface="Calibri" panose="020F0502020204030204" pitchFamily="34" charset="-120"/>
              </a:rPr>
              <a:t>Magnitude &amp; Distribution of the Problem</a:t>
            </a:r>
            <a:endParaRPr lang="en-US" sz="1000" dirty="0"/>
          </a:p>
        </p:txBody>
      </p:sp>
      <p:sp>
        <p:nvSpPr>
          <p:cNvPr id="18" name="Text 15"/>
          <p:cNvSpPr/>
          <p:nvPr/>
        </p:nvSpPr>
        <p:spPr>
          <a:xfrm>
            <a:off x="329184" y="2112264"/>
            <a:ext cx="8531352" cy="457200"/>
          </a:xfrm>
          <a:prstGeom prst="rect">
            <a:avLst/>
          </a:prstGeom>
          <a:noFill/>
        </p:spPr>
        <p:txBody>
          <a:bodyPr wrap="square" lIns="0" tIns="0" rIns="0" bIns="0" rtlCol="0" anchor="ctr"/>
          <a:lstStyle/>
          <a:p>
            <a:pPr marL="0" indent="0">
              <a:buNone/>
            </a:pPr>
            <a:r>
              <a:rPr lang="en-US" sz="850" dirty="0">
                <a:solidFill>
                  <a:srgbClr val="333333"/>
                </a:solidFill>
                <a:latin typeface="Calibri" panose="020F0502020204030204" pitchFamily="34" charset="0"/>
                <a:ea typeface="Calibri" panose="020F0502020204030204" pitchFamily="34" charset="-122"/>
                <a:cs typeface="Calibri" panose="020F0502020204030204" pitchFamily="34" charset="-120"/>
              </a:rPr>
              <a:t>Over 300 million women globally report daily safety concerns. Emergency response times average 8–15 minutes in urban areas, exceeding 30 minutes in rural zones. Most incidents go unrecorded due to the absence of automatic evidence capture at the time of threat.</a:t>
            </a:r>
            <a:endParaRPr lang="en-US" sz="850" dirty="0"/>
          </a:p>
        </p:txBody>
      </p:sp>
      <p:sp>
        <p:nvSpPr>
          <p:cNvPr id="19" name="Shape 16"/>
          <p:cNvSpPr/>
          <p:nvPr/>
        </p:nvSpPr>
        <p:spPr>
          <a:xfrm>
            <a:off x="237744" y="2724912"/>
            <a:ext cx="8668512" cy="832104"/>
          </a:xfrm>
          <a:prstGeom prst="rect">
            <a:avLst/>
          </a:prstGeom>
          <a:solidFill>
            <a:srgbClr val="F6F9FF"/>
          </a:solidFill>
          <a:ln w="6350">
            <a:solidFill>
              <a:srgbClr val="E8ECFF"/>
            </a:solidFill>
            <a:prstDash val="solid"/>
          </a:ln>
        </p:spPr>
      </p:sp>
      <p:sp>
        <p:nvSpPr>
          <p:cNvPr id="20" name="Shape 17"/>
          <p:cNvSpPr/>
          <p:nvPr/>
        </p:nvSpPr>
        <p:spPr>
          <a:xfrm>
            <a:off x="237744" y="2724912"/>
            <a:ext cx="43891" cy="832104"/>
          </a:xfrm>
          <a:prstGeom prst="rect">
            <a:avLst/>
          </a:prstGeom>
          <a:solidFill>
            <a:srgbClr val="6062FF"/>
          </a:solidFill>
          <a:ln w="12700">
            <a:solidFill>
              <a:srgbClr val="6062FF"/>
            </a:solidFill>
            <a:prstDash val="solid"/>
          </a:ln>
        </p:spPr>
      </p:sp>
      <p:sp>
        <p:nvSpPr>
          <p:cNvPr id="21" name="Text 18"/>
          <p:cNvSpPr/>
          <p:nvPr/>
        </p:nvSpPr>
        <p:spPr>
          <a:xfrm>
            <a:off x="329184" y="2788920"/>
            <a:ext cx="8531352" cy="219456"/>
          </a:xfrm>
          <a:prstGeom prst="rect">
            <a:avLst/>
          </a:prstGeom>
          <a:noFill/>
        </p:spPr>
        <p:txBody>
          <a:bodyPr wrap="square" lIns="0" tIns="0" rIns="0" bIns="0" rtlCol="0" anchor="ctr"/>
          <a:lstStyle/>
          <a:p>
            <a:pPr marL="0" indent="0">
              <a:buNone/>
            </a:pPr>
            <a:r>
              <a:rPr lang="en-US" sz="1000" b="1" dirty="0">
                <a:solidFill>
                  <a:srgbClr val="6062FF"/>
                </a:solidFill>
                <a:latin typeface="Calibri" panose="020F0502020204030204" pitchFamily="34" charset="0"/>
                <a:ea typeface="Calibri" panose="020F0502020204030204" pitchFamily="34" charset="-122"/>
                <a:cs typeface="Calibri" panose="020F0502020204030204" pitchFamily="34" charset="-120"/>
              </a:rPr>
              <a:t>Need for Intervention</a:t>
            </a:r>
            <a:endParaRPr lang="en-US" sz="1000" dirty="0"/>
          </a:p>
        </p:txBody>
      </p:sp>
      <p:sp>
        <p:nvSpPr>
          <p:cNvPr id="22" name="Text 19"/>
          <p:cNvSpPr/>
          <p:nvPr/>
        </p:nvSpPr>
        <p:spPr>
          <a:xfrm>
            <a:off x="329184" y="3026664"/>
            <a:ext cx="8531352" cy="457200"/>
          </a:xfrm>
          <a:prstGeom prst="rect">
            <a:avLst/>
          </a:prstGeom>
          <a:noFill/>
        </p:spPr>
        <p:txBody>
          <a:bodyPr wrap="square" lIns="0" tIns="0" rIns="0" bIns="0" rtlCol="0" anchor="ctr"/>
          <a:lstStyle/>
          <a:p>
            <a:pPr marL="0" indent="0">
              <a:buNone/>
            </a:pPr>
            <a:r>
              <a:rPr lang="en-US" sz="850" dirty="0">
                <a:solidFill>
                  <a:srgbClr val="333333"/>
                </a:solidFill>
                <a:latin typeface="Calibri" panose="020F0502020204030204" pitchFamily="34" charset="0"/>
                <a:ea typeface="Calibri" panose="020F0502020204030204" pitchFamily="34" charset="-122"/>
                <a:cs typeface="Calibri" panose="020F0502020204030204" pitchFamily="34" charset="-120"/>
              </a:rPr>
              <a:t>A critical need exists for an always-on, offline-capable companion that triggers emergency protocols discreetly — without requiring any visible phone interaction — while simultaneously collecting audio evidence and sharing GPS location with contacts.</a:t>
            </a:r>
            <a:endParaRPr lang="en-US" sz="850" dirty="0"/>
          </a:p>
        </p:txBody>
      </p:sp>
      <p:sp>
        <p:nvSpPr>
          <p:cNvPr id="23" name="Shape 20"/>
          <p:cNvSpPr/>
          <p:nvPr/>
        </p:nvSpPr>
        <p:spPr>
          <a:xfrm>
            <a:off x="237744" y="3639312"/>
            <a:ext cx="8668512" cy="832104"/>
          </a:xfrm>
          <a:prstGeom prst="rect">
            <a:avLst/>
          </a:prstGeom>
          <a:solidFill>
            <a:srgbClr val="F0FAFF"/>
          </a:solidFill>
          <a:ln w="6350">
            <a:solidFill>
              <a:srgbClr val="E8ECFF"/>
            </a:solidFill>
            <a:prstDash val="solid"/>
          </a:ln>
        </p:spPr>
      </p:sp>
      <p:sp>
        <p:nvSpPr>
          <p:cNvPr id="24" name="Shape 21"/>
          <p:cNvSpPr/>
          <p:nvPr/>
        </p:nvSpPr>
        <p:spPr>
          <a:xfrm>
            <a:off x="237744" y="3639312"/>
            <a:ext cx="43891" cy="832104"/>
          </a:xfrm>
          <a:prstGeom prst="rect">
            <a:avLst/>
          </a:prstGeom>
          <a:solidFill>
            <a:srgbClr val="0F9ED5"/>
          </a:solidFill>
          <a:ln w="12700">
            <a:solidFill>
              <a:srgbClr val="0F9ED5"/>
            </a:solidFill>
            <a:prstDash val="solid"/>
          </a:ln>
        </p:spPr>
      </p:sp>
      <p:sp>
        <p:nvSpPr>
          <p:cNvPr id="25" name="Text 22"/>
          <p:cNvSpPr/>
          <p:nvPr/>
        </p:nvSpPr>
        <p:spPr>
          <a:xfrm>
            <a:off x="329184" y="3703320"/>
            <a:ext cx="8531352" cy="219456"/>
          </a:xfrm>
          <a:prstGeom prst="rect">
            <a:avLst/>
          </a:prstGeom>
          <a:noFill/>
        </p:spPr>
        <p:txBody>
          <a:bodyPr wrap="square" lIns="0" tIns="0" rIns="0" bIns="0" rtlCol="0" anchor="ctr"/>
          <a:lstStyle/>
          <a:p>
            <a:pPr marL="0" indent="0">
              <a:buNone/>
            </a:pPr>
            <a:r>
              <a:rPr lang="en-US" sz="1000" b="1" dirty="0">
                <a:solidFill>
                  <a:srgbClr val="0F9ED5"/>
                </a:solidFill>
                <a:latin typeface="Calibri" panose="020F0502020204030204" pitchFamily="34" charset="0"/>
                <a:ea typeface="Calibri" panose="020F0502020204030204" pitchFamily="34" charset="-122"/>
                <a:cs typeface="Calibri" panose="020F0502020204030204" pitchFamily="34" charset="-120"/>
              </a:rPr>
              <a:t>Relevance &amp; Market Gap</a:t>
            </a:r>
            <a:endParaRPr lang="en-US" sz="1000" dirty="0"/>
          </a:p>
        </p:txBody>
      </p:sp>
      <p:sp>
        <p:nvSpPr>
          <p:cNvPr id="26" name="Text 23"/>
          <p:cNvSpPr/>
          <p:nvPr/>
        </p:nvSpPr>
        <p:spPr>
          <a:xfrm>
            <a:off x="329184" y="3941064"/>
            <a:ext cx="8531352" cy="457200"/>
          </a:xfrm>
          <a:prstGeom prst="rect">
            <a:avLst/>
          </a:prstGeom>
          <a:noFill/>
        </p:spPr>
        <p:txBody>
          <a:bodyPr wrap="square" lIns="0" tIns="0" rIns="0" bIns="0" rtlCol="0" anchor="ctr"/>
          <a:lstStyle/>
          <a:p>
            <a:pPr marL="0" indent="0">
              <a:buNone/>
            </a:pPr>
            <a:r>
              <a:rPr lang="en-US" sz="850" dirty="0">
                <a:solidFill>
                  <a:srgbClr val="333333"/>
                </a:solidFill>
                <a:latin typeface="Calibri" panose="020F0502020204030204" pitchFamily="34" charset="0"/>
                <a:ea typeface="Calibri" panose="020F0502020204030204" pitchFamily="34" charset="-122"/>
                <a:cs typeface="Calibri" panose="020F0502020204030204" pitchFamily="34" charset="-120"/>
              </a:rPr>
              <a:t>Current solutions lack: (1) covert SOS via volume buttons, (2) offline AI safety guidance, (3) automatic voice-evidence recording, and (4) guaranteed restart after device reboot. SafeHer addresses all four gaps with innovative Android architecture.</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59436" cy="4773168"/>
          </a:xfrm>
          <a:prstGeom prst="rect">
            <a:avLst/>
          </a:prstGeom>
          <a:solidFill>
            <a:srgbClr val="6062FF"/>
          </a:solidFill>
          <a:ln w="12700">
            <a:solidFill>
              <a:srgbClr val="6062FF"/>
            </a:solidFill>
            <a:prstDash val="solid"/>
          </a:ln>
        </p:spPr>
      </p:sp>
      <p:pic>
        <p:nvPicPr>
          <p:cNvPr id="3" name="Image 0" descr="preencoded.png"/>
          <p:cNvPicPr>
            <a:picLocks noChangeAspect="1"/>
          </p:cNvPicPr>
          <p:nvPr/>
        </p:nvPicPr>
        <p:blipFill>
          <a:blip r:embed="rId3"/>
          <a:stretch>
            <a:fillRect/>
          </a:stretch>
        </p:blipFill>
        <p:spPr>
          <a:xfrm>
            <a:off x="8321040" y="45720"/>
            <a:ext cx="658368" cy="658368"/>
          </a:xfrm>
          <a:prstGeom prst="rect">
            <a:avLst/>
          </a:prstGeom>
        </p:spPr>
      </p:pic>
      <p:sp>
        <p:nvSpPr>
          <p:cNvPr id="5" name="Shape 2"/>
          <p:cNvSpPr/>
          <p:nvPr/>
        </p:nvSpPr>
        <p:spPr>
          <a:xfrm>
            <a:off x="0" y="4773168"/>
            <a:ext cx="59436" cy="370332"/>
          </a:xfrm>
          <a:prstGeom prst="rect">
            <a:avLst/>
          </a:prstGeom>
          <a:solidFill>
            <a:srgbClr val="0F9ED5"/>
          </a:solidFill>
          <a:ln w="12700">
            <a:solidFill>
              <a:srgbClr val="0F9ED5"/>
            </a:solidFill>
            <a:prstDash val="solid"/>
          </a:ln>
        </p:spPr>
      </p:sp>
      <p:sp>
        <p:nvSpPr>
          <p:cNvPr id="6" name="Text 3"/>
          <p:cNvSpPr/>
          <p:nvPr/>
        </p:nvSpPr>
        <p:spPr>
          <a:xfrm>
            <a:off x="109728" y="4823460"/>
            <a:ext cx="5029200" cy="146304"/>
          </a:xfrm>
          <a:prstGeom prst="rect">
            <a:avLst/>
          </a:prstGeom>
          <a:noFill/>
        </p:spPr>
        <p:txBody>
          <a:bodyPr wrap="square" lIns="0" tIns="0" rIns="0" bIns="0" rtlCol="0" anchor="ctr"/>
          <a:lstStyle/>
          <a:p>
            <a:pPr marL="0" indent="0">
              <a:buNone/>
            </a:pPr>
            <a:r>
              <a:rPr lang="en-US" sz="650" dirty="0">
                <a:solidFill>
                  <a:srgbClr val="767676"/>
                </a:solidFill>
                <a:latin typeface="Calibri" panose="020F0502020204030204" pitchFamily="34" charset="0"/>
                <a:ea typeface="Calibri" panose="020F0502020204030204" pitchFamily="34" charset="-122"/>
                <a:cs typeface="Calibri" panose="020F0502020204030204" pitchFamily="34" charset="-120"/>
              </a:rPr>
              <a:t>HackNovation 2.0  |  R&amp;D Cell, GIET University, Gunupur</a:t>
            </a:r>
            <a:endParaRPr lang="en-US" sz="650" dirty="0"/>
          </a:p>
        </p:txBody>
      </p:sp>
      <p:sp>
        <p:nvSpPr>
          <p:cNvPr id="7" name="Text 4"/>
          <p:cNvSpPr/>
          <p:nvPr/>
        </p:nvSpPr>
        <p:spPr>
          <a:xfrm>
            <a:off x="4389120" y="4823460"/>
            <a:ext cx="365760" cy="146304"/>
          </a:xfrm>
          <a:prstGeom prst="rect">
            <a:avLst/>
          </a:prstGeom>
          <a:noFill/>
        </p:spPr>
        <p:txBody>
          <a:bodyPr wrap="square" lIns="0" tIns="0" rIns="0" bIns="0" rtlCol="0" anchor="ctr"/>
          <a:lstStyle/>
          <a:p>
            <a:pPr marL="0" indent="0" algn="ctr">
              <a:buNone/>
            </a:pPr>
            <a:r>
              <a:rPr lang="en-US" sz="650" dirty="0">
                <a:solidFill>
                  <a:srgbClr val="767676"/>
                </a:solidFill>
                <a:latin typeface="Calibri" panose="020F0502020204030204" pitchFamily="34" charset="0"/>
                <a:ea typeface="Calibri" panose="020F0502020204030204" pitchFamily="34" charset="-122"/>
                <a:cs typeface="Calibri" panose="020F0502020204030204" pitchFamily="34" charset="-120"/>
              </a:rPr>
              <a:t>3</a:t>
            </a:r>
            <a:endParaRPr lang="en-US" sz="650" dirty="0"/>
          </a:p>
        </p:txBody>
      </p:sp>
      <p:sp>
        <p:nvSpPr>
          <p:cNvPr id="8" name="Text 5"/>
          <p:cNvSpPr/>
          <p:nvPr/>
        </p:nvSpPr>
        <p:spPr>
          <a:xfrm>
            <a:off x="7223760" y="4914265"/>
            <a:ext cx="1828800" cy="146304"/>
          </a:xfrm>
          <a:prstGeom prst="rect">
            <a:avLst/>
          </a:prstGeom>
          <a:noFill/>
        </p:spPr>
        <p:txBody>
          <a:bodyPr wrap="square" lIns="0" tIns="0" rIns="0" bIns="0" rtlCol="0" anchor="ctr"/>
          <a:lstStyle/>
          <a:p>
            <a:pPr marL="0" indent="0" algn="r">
              <a:buNone/>
            </a:pPr>
            <a:r>
              <a:rPr lang="en-US" sz="650" dirty="0">
                <a:solidFill>
                  <a:srgbClr val="767676"/>
                </a:solidFill>
                <a:latin typeface="Calibri" panose="020F0502020204030204" pitchFamily="34" charset="0"/>
                <a:ea typeface="Calibri" panose="020F0502020204030204" pitchFamily="34" charset="-122"/>
                <a:cs typeface="Calibri" panose="020F0502020204030204" pitchFamily="34" charset="-120"/>
              </a:rPr>
              <a:t>COD-THREE</a:t>
            </a:r>
            <a:endParaRPr lang="en-US" sz="650" dirty="0"/>
          </a:p>
        </p:txBody>
      </p:sp>
      <p:sp>
        <p:nvSpPr>
          <p:cNvPr id="9" name="Text 6"/>
          <p:cNvSpPr/>
          <p:nvPr/>
        </p:nvSpPr>
        <p:spPr>
          <a:xfrm>
            <a:off x="256032" y="219456"/>
            <a:ext cx="7863840" cy="530352"/>
          </a:xfrm>
          <a:prstGeom prst="rect">
            <a:avLst/>
          </a:prstGeom>
          <a:noFill/>
        </p:spPr>
        <p:txBody>
          <a:bodyPr wrap="square" lIns="0" tIns="0" rIns="0" bIns="0" rtlCol="0" anchor="ctr"/>
          <a:lstStyle/>
          <a:p>
            <a:pPr marL="0" indent="0">
              <a:buNone/>
            </a:pPr>
            <a:r>
              <a:rPr lang="en-US" sz="2600" b="1" dirty="0">
                <a:solidFill>
                  <a:srgbClr val="000000"/>
                </a:solidFill>
                <a:latin typeface="Calibri" panose="020F0502020204030204" pitchFamily="34" charset="0"/>
                <a:ea typeface="Calibri" panose="020F0502020204030204" pitchFamily="34" charset="-122"/>
                <a:cs typeface="Calibri" panose="020F0502020204030204" pitchFamily="34" charset="-120"/>
              </a:rPr>
              <a:t>Proposed Solution</a:t>
            </a:r>
            <a:endParaRPr lang="en-US" sz="2600" dirty="0"/>
          </a:p>
        </p:txBody>
      </p:sp>
      <p:sp>
        <p:nvSpPr>
          <p:cNvPr id="10" name="Shape 7"/>
          <p:cNvSpPr/>
          <p:nvPr/>
        </p:nvSpPr>
        <p:spPr>
          <a:xfrm>
            <a:off x="256032" y="768096"/>
            <a:ext cx="777240" cy="38405"/>
          </a:xfrm>
          <a:prstGeom prst="rect">
            <a:avLst/>
          </a:prstGeom>
          <a:solidFill>
            <a:srgbClr val="0F9ED5"/>
          </a:solidFill>
          <a:ln w="12700">
            <a:solidFill>
              <a:srgbClr val="0F9ED5"/>
            </a:solidFill>
            <a:prstDash val="solid"/>
          </a:ln>
        </p:spPr>
      </p:sp>
      <p:sp>
        <p:nvSpPr>
          <p:cNvPr id="11" name="Shape 8"/>
          <p:cNvSpPr/>
          <p:nvPr/>
        </p:nvSpPr>
        <p:spPr>
          <a:xfrm>
            <a:off x="237744" y="896112"/>
            <a:ext cx="5074920" cy="1170432"/>
          </a:xfrm>
          <a:prstGeom prst="rect">
            <a:avLst/>
          </a:prstGeom>
          <a:solidFill>
            <a:srgbClr val="F6F9FF"/>
          </a:solidFill>
          <a:ln w="6350">
            <a:solidFill>
              <a:srgbClr val="E8ECFF"/>
            </a:solidFill>
            <a:prstDash val="solid"/>
          </a:ln>
        </p:spPr>
      </p:sp>
      <p:sp>
        <p:nvSpPr>
          <p:cNvPr id="12" name="Shape 9"/>
          <p:cNvSpPr/>
          <p:nvPr/>
        </p:nvSpPr>
        <p:spPr>
          <a:xfrm>
            <a:off x="237744" y="896112"/>
            <a:ext cx="43891" cy="1170432"/>
          </a:xfrm>
          <a:prstGeom prst="rect">
            <a:avLst/>
          </a:prstGeom>
          <a:solidFill>
            <a:srgbClr val="6062FF"/>
          </a:solidFill>
          <a:ln w="12700">
            <a:solidFill>
              <a:srgbClr val="6062FF"/>
            </a:solidFill>
            <a:prstDash val="solid"/>
          </a:ln>
        </p:spPr>
      </p:sp>
      <p:sp>
        <p:nvSpPr>
          <p:cNvPr id="13" name="Text 10"/>
          <p:cNvSpPr/>
          <p:nvPr/>
        </p:nvSpPr>
        <p:spPr>
          <a:xfrm>
            <a:off x="329184" y="960120"/>
            <a:ext cx="4937760" cy="219456"/>
          </a:xfrm>
          <a:prstGeom prst="rect">
            <a:avLst/>
          </a:prstGeom>
          <a:noFill/>
        </p:spPr>
        <p:txBody>
          <a:bodyPr wrap="square" lIns="0" tIns="0" rIns="0" bIns="0" rtlCol="0" anchor="ctr"/>
          <a:lstStyle/>
          <a:p>
            <a:pPr marL="0" indent="0">
              <a:buNone/>
            </a:pPr>
            <a:r>
              <a:rPr lang="en-US" sz="1000" b="1" dirty="0">
                <a:solidFill>
                  <a:srgbClr val="6062FF"/>
                </a:solidFill>
                <a:latin typeface="Calibri" panose="020F0502020204030204" pitchFamily="34" charset="0"/>
                <a:ea typeface="Calibri" panose="020F0502020204030204" pitchFamily="34" charset="-122"/>
                <a:cs typeface="Calibri" panose="020F0502020204030204" pitchFamily="34" charset="-120"/>
              </a:rPr>
              <a:t>Hypothesis</a:t>
            </a:r>
            <a:endParaRPr lang="en-US" sz="1000" dirty="0"/>
          </a:p>
        </p:txBody>
      </p:sp>
      <p:sp>
        <p:nvSpPr>
          <p:cNvPr id="14" name="Text 11"/>
          <p:cNvSpPr/>
          <p:nvPr/>
        </p:nvSpPr>
        <p:spPr>
          <a:xfrm>
            <a:off x="329184" y="1197864"/>
            <a:ext cx="4937760" cy="795528"/>
          </a:xfrm>
          <a:prstGeom prst="rect">
            <a:avLst/>
          </a:prstGeom>
          <a:noFill/>
        </p:spPr>
        <p:txBody>
          <a:bodyPr wrap="square" lIns="0" tIns="0" rIns="0" bIns="0" rtlCol="0" anchor="ctr"/>
          <a:lstStyle/>
          <a:p>
            <a:pPr marL="0" indent="0">
              <a:buNone/>
            </a:pPr>
            <a:r>
              <a:rPr lang="en-US" sz="850" dirty="0">
                <a:solidFill>
                  <a:srgbClr val="333333"/>
                </a:solidFill>
                <a:latin typeface="Calibri" panose="020F0502020204030204" pitchFamily="34" charset="0"/>
                <a:ea typeface="Calibri" panose="020F0502020204030204" pitchFamily="34" charset="-122"/>
                <a:cs typeface="Calibri" panose="020F0502020204030204" pitchFamily="34" charset="-120"/>
              </a:rPr>
              <a:t>SafeHer is an always-on Android safety companion enabling covert SOS via volume button press (×4), phone shake (×3), or one-tap home-screen widget — with zero visible screen interaction required from the user.</a:t>
            </a:r>
            <a:endParaRPr lang="en-US" sz="850" dirty="0"/>
          </a:p>
        </p:txBody>
      </p:sp>
      <p:sp>
        <p:nvSpPr>
          <p:cNvPr id="15" name="Shape 12"/>
          <p:cNvSpPr/>
          <p:nvPr/>
        </p:nvSpPr>
        <p:spPr>
          <a:xfrm>
            <a:off x="237744" y="2157984"/>
            <a:ext cx="5074920" cy="1170432"/>
          </a:xfrm>
          <a:prstGeom prst="rect">
            <a:avLst/>
          </a:prstGeom>
          <a:solidFill>
            <a:srgbClr val="F0FAFF"/>
          </a:solidFill>
          <a:ln w="6350">
            <a:solidFill>
              <a:srgbClr val="E8ECFF"/>
            </a:solidFill>
            <a:prstDash val="solid"/>
          </a:ln>
        </p:spPr>
      </p:sp>
      <p:sp>
        <p:nvSpPr>
          <p:cNvPr id="16" name="Shape 13"/>
          <p:cNvSpPr/>
          <p:nvPr/>
        </p:nvSpPr>
        <p:spPr>
          <a:xfrm>
            <a:off x="237744" y="2157984"/>
            <a:ext cx="43891" cy="1170432"/>
          </a:xfrm>
          <a:prstGeom prst="rect">
            <a:avLst/>
          </a:prstGeom>
          <a:solidFill>
            <a:srgbClr val="0F9ED5"/>
          </a:solidFill>
          <a:ln w="12700">
            <a:solidFill>
              <a:srgbClr val="0F9ED5"/>
            </a:solidFill>
            <a:prstDash val="solid"/>
          </a:ln>
        </p:spPr>
      </p:sp>
      <p:sp>
        <p:nvSpPr>
          <p:cNvPr id="17" name="Text 14"/>
          <p:cNvSpPr/>
          <p:nvPr/>
        </p:nvSpPr>
        <p:spPr>
          <a:xfrm>
            <a:off x="329184" y="2221992"/>
            <a:ext cx="4937760" cy="219456"/>
          </a:xfrm>
          <a:prstGeom prst="rect">
            <a:avLst/>
          </a:prstGeom>
          <a:noFill/>
        </p:spPr>
        <p:txBody>
          <a:bodyPr wrap="square" lIns="0" tIns="0" rIns="0" bIns="0" rtlCol="0" anchor="ctr"/>
          <a:lstStyle/>
          <a:p>
            <a:pPr marL="0" indent="0">
              <a:buNone/>
            </a:pPr>
            <a:r>
              <a:rPr lang="en-US" sz="1000" b="1" dirty="0">
                <a:solidFill>
                  <a:srgbClr val="0F9ED5"/>
                </a:solidFill>
                <a:latin typeface="Calibri" panose="020F0502020204030204" pitchFamily="34" charset="0"/>
                <a:ea typeface="Calibri" panose="020F0502020204030204" pitchFamily="34" charset="-122"/>
                <a:cs typeface="Calibri" panose="020F0502020204030204" pitchFamily="34" charset="-120"/>
              </a:rPr>
              <a:t>Technical Description</a:t>
            </a:r>
            <a:endParaRPr lang="en-US" sz="1000" dirty="0"/>
          </a:p>
        </p:txBody>
      </p:sp>
      <p:sp>
        <p:nvSpPr>
          <p:cNvPr id="18" name="Text 15"/>
          <p:cNvSpPr/>
          <p:nvPr/>
        </p:nvSpPr>
        <p:spPr>
          <a:xfrm>
            <a:off x="329184" y="2459736"/>
            <a:ext cx="4937760" cy="795528"/>
          </a:xfrm>
          <a:prstGeom prst="rect">
            <a:avLst/>
          </a:prstGeom>
          <a:noFill/>
        </p:spPr>
        <p:txBody>
          <a:bodyPr wrap="square" lIns="0" tIns="0" rIns="0" bIns="0" rtlCol="0" anchor="ctr"/>
          <a:lstStyle/>
          <a:p>
            <a:pPr marL="0" indent="0">
              <a:buNone/>
            </a:pPr>
            <a:r>
              <a:rPr lang="en-US" sz="850" dirty="0">
                <a:solidFill>
                  <a:srgbClr val="333333"/>
                </a:solidFill>
                <a:latin typeface="Calibri" panose="020F0502020204030204" pitchFamily="34" charset="0"/>
                <a:ea typeface="Calibri" panose="020F0502020204030204" pitchFamily="34" charset="-122"/>
                <a:cs typeface="Calibri" panose="020F0502020204030204" pitchFamily="34" charset="-120"/>
              </a:rPr>
              <a:t>A persistent foreground Service (SafeHerService) monitors inputs via ContentObserver + SensorEventListener. On trigger: vibration + max-volume alarm + MediaRecorder audio capture + GPS SMS to all contacts — simultaneously in under 1 second. Front camera continuously monitors for predefined distress gestures (e.g., raised palm, crossed fingers) using on-device ML — triggering SOS covertly without any button press. When SOS is activated, the back camera auto-captures timestamped photo evidence and streams it silently to trusted contacts.</a:t>
            </a:r>
            <a:endParaRPr lang="en-US" sz="850" dirty="0"/>
          </a:p>
        </p:txBody>
      </p:sp>
      <p:sp>
        <p:nvSpPr>
          <p:cNvPr id="19" name="Shape 16"/>
          <p:cNvSpPr/>
          <p:nvPr/>
        </p:nvSpPr>
        <p:spPr>
          <a:xfrm>
            <a:off x="237744" y="3419856"/>
            <a:ext cx="5074920" cy="1170432"/>
          </a:xfrm>
          <a:prstGeom prst="rect">
            <a:avLst/>
          </a:prstGeom>
          <a:solidFill>
            <a:srgbClr val="F6F9FF"/>
          </a:solidFill>
          <a:ln w="6350">
            <a:solidFill>
              <a:srgbClr val="E8ECFF"/>
            </a:solidFill>
            <a:prstDash val="solid"/>
          </a:ln>
        </p:spPr>
      </p:sp>
      <p:sp>
        <p:nvSpPr>
          <p:cNvPr id="20" name="Shape 17"/>
          <p:cNvSpPr/>
          <p:nvPr/>
        </p:nvSpPr>
        <p:spPr>
          <a:xfrm>
            <a:off x="237744" y="3419856"/>
            <a:ext cx="43891" cy="1170432"/>
          </a:xfrm>
          <a:prstGeom prst="rect">
            <a:avLst/>
          </a:prstGeom>
          <a:solidFill>
            <a:srgbClr val="6062FF"/>
          </a:solidFill>
          <a:ln w="12700">
            <a:solidFill>
              <a:srgbClr val="6062FF"/>
            </a:solidFill>
            <a:prstDash val="solid"/>
          </a:ln>
        </p:spPr>
      </p:sp>
      <p:sp>
        <p:nvSpPr>
          <p:cNvPr id="21" name="Text 18"/>
          <p:cNvSpPr/>
          <p:nvPr/>
        </p:nvSpPr>
        <p:spPr>
          <a:xfrm>
            <a:off x="329184" y="3483864"/>
            <a:ext cx="4937760" cy="219456"/>
          </a:xfrm>
          <a:prstGeom prst="rect">
            <a:avLst/>
          </a:prstGeom>
          <a:noFill/>
        </p:spPr>
        <p:txBody>
          <a:bodyPr wrap="square" lIns="0" tIns="0" rIns="0" bIns="0" rtlCol="0" anchor="ctr"/>
          <a:lstStyle/>
          <a:p>
            <a:pPr marL="0" indent="0">
              <a:buNone/>
            </a:pPr>
            <a:r>
              <a:rPr lang="en-US" sz="1000" b="1" dirty="0">
                <a:solidFill>
                  <a:srgbClr val="6062FF"/>
                </a:solidFill>
                <a:latin typeface="Calibri" panose="020F0502020204030204" pitchFamily="34" charset="0"/>
                <a:ea typeface="Calibri" panose="020F0502020204030204" pitchFamily="34" charset="-122"/>
                <a:cs typeface="Calibri" panose="020F0502020204030204" pitchFamily="34" charset="-120"/>
              </a:rPr>
              <a:t>Outcome — Final Product</a:t>
            </a:r>
            <a:endParaRPr lang="en-US" sz="1000" dirty="0"/>
          </a:p>
        </p:txBody>
      </p:sp>
      <p:sp>
        <p:nvSpPr>
          <p:cNvPr id="22" name="Text 19"/>
          <p:cNvSpPr/>
          <p:nvPr/>
        </p:nvSpPr>
        <p:spPr>
          <a:xfrm>
            <a:off x="329184" y="3721608"/>
            <a:ext cx="4937760" cy="795528"/>
          </a:xfrm>
          <a:prstGeom prst="rect">
            <a:avLst/>
          </a:prstGeom>
          <a:noFill/>
        </p:spPr>
        <p:txBody>
          <a:bodyPr wrap="square" lIns="0" tIns="0" rIns="0" bIns="0" rtlCol="0" anchor="ctr"/>
          <a:lstStyle/>
          <a:p>
            <a:pPr marL="0" indent="0">
              <a:buNone/>
            </a:pPr>
            <a:r>
              <a:rPr lang="en-US" sz="850" dirty="0">
                <a:solidFill>
                  <a:srgbClr val="333333"/>
                </a:solidFill>
                <a:latin typeface="Calibri" panose="020F0502020204030204" pitchFamily="34" charset="0"/>
                <a:ea typeface="Calibri" panose="020F0502020204030204" pitchFamily="34" charset="-122"/>
                <a:cs typeface="Calibri" panose="020F0502020204030204" pitchFamily="34" charset="-120"/>
              </a:rPr>
              <a:t>Free, offline Android APK: automatic voice-evidence collection, live GPS every 2 min, Safe Walk timer (auto-SOS on expiry), offline AI safety chat, fake-call escape screen, home-screen widget, front camera gesture detection (silent SOS trigger), and back camera photo capture on SOS activation.</a:t>
            </a:r>
            <a:endParaRPr lang="en-US" sz="850" dirty="0"/>
          </a:p>
        </p:txBody>
      </p:sp>
      <p:sp>
        <p:nvSpPr>
          <p:cNvPr id="23" name="Text 20"/>
          <p:cNvSpPr/>
          <p:nvPr/>
        </p:nvSpPr>
        <p:spPr>
          <a:xfrm>
            <a:off x="5541264" y="896112"/>
            <a:ext cx="3364992" cy="228600"/>
          </a:xfrm>
          <a:prstGeom prst="rect">
            <a:avLst/>
          </a:prstGeom>
          <a:noFill/>
        </p:spPr>
        <p:txBody>
          <a:bodyPr wrap="square" lIns="0" tIns="0" rIns="0" bIns="0" rtlCol="0" anchor="ctr"/>
          <a:lstStyle/>
          <a:p>
            <a:pPr marL="0" indent="0">
              <a:buNone/>
            </a:pPr>
            <a:r>
              <a:rPr lang="en-US" sz="1100" b="1" dirty="0">
                <a:solidFill>
                  <a:srgbClr val="000000"/>
                </a:solidFill>
                <a:latin typeface="Calibri" panose="020F0502020204030204" pitchFamily="34" charset="0"/>
                <a:ea typeface="Calibri" panose="020F0502020204030204" pitchFamily="34" charset="-122"/>
                <a:cs typeface="Calibri" panose="020F0502020204030204" pitchFamily="34" charset="-120"/>
              </a:rPr>
              <a:t>Key Features &amp; Innovation</a:t>
            </a:r>
            <a:endParaRPr lang="en-US" sz="1100" dirty="0"/>
          </a:p>
        </p:txBody>
      </p:sp>
      <p:sp>
        <p:nvSpPr>
          <p:cNvPr id="24" name="Shape 21"/>
          <p:cNvSpPr/>
          <p:nvPr/>
        </p:nvSpPr>
        <p:spPr>
          <a:xfrm>
            <a:off x="5541010" y="1207135"/>
            <a:ext cx="1600835" cy="590550"/>
          </a:xfrm>
          <a:prstGeom prst="rect">
            <a:avLst/>
          </a:prstGeom>
          <a:solidFill>
            <a:srgbClr val="F4F6FF"/>
          </a:solidFill>
          <a:ln w="15240">
            <a:solidFill>
              <a:srgbClr val="6062FF"/>
            </a:solidFill>
            <a:prstDash val="solid"/>
          </a:ln>
        </p:spPr>
      </p:sp>
      <p:sp>
        <p:nvSpPr>
          <p:cNvPr id="25" name="Shape 22"/>
          <p:cNvSpPr/>
          <p:nvPr/>
        </p:nvSpPr>
        <p:spPr>
          <a:xfrm>
            <a:off x="5541264" y="1207008"/>
            <a:ext cx="1627632" cy="47549"/>
          </a:xfrm>
          <a:prstGeom prst="rect">
            <a:avLst/>
          </a:prstGeom>
          <a:solidFill>
            <a:srgbClr val="6062FF"/>
          </a:solidFill>
          <a:ln w="12700">
            <a:solidFill>
              <a:srgbClr val="6062FF"/>
            </a:solidFill>
            <a:prstDash val="solid"/>
          </a:ln>
        </p:spPr>
      </p:sp>
      <p:sp>
        <p:nvSpPr>
          <p:cNvPr id="26" name="Text 23"/>
          <p:cNvSpPr/>
          <p:nvPr/>
        </p:nvSpPr>
        <p:spPr>
          <a:xfrm>
            <a:off x="5605272" y="1298448"/>
            <a:ext cx="1499616" cy="256032"/>
          </a:xfrm>
          <a:prstGeom prst="rect">
            <a:avLst/>
          </a:prstGeom>
          <a:noFill/>
        </p:spPr>
        <p:txBody>
          <a:bodyPr wrap="square" lIns="0" tIns="0" rIns="0" bIns="0" rtlCol="0" anchor="ctr"/>
          <a:lstStyle/>
          <a:p>
            <a:pPr marL="0" indent="0" algn="ctr">
              <a:buNone/>
            </a:pPr>
            <a:r>
              <a:rPr lang="en-US" sz="900" b="1" dirty="0">
                <a:solidFill>
                  <a:srgbClr val="6062FF"/>
                </a:solidFill>
                <a:latin typeface="Calibri" panose="020F0502020204030204" pitchFamily="34" charset="0"/>
                <a:ea typeface="Calibri" panose="020F0502020204030204" pitchFamily="34" charset="-122"/>
                <a:cs typeface="Calibri" panose="020F0502020204030204" pitchFamily="34" charset="-120"/>
              </a:rPr>
              <a:t>🔊 Vol×4 SOS</a:t>
            </a:r>
            <a:endParaRPr lang="en-US" sz="900" dirty="0"/>
          </a:p>
        </p:txBody>
      </p:sp>
      <p:sp>
        <p:nvSpPr>
          <p:cNvPr id="27" name="Text 24"/>
          <p:cNvSpPr/>
          <p:nvPr/>
        </p:nvSpPr>
        <p:spPr>
          <a:xfrm>
            <a:off x="5605272" y="1508506"/>
            <a:ext cx="1499616" cy="292608"/>
          </a:xfrm>
          <a:prstGeom prst="rect">
            <a:avLst/>
          </a:prstGeom>
          <a:noFill/>
        </p:spPr>
        <p:txBody>
          <a:bodyPr wrap="square" lIns="0" tIns="0" rIns="0" bIns="0" rtlCol="0" anchor="ctr"/>
          <a:lstStyle/>
          <a:p>
            <a:pPr marL="0" indent="0" algn="ctr">
              <a:buNone/>
            </a:pPr>
            <a:r>
              <a:rPr lang="en-US" sz="800" dirty="0">
                <a:solidFill>
                  <a:srgbClr val="444444"/>
                </a:solidFill>
                <a:latin typeface="Calibri" panose="020F0502020204030204" pitchFamily="34" charset="0"/>
                <a:ea typeface="Calibri" panose="020F0502020204030204" pitchFamily="34" charset="-122"/>
                <a:cs typeface="Calibri" panose="020F0502020204030204" pitchFamily="34" charset="-120"/>
              </a:rPr>
              <a:t>Covert, screen-off</a:t>
            </a:r>
            <a:endParaRPr lang="en-US" sz="800" dirty="0"/>
          </a:p>
        </p:txBody>
      </p:sp>
      <p:sp>
        <p:nvSpPr>
          <p:cNvPr id="28" name="Shape 25"/>
          <p:cNvSpPr/>
          <p:nvPr/>
        </p:nvSpPr>
        <p:spPr>
          <a:xfrm>
            <a:off x="7278370" y="1207135"/>
            <a:ext cx="1608455" cy="590550"/>
          </a:xfrm>
          <a:prstGeom prst="rect">
            <a:avLst/>
          </a:prstGeom>
          <a:solidFill>
            <a:srgbClr val="F4F6FF"/>
          </a:solidFill>
          <a:ln w="15240">
            <a:solidFill>
              <a:srgbClr val="0F9ED5"/>
            </a:solidFill>
            <a:prstDash val="solid"/>
          </a:ln>
        </p:spPr>
      </p:sp>
      <p:sp>
        <p:nvSpPr>
          <p:cNvPr id="29" name="Shape 26"/>
          <p:cNvSpPr/>
          <p:nvPr/>
        </p:nvSpPr>
        <p:spPr>
          <a:xfrm>
            <a:off x="7278624" y="1207008"/>
            <a:ext cx="1627632" cy="47549"/>
          </a:xfrm>
          <a:prstGeom prst="rect">
            <a:avLst/>
          </a:prstGeom>
          <a:solidFill>
            <a:srgbClr val="0F9ED5"/>
          </a:solidFill>
          <a:ln w="12700">
            <a:solidFill>
              <a:srgbClr val="0F9ED5"/>
            </a:solidFill>
            <a:prstDash val="solid"/>
          </a:ln>
        </p:spPr>
      </p:sp>
      <p:sp>
        <p:nvSpPr>
          <p:cNvPr id="30" name="Text 27"/>
          <p:cNvSpPr/>
          <p:nvPr/>
        </p:nvSpPr>
        <p:spPr>
          <a:xfrm>
            <a:off x="7342632" y="1298448"/>
            <a:ext cx="1499616" cy="256032"/>
          </a:xfrm>
          <a:prstGeom prst="rect">
            <a:avLst/>
          </a:prstGeom>
          <a:noFill/>
        </p:spPr>
        <p:txBody>
          <a:bodyPr wrap="square" lIns="0" tIns="0" rIns="0" bIns="0" rtlCol="0" anchor="ctr"/>
          <a:lstStyle/>
          <a:p>
            <a:pPr marL="0" indent="0" algn="ctr">
              <a:buNone/>
            </a:pPr>
            <a:r>
              <a:rPr lang="en-US" sz="900" b="1" dirty="0">
                <a:solidFill>
                  <a:srgbClr val="0F9ED5"/>
                </a:solidFill>
                <a:latin typeface="Calibri" panose="020F0502020204030204" pitchFamily="34" charset="0"/>
                <a:ea typeface="Calibri" panose="020F0502020204030204" pitchFamily="34" charset="-122"/>
                <a:cs typeface="Calibri" panose="020F0502020204030204" pitchFamily="34" charset="-120"/>
              </a:rPr>
              <a:t>📳 Shake ×3</a:t>
            </a:r>
            <a:endParaRPr lang="en-US" sz="900" dirty="0"/>
          </a:p>
        </p:txBody>
      </p:sp>
      <p:sp>
        <p:nvSpPr>
          <p:cNvPr id="31" name="Text 28"/>
          <p:cNvSpPr/>
          <p:nvPr/>
        </p:nvSpPr>
        <p:spPr>
          <a:xfrm>
            <a:off x="7342632" y="1508506"/>
            <a:ext cx="1499616" cy="292608"/>
          </a:xfrm>
          <a:prstGeom prst="rect">
            <a:avLst/>
          </a:prstGeom>
          <a:noFill/>
        </p:spPr>
        <p:txBody>
          <a:bodyPr wrap="square" lIns="0" tIns="0" rIns="0" bIns="0" rtlCol="0" anchor="ctr"/>
          <a:lstStyle/>
          <a:p>
            <a:pPr marL="0" indent="0" algn="ctr">
              <a:buNone/>
            </a:pPr>
            <a:r>
              <a:rPr lang="en-US" sz="800" dirty="0">
                <a:solidFill>
                  <a:srgbClr val="444444"/>
                </a:solidFill>
                <a:latin typeface="Calibri" panose="020F0502020204030204" pitchFamily="34" charset="0"/>
                <a:ea typeface="Calibri" panose="020F0502020204030204" pitchFamily="34" charset="-122"/>
                <a:cs typeface="Calibri" panose="020F0502020204030204" pitchFamily="34" charset="-120"/>
              </a:rPr>
              <a:t>Accel. trigger</a:t>
            </a:r>
            <a:endParaRPr lang="en-US" sz="800" dirty="0"/>
          </a:p>
        </p:txBody>
      </p:sp>
      <p:sp>
        <p:nvSpPr>
          <p:cNvPr id="32" name="Shape 29"/>
          <p:cNvSpPr/>
          <p:nvPr/>
        </p:nvSpPr>
        <p:spPr>
          <a:xfrm>
            <a:off x="5541010" y="1974850"/>
            <a:ext cx="1682115" cy="657225"/>
          </a:xfrm>
          <a:prstGeom prst="rect">
            <a:avLst/>
          </a:prstGeom>
          <a:solidFill>
            <a:srgbClr val="F4F6FF"/>
          </a:solidFill>
          <a:ln w="15240">
            <a:solidFill>
              <a:srgbClr val="27AE60"/>
            </a:solidFill>
            <a:prstDash val="solid"/>
          </a:ln>
        </p:spPr>
      </p:sp>
      <p:sp>
        <p:nvSpPr>
          <p:cNvPr id="33" name="Shape 30"/>
          <p:cNvSpPr/>
          <p:nvPr/>
        </p:nvSpPr>
        <p:spPr>
          <a:xfrm>
            <a:off x="5541264" y="1974850"/>
            <a:ext cx="1627632" cy="47549"/>
          </a:xfrm>
          <a:prstGeom prst="rect">
            <a:avLst/>
          </a:prstGeom>
          <a:solidFill>
            <a:srgbClr val="27AE60"/>
          </a:solidFill>
          <a:ln w="12700">
            <a:solidFill>
              <a:srgbClr val="27AE60"/>
            </a:solidFill>
            <a:prstDash val="solid"/>
          </a:ln>
        </p:spPr>
      </p:sp>
      <p:sp>
        <p:nvSpPr>
          <p:cNvPr id="34" name="Text 31"/>
          <p:cNvSpPr/>
          <p:nvPr/>
        </p:nvSpPr>
        <p:spPr>
          <a:xfrm>
            <a:off x="5605272" y="2148840"/>
            <a:ext cx="1499616" cy="256032"/>
          </a:xfrm>
          <a:prstGeom prst="rect">
            <a:avLst/>
          </a:prstGeom>
          <a:noFill/>
        </p:spPr>
        <p:txBody>
          <a:bodyPr wrap="square" lIns="0" tIns="0" rIns="0" bIns="0" rtlCol="0" anchor="ctr"/>
          <a:lstStyle/>
          <a:p>
            <a:pPr marL="0" indent="0" algn="ctr">
              <a:buNone/>
            </a:pPr>
            <a:r>
              <a:rPr lang="en-US" sz="900" b="1" dirty="0">
                <a:solidFill>
                  <a:srgbClr val="27AE60"/>
                </a:solidFill>
                <a:latin typeface="Calibri" panose="020F0502020204030204" pitchFamily="34" charset="0"/>
                <a:ea typeface="Calibri" panose="020F0502020204030204" pitchFamily="34" charset="-122"/>
                <a:cs typeface="Calibri" panose="020F0502020204030204" pitchFamily="34" charset="-120"/>
              </a:rPr>
              <a:t>🎙️ Auto Record</a:t>
            </a:r>
            <a:endParaRPr lang="en-US" sz="900" dirty="0"/>
          </a:p>
        </p:txBody>
      </p:sp>
      <p:sp>
        <p:nvSpPr>
          <p:cNvPr id="35" name="Text 32"/>
          <p:cNvSpPr/>
          <p:nvPr/>
        </p:nvSpPr>
        <p:spPr>
          <a:xfrm>
            <a:off x="5605272" y="2350643"/>
            <a:ext cx="1499616" cy="292608"/>
          </a:xfrm>
          <a:prstGeom prst="rect">
            <a:avLst/>
          </a:prstGeom>
          <a:noFill/>
        </p:spPr>
        <p:txBody>
          <a:bodyPr wrap="square" lIns="0" tIns="0" rIns="0" bIns="0" rtlCol="0" anchor="ctr"/>
          <a:lstStyle/>
          <a:p>
            <a:pPr marL="0" indent="0" algn="ctr">
              <a:buNone/>
            </a:pPr>
            <a:r>
              <a:rPr lang="en-US" sz="800" dirty="0">
                <a:solidFill>
                  <a:srgbClr val="444444"/>
                </a:solidFill>
                <a:latin typeface="Calibri" panose="020F0502020204030204" pitchFamily="34" charset="0"/>
                <a:ea typeface="Calibri" panose="020F0502020204030204" pitchFamily="34" charset="-122"/>
                <a:cs typeface="Calibri" panose="020F0502020204030204" pitchFamily="34" charset="-120"/>
              </a:rPr>
              <a:t>Evidence capture</a:t>
            </a:r>
            <a:endParaRPr lang="en-US" sz="800" dirty="0"/>
          </a:p>
        </p:txBody>
      </p:sp>
      <p:sp>
        <p:nvSpPr>
          <p:cNvPr id="36" name="Shape 33"/>
          <p:cNvSpPr/>
          <p:nvPr/>
        </p:nvSpPr>
        <p:spPr>
          <a:xfrm>
            <a:off x="7278370" y="2016125"/>
            <a:ext cx="1617345" cy="617220"/>
          </a:xfrm>
          <a:prstGeom prst="rect">
            <a:avLst/>
          </a:prstGeom>
          <a:solidFill>
            <a:srgbClr val="F4F6FF"/>
          </a:solidFill>
          <a:ln w="15240">
            <a:solidFill>
              <a:srgbClr val="E74C3C"/>
            </a:solidFill>
            <a:prstDash val="solid"/>
          </a:ln>
        </p:spPr>
      </p:sp>
      <p:sp>
        <p:nvSpPr>
          <p:cNvPr id="37" name="Shape 34"/>
          <p:cNvSpPr/>
          <p:nvPr/>
        </p:nvSpPr>
        <p:spPr>
          <a:xfrm>
            <a:off x="7278624" y="1966595"/>
            <a:ext cx="1627632" cy="47549"/>
          </a:xfrm>
          <a:prstGeom prst="rect">
            <a:avLst/>
          </a:prstGeom>
          <a:solidFill>
            <a:srgbClr val="E74C3C"/>
          </a:solidFill>
          <a:ln w="12700">
            <a:solidFill>
              <a:srgbClr val="E74C3C"/>
            </a:solidFill>
            <a:prstDash val="solid"/>
          </a:ln>
        </p:spPr>
      </p:sp>
      <p:sp>
        <p:nvSpPr>
          <p:cNvPr id="38" name="Text 35"/>
          <p:cNvSpPr/>
          <p:nvPr/>
        </p:nvSpPr>
        <p:spPr>
          <a:xfrm>
            <a:off x="7342632" y="2148840"/>
            <a:ext cx="1499616" cy="256032"/>
          </a:xfrm>
          <a:prstGeom prst="rect">
            <a:avLst/>
          </a:prstGeom>
          <a:noFill/>
        </p:spPr>
        <p:txBody>
          <a:bodyPr wrap="square" lIns="0" tIns="0" rIns="0" bIns="0" rtlCol="0" anchor="ctr"/>
          <a:lstStyle/>
          <a:p>
            <a:pPr marL="0" indent="0" algn="ctr">
              <a:buNone/>
            </a:pPr>
            <a:r>
              <a:rPr lang="en-US" sz="900" b="1" dirty="0">
                <a:solidFill>
                  <a:srgbClr val="E74C3C"/>
                </a:solidFill>
                <a:latin typeface="Calibri" panose="020F0502020204030204" pitchFamily="34" charset="0"/>
                <a:ea typeface="Calibri" panose="020F0502020204030204" pitchFamily="34" charset="-122"/>
                <a:cs typeface="Calibri" panose="020F0502020204030204" pitchFamily="34" charset="-120"/>
              </a:rPr>
              <a:t>📍 GPS SMS</a:t>
            </a:r>
            <a:endParaRPr lang="en-US" sz="900" dirty="0"/>
          </a:p>
        </p:txBody>
      </p:sp>
      <p:sp>
        <p:nvSpPr>
          <p:cNvPr id="39" name="Text 36"/>
          <p:cNvSpPr/>
          <p:nvPr/>
        </p:nvSpPr>
        <p:spPr>
          <a:xfrm>
            <a:off x="7342632" y="2342388"/>
            <a:ext cx="1499616" cy="292608"/>
          </a:xfrm>
          <a:prstGeom prst="rect">
            <a:avLst/>
          </a:prstGeom>
          <a:noFill/>
        </p:spPr>
        <p:txBody>
          <a:bodyPr wrap="square" lIns="0" tIns="0" rIns="0" bIns="0" rtlCol="0" anchor="ctr"/>
          <a:lstStyle/>
          <a:p>
            <a:pPr marL="0" indent="0" algn="ctr">
              <a:buNone/>
            </a:pPr>
            <a:r>
              <a:rPr lang="en-US" sz="800" dirty="0">
                <a:solidFill>
                  <a:srgbClr val="444444"/>
                </a:solidFill>
                <a:latin typeface="Calibri" panose="020F0502020204030204" pitchFamily="34" charset="0"/>
                <a:ea typeface="Calibri" panose="020F0502020204030204" pitchFamily="34" charset="-122"/>
                <a:cs typeface="Calibri" panose="020F0502020204030204" pitchFamily="34" charset="-120"/>
              </a:rPr>
              <a:t>Live every 2 min</a:t>
            </a:r>
            <a:endParaRPr lang="en-US" sz="800" dirty="0"/>
          </a:p>
        </p:txBody>
      </p:sp>
      <p:sp>
        <p:nvSpPr>
          <p:cNvPr id="40" name="Shape 37"/>
          <p:cNvSpPr/>
          <p:nvPr/>
        </p:nvSpPr>
        <p:spPr>
          <a:xfrm>
            <a:off x="5541010" y="2808605"/>
            <a:ext cx="1665605" cy="590550"/>
          </a:xfrm>
          <a:prstGeom prst="rect">
            <a:avLst/>
          </a:prstGeom>
          <a:solidFill>
            <a:srgbClr val="F4F6FF"/>
          </a:solidFill>
          <a:ln w="15240">
            <a:solidFill>
              <a:srgbClr val="8E44AD"/>
            </a:solidFill>
            <a:prstDash val="solid"/>
          </a:ln>
        </p:spPr>
      </p:sp>
      <p:sp>
        <p:nvSpPr>
          <p:cNvPr id="41" name="Shape 38"/>
          <p:cNvSpPr/>
          <p:nvPr/>
        </p:nvSpPr>
        <p:spPr>
          <a:xfrm>
            <a:off x="5541264" y="2767457"/>
            <a:ext cx="1627632" cy="47549"/>
          </a:xfrm>
          <a:prstGeom prst="rect">
            <a:avLst/>
          </a:prstGeom>
          <a:solidFill>
            <a:srgbClr val="8E44AD"/>
          </a:solidFill>
          <a:ln w="12700">
            <a:solidFill>
              <a:srgbClr val="8E44AD"/>
            </a:solidFill>
            <a:prstDash val="solid"/>
          </a:ln>
        </p:spPr>
      </p:sp>
      <p:sp>
        <p:nvSpPr>
          <p:cNvPr id="42" name="Text 39"/>
          <p:cNvSpPr/>
          <p:nvPr/>
        </p:nvSpPr>
        <p:spPr>
          <a:xfrm>
            <a:off x="5605272" y="2883662"/>
            <a:ext cx="1499616" cy="256032"/>
          </a:xfrm>
          <a:prstGeom prst="rect">
            <a:avLst/>
          </a:prstGeom>
          <a:noFill/>
        </p:spPr>
        <p:txBody>
          <a:bodyPr wrap="square" lIns="0" tIns="0" rIns="0" bIns="0" rtlCol="0" anchor="ctr"/>
          <a:lstStyle/>
          <a:p>
            <a:pPr marL="0" indent="0" algn="ctr">
              <a:buNone/>
            </a:pPr>
            <a:r>
              <a:rPr lang="en-US" sz="900" b="1" dirty="0">
                <a:solidFill>
                  <a:srgbClr val="8E44AD"/>
                </a:solidFill>
                <a:latin typeface="Calibri" panose="020F0502020204030204" pitchFamily="34" charset="0"/>
                <a:ea typeface="Calibri" panose="020F0502020204030204" pitchFamily="34" charset="-122"/>
                <a:cs typeface="Calibri" panose="020F0502020204030204" pitchFamily="34" charset="-120"/>
              </a:rPr>
              <a:t>💬 Offline AI</a:t>
            </a:r>
            <a:endParaRPr lang="en-US" sz="900" dirty="0"/>
          </a:p>
        </p:txBody>
      </p:sp>
      <p:sp>
        <p:nvSpPr>
          <p:cNvPr id="43" name="Text 40"/>
          <p:cNvSpPr/>
          <p:nvPr/>
        </p:nvSpPr>
        <p:spPr>
          <a:xfrm>
            <a:off x="5605272" y="3060700"/>
            <a:ext cx="1499616" cy="292608"/>
          </a:xfrm>
          <a:prstGeom prst="rect">
            <a:avLst/>
          </a:prstGeom>
          <a:noFill/>
        </p:spPr>
        <p:txBody>
          <a:bodyPr wrap="square" lIns="0" tIns="0" rIns="0" bIns="0" rtlCol="0" anchor="ctr"/>
          <a:lstStyle/>
          <a:p>
            <a:pPr marL="0" indent="0" algn="ctr">
              <a:buNone/>
            </a:pPr>
            <a:r>
              <a:rPr lang="en-US" sz="800" dirty="0">
                <a:solidFill>
                  <a:srgbClr val="444444"/>
                </a:solidFill>
                <a:latin typeface="Calibri" panose="020F0502020204030204" pitchFamily="34" charset="0"/>
                <a:ea typeface="Calibri" panose="020F0502020204030204" pitchFamily="34" charset="-122"/>
                <a:cs typeface="Calibri" panose="020F0502020204030204" pitchFamily="34" charset="-120"/>
              </a:rPr>
              <a:t>No internet needed</a:t>
            </a:r>
            <a:endParaRPr lang="en-US" sz="800" dirty="0"/>
          </a:p>
        </p:txBody>
      </p:sp>
      <p:sp>
        <p:nvSpPr>
          <p:cNvPr id="44" name="Shape 41"/>
          <p:cNvSpPr/>
          <p:nvPr/>
        </p:nvSpPr>
        <p:spPr>
          <a:xfrm>
            <a:off x="7278370" y="2825115"/>
            <a:ext cx="1608455" cy="576580"/>
          </a:xfrm>
          <a:prstGeom prst="rect">
            <a:avLst/>
          </a:prstGeom>
          <a:solidFill>
            <a:srgbClr val="F4F6FF"/>
          </a:solidFill>
          <a:ln w="15240">
            <a:solidFill>
              <a:srgbClr val="D68910"/>
            </a:solidFill>
            <a:prstDash val="solid"/>
          </a:ln>
        </p:spPr>
      </p:sp>
      <p:sp>
        <p:nvSpPr>
          <p:cNvPr id="45" name="Shape 42"/>
          <p:cNvSpPr/>
          <p:nvPr/>
        </p:nvSpPr>
        <p:spPr>
          <a:xfrm>
            <a:off x="7278624" y="2767457"/>
            <a:ext cx="1627632" cy="47549"/>
          </a:xfrm>
          <a:prstGeom prst="rect">
            <a:avLst/>
          </a:prstGeom>
          <a:solidFill>
            <a:srgbClr val="D68910"/>
          </a:solidFill>
          <a:ln w="12700">
            <a:solidFill>
              <a:srgbClr val="D68910"/>
            </a:solidFill>
            <a:prstDash val="solid"/>
          </a:ln>
        </p:spPr>
      </p:sp>
      <p:sp>
        <p:nvSpPr>
          <p:cNvPr id="46" name="Text 43"/>
          <p:cNvSpPr/>
          <p:nvPr/>
        </p:nvSpPr>
        <p:spPr>
          <a:xfrm>
            <a:off x="7342632" y="2875407"/>
            <a:ext cx="1499616" cy="256032"/>
          </a:xfrm>
          <a:prstGeom prst="rect">
            <a:avLst/>
          </a:prstGeom>
          <a:noFill/>
        </p:spPr>
        <p:txBody>
          <a:bodyPr wrap="square" lIns="0" tIns="0" rIns="0" bIns="0" rtlCol="0" anchor="ctr"/>
          <a:lstStyle/>
          <a:p>
            <a:pPr marL="0" indent="0" algn="ctr">
              <a:buNone/>
            </a:pPr>
            <a:r>
              <a:rPr lang="en-US" sz="900" b="1" dirty="0">
                <a:solidFill>
                  <a:srgbClr val="D68910"/>
                </a:solidFill>
                <a:latin typeface="Calibri" panose="020F0502020204030204" pitchFamily="34" charset="0"/>
                <a:ea typeface="Calibri" panose="020F0502020204030204" pitchFamily="34" charset="-122"/>
                <a:cs typeface="Calibri" panose="020F0502020204030204" pitchFamily="34" charset="-120"/>
              </a:rPr>
              <a:t>⏱️ Safe Walk</a:t>
            </a:r>
            <a:endParaRPr lang="en-US" sz="900" dirty="0"/>
          </a:p>
        </p:txBody>
      </p:sp>
      <p:sp>
        <p:nvSpPr>
          <p:cNvPr id="47" name="Text 44"/>
          <p:cNvSpPr/>
          <p:nvPr/>
        </p:nvSpPr>
        <p:spPr>
          <a:xfrm>
            <a:off x="7342632" y="3044190"/>
            <a:ext cx="1499616" cy="292608"/>
          </a:xfrm>
          <a:prstGeom prst="rect">
            <a:avLst/>
          </a:prstGeom>
          <a:noFill/>
        </p:spPr>
        <p:txBody>
          <a:bodyPr wrap="square" lIns="0" tIns="0" rIns="0" bIns="0" rtlCol="0" anchor="ctr"/>
          <a:lstStyle/>
          <a:p>
            <a:pPr marL="0" indent="0" algn="ctr">
              <a:buNone/>
            </a:pPr>
            <a:r>
              <a:rPr lang="en-US" sz="800" dirty="0">
                <a:solidFill>
                  <a:srgbClr val="444444"/>
                </a:solidFill>
                <a:latin typeface="Calibri" panose="020F0502020204030204" pitchFamily="34" charset="0"/>
                <a:ea typeface="Calibri" panose="020F0502020204030204" pitchFamily="34" charset="-122"/>
                <a:cs typeface="Calibri" panose="020F0502020204030204" pitchFamily="34" charset="-120"/>
              </a:rPr>
              <a:t>Auto-SOS on expiry</a:t>
            </a:r>
            <a:endParaRPr lang="en-US" sz="800" dirty="0"/>
          </a:p>
        </p:txBody>
      </p:sp>
      <p:sp>
        <p:nvSpPr>
          <p:cNvPr id="48" name="Shape 45"/>
          <p:cNvSpPr/>
          <p:nvPr/>
        </p:nvSpPr>
        <p:spPr>
          <a:xfrm>
            <a:off x="5541010" y="3625850"/>
            <a:ext cx="1600835" cy="506730"/>
          </a:xfrm>
          <a:prstGeom prst="rect">
            <a:avLst/>
          </a:prstGeom>
          <a:solidFill>
            <a:srgbClr val="F4F6FF"/>
          </a:solidFill>
          <a:ln w="15240">
            <a:solidFill>
              <a:srgbClr val="1A3A5C"/>
            </a:solidFill>
            <a:prstDash val="solid"/>
          </a:ln>
        </p:spPr>
      </p:sp>
      <p:sp>
        <p:nvSpPr>
          <p:cNvPr id="49" name="Shape 46"/>
          <p:cNvSpPr/>
          <p:nvPr/>
        </p:nvSpPr>
        <p:spPr>
          <a:xfrm>
            <a:off x="5541264" y="3568319"/>
            <a:ext cx="1627632" cy="47549"/>
          </a:xfrm>
          <a:prstGeom prst="rect">
            <a:avLst/>
          </a:prstGeom>
          <a:solidFill>
            <a:srgbClr val="1A3A5C"/>
          </a:solidFill>
          <a:ln w="12700">
            <a:solidFill>
              <a:srgbClr val="1A3A5C"/>
            </a:solidFill>
            <a:prstDash val="solid"/>
          </a:ln>
        </p:spPr>
      </p:sp>
      <p:sp>
        <p:nvSpPr>
          <p:cNvPr id="50" name="Text 47"/>
          <p:cNvSpPr/>
          <p:nvPr/>
        </p:nvSpPr>
        <p:spPr>
          <a:xfrm>
            <a:off x="5605272" y="3643249"/>
            <a:ext cx="1499616" cy="256032"/>
          </a:xfrm>
          <a:prstGeom prst="rect">
            <a:avLst/>
          </a:prstGeom>
          <a:noFill/>
        </p:spPr>
        <p:txBody>
          <a:bodyPr wrap="square" lIns="0" tIns="0" rIns="0" bIns="0" rtlCol="0" anchor="ctr"/>
          <a:lstStyle/>
          <a:p>
            <a:pPr marL="0" indent="0" algn="ctr">
              <a:buNone/>
            </a:pPr>
            <a:r>
              <a:rPr lang="en-US" sz="900" b="1" dirty="0">
                <a:solidFill>
                  <a:srgbClr val="1A3A5C"/>
                </a:solidFill>
                <a:latin typeface="Calibri" panose="020F0502020204030204" pitchFamily="34" charset="0"/>
                <a:ea typeface="Calibri" panose="020F0502020204030204" pitchFamily="34" charset="-122"/>
                <a:cs typeface="Calibri" panose="020F0502020204030204" pitchFamily="34" charset="-120"/>
              </a:rPr>
              <a:t>📱 Widget SOS</a:t>
            </a:r>
            <a:endParaRPr lang="en-US" sz="900" dirty="0"/>
          </a:p>
        </p:txBody>
      </p:sp>
      <p:sp>
        <p:nvSpPr>
          <p:cNvPr id="51" name="Text 48"/>
          <p:cNvSpPr/>
          <p:nvPr/>
        </p:nvSpPr>
        <p:spPr>
          <a:xfrm>
            <a:off x="5605272" y="3803777"/>
            <a:ext cx="1499616" cy="292608"/>
          </a:xfrm>
          <a:prstGeom prst="rect">
            <a:avLst/>
          </a:prstGeom>
          <a:noFill/>
        </p:spPr>
        <p:txBody>
          <a:bodyPr wrap="square" lIns="0" tIns="0" rIns="0" bIns="0" rtlCol="0" anchor="ctr"/>
          <a:lstStyle/>
          <a:p>
            <a:pPr marL="0" indent="0" algn="ctr">
              <a:buNone/>
            </a:pPr>
            <a:r>
              <a:rPr lang="en-US" sz="800" dirty="0">
                <a:solidFill>
                  <a:srgbClr val="444444"/>
                </a:solidFill>
                <a:latin typeface="Calibri" panose="020F0502020204030204" pitchFamily="34" charset="0"/>
                <a:ea typeface="Calibri" panose="020F0502020204030204" pitchFamily="34" charset="-122"/>
                <a:cs typeface="Calibri" panose="020F0502020204030204" pitchFamily="34" charset="-120"/>
              </a:rPr>
              <a:t>1-tap home screen</a:t>
            </a:r>
            <a:endParaRPr lang="en-US" sz="800" dirty="0"/>
          </a:p>
        </p:txBody>
      </p:sp>
      <p:sp>
        <p:nvSpPr>
          <p:cNvPr id="52" name="Shape 49"/>
          <p:cNvSpPr/>
          <p:nvPr/>
        </p:nvSpPr>
        <p:spPr>
          <a:xfrm>
            <a:off x="7278370" y="3601085"/>
            <a:ext cx="1617345" cy="542925"/>
          </a:xfrm>
          <a:prstGeom prst="rect">
            <a:avLst/>
          </a:prstGeom>
          <a:solidFill>
            <a:srgbClr val="F4F6FF"/>
          </a:solidFill>
          <a:ln w="15240">
            <a:solidFill>
              <a:srgbClr val="16A085"/>
            </a:solidFill>
            <a:prstDash val="solid"/>
          </a:ln>
        </p:spPr>
      </p:sp>
      <p:sp>
        <p:nvSpPr>
          <p:cNvPr id="53" name="Shape 50"/>
          <p:cNvSpPr/>
          <p:nvPr/>
        </p:nvSpPr>
        <p:spPr>
          <a:xfrm>
            <a:off x="7278624" y="3551809"/>
            <a:ext cx="1627632" cy="47549"/>
          </a:xfrm>
          <a:prstGeom prst="rect">
            <a:avLst/>
          </a:prstGeom>
          <a:solidFill>
            <a:srgbClr val="16A085"/>
          </a:solidFill>
          <a:ln w="12700">
            <a:solidFill>
              <a:srgbClr val="16A085"/>
            </a:solidFill>
            <a:prstDash val="solid"/>
          </a:ln>
        </p:spPr>
      </p:sp>
      <p:sp>
        <p:nvSpPr>
          <p:cNvPr id="54" name="Text 51"/>
          <p:cNvSpPr/>
          <p:nvPr/>
        </p:nvSpPr>
        <p:spPr>
          <a:xfrm>
            <a:off x="7342632" y="3634994"/>
            <a:ext cx="1499616" cy="256032"/>
          </a:xfrm>
          <a:prstGeom prst="rect">
            <a:avLst/>
          </a:prstGeom>
          <a:noFill/>
        </p:spPr>
        <p:txBody>
          <a:bodyPr wrap="square" lIns="0" tIns="0" rIns="0" bIns="0" rtlCol="0" anchor="ctr"/>
          <a:lstStyle/>
          <a:p>
            <a:pPr marL="0" indent="0" algn="ctr">
              <a:buNone/>
            </a:pPr>
            <a:r>
              <a:rPr lang="en-US" sz="900" b="1" dirty="0">
                <a:solidFill>
                  <a:srgbClr val="16A085"/>
                </a:solidFill>
                <a:latin typeface="Calibri" panose="020F0502020204030204" pitchFamily="34" charset="0"/>
                <a:ea typeface="Calibri" panose="020F0502020204030204" pitchFamily="34" charset="-122"/>
                <a:cs typeface="Calibri" panose="020F0502020204030204" pitchFamily="34" charset="-120"/>
              </a:rPr>
              <a:t>🔄 Boot Restart</a:t>
            </a:r>
            <a:endParaRPr lang="en-US" sz="900" dirty="0"/>
          </a:p>
        </p:txBody>
      </p:sp>
      <p:sp>
        <p:nvSpPr>
          <p:cNvPr id="55" name="Text 52"/>
          <p:cNvSpPr/>
          <p:nvPr/>
        </p:nvSpPr>
        <p:spPr>
          <a:xfrm>
            <a:off x="7342632" y="3828542"/>
            <a:ext cx="1499616" cy="292608"/>
          </a:xfrm>
          <a:prstGeom prst="rect">
            <a:avLst/>
          </a:prstGeom>
          <a:noFill/>
        </p:spPr>
        <p:txBody>
          <a:bodyPr wrap="square" lIns="0" tIns="0" rIns="0" bIns="0" rtlCol="0" anchor="ctr"/>
          <a:lstStyle/>
          <a:p>
            <a:pPr marL="0" indent="0" algn="ctr">
              <a:buNone/>
            </a:pPr>
            <a:r>
              <a:rPr lang="en-US" sz="800" dirty="0">
                <a:solidFill>
                  <a:srgbClr val="444444"/>
                </a:solidFill>
                <a:latin typeface="Calibri" panose="020F0502020204030204" pitchFamily="34" charset="0"/>
                <a:ea typeface="Calibri" panose="020F0502020204030204" pitchFamily="34" charset="-122"/>
                <a:cs typeface="Calibri" panose="020F0502020204030204" pitchFamily="34" charset="-120"/>
              </a:rPr>
              <a:t>Always protected</a:t>
            </a:r>
            <a:endParaRPr lang="en-US" sz="800" dirty="0"/>
          </a:p>
        </p:txBody>
      </p:sp>
      <p:sp>
        <p:nvSpPr>
          <p:cNvPr id="60" name="Shape 57"/>
          <p:cNvSpPr/>
          <p:nvPr/>
        </p:nvSpPr>
        <p:spPr>
          <a:xfrm>
            <a:off x="5541010" y="4313555"/>
            <a:ext cx="1564005" cy="564515"/>
          </a:xfrm>
          <a:prstGeom prst="rect">
            <a:avLst/>
          </a:prstGeom>
          <a:solidFill>
            <a:srgbClr val="F4F6FF"/>
          </a:solidFill>
          <a:ln w="15240">
            <a:solidFill>
              <a:srgbClr val="6062FF"/>
            </a:solidFill>
            <a:prstDash val="solid"/>
          </a:ln>
        </p:spPr>
      </p:sp>
      <p:sp>
        <p:nvSpPr>
          <p:cNvPr id="61" name="Shape 58"/>
          <p:cNvSpPr/>
          <p:nvPr/>
        </p:nvSpPr>
        <p:spPr>
          <a:xfrm flipV="1">
            <a:off x="5541645" y="4227195"/>
            <a:ext cx="1564640" cy="76200"/>
          </a:xfrm>
          <a:prstGeom prst="rect">
            <a:avLst/>
          </a:prstGeom>
          <a:solidFill>
            <a:srgbClr val="6062FF"/>
          </a:solidFill>
          <a:ln w="12700">
            <a:solidFill>
              <a:srgbClr val="6062FF"/>
            </a:solidFill>
            <a:prstDash val="solid"/>
          </a:ln>
        </p:spPr>
      </p:sp>
      <p:sp>
        <p:nvSpPr>
          <p:cNvPr id="62" name="Text 59"/>
          <p:cNvSpPr/>
          <p:nvPr/>
        </p:nvSpPr>
        <p:spPr>
          <a:xfrm>
            <a:off x="5502275" y="4313555"/>
            <a:ext cx="1590040" cy="429895"/>
          </a:xfrm>
          <a:prstGeom prst="rect">
            <a:avLst/>
          </a:prstGeom>
          <a:noFill/>
        </p:spPr>
        <p:txBody>
          <a:bodyPr wrap="square" lIns="0" tIns="0" rIns="0" bIns="0" rtlCol="0" anchor="ctr"/>
          <a:lstStyle/>
          <a:p>
            <a:pPr marL="0" indent="0" algn="ctr">
              <a:buNone/>
            </a:pPr>
            <a:r>
              <a:rPr lang="en-US" sz="700" b="1" dirty="0">
                <a:solidFill>
                  <a:srgbClr val="6062FF"/>
                </a:solidFill>
                <a:latin typeface="Calibri" panose="020F0502020204030204" pitchFamily="34" charset="0"/>
                <a:ea typeface="Calibri" panose="020F0502020204030204" pitchFamily="34" charset="-122"/>
                <a:cs typeface="Calibri" panose="020F0502020204030204" pitchFamily="34" charset="-120"/>
              </a:rPr>
              <a:t>📷 </a:t>
            </a:r>
            <a:r>
              <a:rPr lang="en-US" sz="900" b="1" dirty="0">
                <a:solidFill>
                  <a:srgbClr val="6062FF"/>
                </a:solidFill>
                <a:latin typeface="Calibri" panose="020F0502020204030204" pitchFamily="34" charset="0"/>
                <a:ea typeface="Calibri" panose="020F0502020204030204" pitchFamily="34" charset="-122"/>
                <a:cs typeface="Calibri" panose="020F0502020204030204" pitchFamily="34" charset="-120"/>
              </a:rPr>
              <a:t>Front Cam Gesture</a:t>
            </a:r>
            <a:endParaRPr lang="en-US" sz="700" dirty="0"/>
          </a:p>
          <a:p>
            <a:pPr marL="0" indent="0" algn="ctr">
              <a:buNone/>
            </a:pPr>
            <a:r>
              <a:rPr lang="en-US" sz="650" dirty="0">
                <a:solidFill>
                  <a:srgbClr val="444444"/>
                </a:solidFill>
                <a:latin typeface="Calibri" panose="020F0502020204030204" pitchFamily="34" charset="0"/>
                <a:ea typeface="Calibri" panose="020F0502020204030204" pitchFamily="34" charset="-122"/>
                <a:cs typeface="Calibri" panose="020F0502020204030204" pitchFamily="34" charset="-120"/>
              </a:rPr>
              <a:t>Silent SOS trigger</a:t>
            </a:r>
            <a:endParaRPr lang="en-US" sz="650" dirty="0"/>
          </a:p>
        </p:txBody>
      </p:sp>
      <p:sp>
        <p:nvSpPr>
          <p:cNvPr id="63" name="Shape 60"/>
          <p:cNvSpPr/>
          <p:nvPr/>
        </p:nvSpPr>
        <p:spPr>
          <a:xfrm>
            <a:off x="7279005" y="4326890"/>
            <a:ext cx="1627505" cy="527685"/>
          </a:xfrm>
          <a:prstGeom prst="rect">
            <a:avLst/>
          </a:prstGeom>
          <a:solidFill>
            <a:srgbClr val="F4F6FF"/>
          </a:solidFill>
          <a:ln w="15240">
            <a:solidFill>
              <a:srgbClr val="E84393"/>
            </a:solidFill>
            <a:prstDash val="solid"/>
          </a:ln>
        </p:spPr>
      </p:sp>
      <p:sp>
        <p:nvSpPr>
          <p:cNvPr id="64" name="Shape 61"/>
          <p:cNvSpPr/>
          <p:nvPr/>
        </p:nvSpPr>
        <p:spPr>
          <a:xfrm>
            <a:off x="7278624" y="4297115"/>
            <a:ext cx="1627632" cy="30000"/>
          </a:xfrm>
          <a:prstGeom prst="rect">
            <a:avLst/>
          </a:prstGeom>
          <a:solidFill>
            <a:srgbClr val="E84393"/>
          </a:solidFill>
          <a:ln w="12700">
            <a:solidFill>
              <a:srgbClr val="E84393"/>
            </a:solidFill>
            <a:prstDash val="solid"/>
          </a:ln>
        </p:spPr>
      </p:sp>
      <p:sp>
        <p:nvSpPr>
          <p:cNvPr id="65" name="Text 62"/>
          <p:cNvSpPr/>
          <p:nvPr/>
        </p:nvSpPr>
        <p:spPr>
          <a:xfrm>
            <a:off x="7296785" y="4319270"/>
            <a:ext cx="1578610" cy="415925"/>
          </a:xfrm>
          <a:prstGeom prst="rect">
            <a:avLst/>
          </a:prstGeom>
          <a:noFill/>
        </p:spPr>
        <p:txBody>
          <a:bodyPr wrap="square" lIns="0" tIns="0" rIns="0" bIns="0" rtlCol="0" anchor="ctr"/>
          <a:lstStyle/>
          <a:p>
            <a:pPr marL="0" indent="0" algn="ctr">
              <a:buNone/>
            </a:pPr>
            <a:r>
              <a:rPr lang="en-US" sz="700" b="1" dirty="0">
                <a:solidFill>
                  <a:srgbClr val="E84393"/>
                </a:solidFill>
                <a:latin typeface="Calibri" panose="020F0502020204030204" pitchFamily="34" charset="0"/>
                <a:ea typeface="Calibri" panose="020F0502020204030204" pitchFamily="34" charset="-122"/>
                <a:cs typeface="Calibri" panose="020F0502020204030204" pitchFamily="34" charset="-120"/>
              </a:rPr>
              <a:t>📸 </a:t>
            </a:r>
            <a:r>
              <a:rPr lang="en-US" sz="900" b="1" dirty="0">
                <a:solidFill>
                  <a:srgbClr val="E84393"/>
                </a:solidFill>
                <a:latin typeface="Calibri" panose="020F0502020204030204" pitchFamily="34" charset="0"/>
                <a:ea typeface="Calibri" panose="020F0502020204030204" pitchFamily="34" charset="-122"/>
                <a:cs typeface="Calibri" panose="020F0502020204030204" pitchFamily="34" charset="-120"/>
              </a:rPr>
              <a:t>Back Cam on SOS</a:t>
            </a:r>
            <a:endParaRPr lang="en-US" sz="900" dirty="0"/>
          </a:p>
          <a:p>
            <a:pPr marL="0" indent="0" algn="ctr">
              <a:buNone/>
            </a:pPr>
            <a:r>
              <a:rPr lang="en-US" sz="650" dirty="0">
                <a:solidFill>
                  <a:srgbClr val="444444"/>
                </a:solidFill>
                <a:latin typeface="Calibri" panose="020F0502020204030204" pitchFamily="34" charset="0"/>
                <a:ea typeface="Calibri" panose="020F0502020204030204" pitchFamily="34" charset="-122"/>
                <a:cs typeface="Calibri" panose="020F0502020204030204" pitchFamily="34" charset="-120"/>
              </a:rPr>
              <a:t>Auto photo evidence</a:t>
            </a:r>
            <a:endParaRPr lang="en-US" sz="650" dirty="0"/>
          </a:p>
        </p:txBody>
      </p:sp>
      <p:sp>
        <p:nvSpPr>
          <p:cNvPr id="56" name="Shape 1"/>
          <p:cNvSpPr/>
          <p:nvPr/>
        </p:nvSpPr>
        <p:spPr>
          <a:xfrm>
            <a:off x="2540" y="5159883"/>
            <a:ext cx="9144000" cy="370332"/>
          </a:xfrm>
          <a:prstGeom prst="rect">
            <a:avLst/>
          </a:prstGeom>
          <a:solidFill>
            <a:srgbClr val="FFFFFF"/>
          </a:solidFill>
          <a:ln w="12700">
            <a:solidFill>
              <a:srgbClr val="FFFFFF"/>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59436" cy="4773168"/>
          </a:xfrm>
          <a:prstGeom prst="rect">
            <a:avLst/>
          </a:prstGeom>
          <a:solidFill>
            <a:srgbClr val="6062FF"/>
          </a:solidFill>
          <a:ln w="12700">
            <a:solidFill>
              <a:srgbClr val="6062FF"/>
            </a:solidFill>
            <a:prstDash val="solid"/>
          </a:ln>
        </p:spPr>
      </p:sp>
      <p:pic>
        <p:nvPicPr>
          <p:cNvPr id="3" name="Image 0" descr="preencoded.png"/>
          <p:cNvPicPr>
            <a:picLocks noChangeAspect="1"/>
          </p:cNvPicPr>
          <p:nvPr/>
        </p:nvPicPr>
        <p:blipFill>
          <a:blip r:embed="rId3"/>
          <a:stretch>
            <a:fillRect/>
          </a:stretch>
        </p:blipFill>
        <p:spPr>
          <a:xfrm>
            <a:off x="8321040" y="45720"/>
            <a:ext cx="658368" cy="658368"/>
          </a:xfrm>
          <a:prstGeom prst="rect">
            <a:avLst/>
          </a:prstGeom>
        </p:spPr>
      </p:pic>
      <p:sp>
        <p:nvSpPr>
          <p:cNvPr id="4" name="Shape 1"/>
          <p:cNvSpPr/>
          <p:nvPr/>
        </p:nvSpPr>
        <p:spPr>
          <a:xfrm>
            <a:off x="0" y="4773168"/>
            <a:ext cx="9144000" cy="370332"/>
          </a:xfrm>
          <a:prstGeom prst="rect">
            <a:avLst/>
          </a:prstGeom>
          <a:solidFill>
            <a:srgbClr val="FFFFFF"/>
          </a:solidFill>
          <a:ln w="12700">
            <a:solidFill>
              <a:srgbClr val="FFFFFF"/>
            </a:solidFill>
            <a:prstDash val="solid"/>
          </a:ln>
        </p:spPr>
      </p:sp>
      <p:sp>
        <p:nvSpPr>
          <p:cNvPr id="5" name="Shape 2"/>
          <p:cNvSpPr/>
          <p:nvPr/>
        </p:nvSpPr>
        <p:spPr>
          <a:xfrm>
            <a:off x="0" y="4773168"/>
            <a:ext cx="59436" cy="370332"/>
          </a:xfrm>
          <a:prstGeom prst="rect">
            <a:avLst/>
          </a:prstGeom>
          <a:solidFill>
            <a:srgbClr val="0F9ED5"/>
          </a:solidFill>
          <a:ln w="12700">
            <a:solidFill>
              <a:srgbClr val="0F9ED5"/>
            </a:solidFill>
            <a:prstDash val="solid"/>
          </a:ln>
        </p:spPr>
      </p:sp>
      <p:sp>
        <p:nvSpPr>
          <p:cNvPr id="6" name="Text 3"/>
          <p:cNvSpPr/>
          <p:nvPr/>
        </p:nvSpPr>
        <p:spPr>
          <a:xfrm>
            <a:off x="109728" y="4823460"/>
            <a:ext cx="5029200" cy="146304"/>
          </a:xfrm>
          <a:prstGeom prst="rect">
            <a:avLst/>
          </a:prstGeom>
          <a:noFill/>
        </p:spPr>
        <p:txBody>
          <a:bodyPr wrap="square" lIns="0" tIns="0" rIns="0" bIns="0" rtlCol="0" anchor="ctr"/>
          <a:lstStyle/>
          <a:p>
            <a:pPr marL="0" indent="0">
              <a:buNone/>
            </a:pPr>
            <a:r>
              <a:rPr lang="en-US" sz="650" dirty="0">
                <a:solidFill>
                  <a:srgbClr val="767676"/>
                </a:solidFill>
                <a:latin typeface="Calibri" panose="020F0502020204030204" pitchFamily="34" charset="0"/>
                <a:ea typeface="Calibri" panose="020F0502020204030204" pitchFamily="34" charset="-122"/>
                <a:cs typeface="Calibri" panose="020F0502020204030204" pitchFamily="34" charset="-120"/>
              </a:rPr>
              <a:t>HackNovation 2.0  |  R&amp;D Cell, GIET University, Gunupur</a:t>
            </a:r>
            <a:endParaRPr lang="en-US" sz="650" dirty="0"/>
          </a:p>
        </p:txBody>
      </p:sp>
      <p:sp>
        <p:nvSpPr>
          <p:cNvPr id="7" name="Text 4"/>
          <p:cNvSpPr/>
          <p:nvPr/>
        </p:nvSpPr>
        <p:spPr>
          <a:xfrm>
            <a:off x="4389120" y="4823460"/>
            <a:ext cx="365760" cy="146304"/>
          </a:xfrm>
          <a:prstGeom prst="rect">
            <a:avLst/>
          </a:prstGeom>
          <a:noFill/>
        </p:spPr>
        <p:txBody>
          <a:bodyPr wrap="square" lIns="0" tIns="0" rIns="0" bIns="0" rtlCol="0" anchor="ctr"/>
          <a:lstStyle/>
          <a:p>
            <a:pPr marL="0" indent="0" algn="ctr">
              <a:buNone/>
            </a:pPr>
            <a:r>
              <a:rPr lang="en-US" sz="650" dirty="0">
                <a:solidFill>
                  <a:srgbClr val="767676"/>
                </a:solidFill>
                <a:latin typeface="Calibri" panose="020F0502020204030204" pitchFamily="34" charset="0"/>
                <a:ea typeface="Calibri" panose="020F0502020204030204" pitchFamily="34" charset="-122"/>
                <a:cs typeface="Calibri" panose="020F0502020204030204" pitchFamily="34" charset="-120"/>
              </a:rPr>
              <a:t>4</a:t>
            </a:r>
            <a:endParaRPr lang="en-US" sz="650" dirty="0"/>
          </a:p>
        </p:txBody>
      </p:sp>
      <p:sp>
        <p:nvSpPr>
          <p:cNvPr id="8" name="Text 5"/>
          <p:cNvSpPr/>
          <p:nvPr/>
        </p:nvSpPr>
        <p:spPr>
          <a:xfrm>
            <a:off x="7223760" y="4823460"/>
            <a:ext cx="1828800" cy="146304"/>
          </a:xfrm>
          <a:prstGeom prst="rect">
            <a:avLst/>
          </a:prstGeom>
          <a:noFill/>
        </p:spPr>
        <p:txBody>
          <a:bodyPr wrap="square" lIns="0" tIns="0" rIns="0" bIns="0" rtlCol="0" anchor="ctr"/>
          <a:lstStyle/>
          <a:p>
            <a:pPr marL="0" indent="0" algn="r">
              <a:buNone/>
            </a:pPr>
            <a:r>
              <a:rPr lang="en-US" sz="650" dirty="0">
                <a:solidFill>
                  <a:srgbClr val="767676"/>
                </a:solidFill>
                <a:latin typeface="Calibri" panose="020F0502020204030204" pitchFamily="34" charset="0"/>
                <a:ea typeface="Calibri" panose="020F0502020204030204" pitchFamily="34" charset="-122"/>
                <a:cs typeface="Calibri" panose="020F0502020204030204" pitchFamily="34" charset="-120"/>
              </a:rPr>
              <a:t>COD-THREE</a:t>
            </a:r>
            <a:endParaRPr lang="en-US" sz="650" dirty="0"/>
          </a:p>
        </p:txBody>
      </p:sp>
      <p:sp>
        <p:nvSpPr>
          <p:cNvPr id="9" name="Text 6"/>
          <p:cNvSpPr/>
          <p:nvPr/>
        </p:nvSpPr>
        <p:spPr>
          <a:xfrm>
            <a:off x="256032" y="219456"/>
            <a:ext cx="7863840" cy="530352"/>
          </a:xfrm>
          <a:prstGeom prst="rect">
            <a:avLst/>
          </a:prstGeom>
          <a:noFill/>
        </p:spPr>
        <p:txBody>
          <a:bodyPr wrap="square" lIns="0" tIns="0" rIns="0" bIns="0" rtlCol="0" anchor="ctr"/>
          <a:lstStyle/>
          <a:p>
            <a:pPr marL="0" indent="0">
              <a:buNone/>
            </a:pPr>
            <a:r>
              <a:rPr lang="en-US" sz="2600" b="1" dirty="0">
                <a:solidFill>
                  <a:srgbClr val="000000"/>
                </a:solidFill>
                <a:latin typeface="Calibri" panose="020F0502020204030204" pitchFamily="34" charset="0"/>
                <a:ea typeface="Calibri" panose="020F0502020204030204" pitchFamily="34" charset="-122"/>
                <a:cs typeface="Calibri" panose="020F0502020204030204" pitchFamily="34" charset="-120"/>
              </a:rPr>
              <a:t>Value Proposition</a:t>
            </a:r>
            <a:endParaRPr lang="en-US" sz="2600" dirty="0"/>
          </a:p>
        </p:txBody>
      </p:sp>
      <p:sp>
        <p:nvSpPr>
          <p:cNvPr id="10" name="Shape 7"/>
          <p:cNvSpPr/>
          <p:nvPr/>
        </p:nvSpPr>
        <p:spPr>
          <a:xfrm>
            <a:off x="256032" y="768096"/>
            <a:ext cx="777240" cy="38405"/>
          </a:xfrm>
          <a:prstGeom prst="rect">
            <a:avLst/>
          </a:prstGeom>
          <a:solidFill>
            <a:srgbClr val="0F9ED5"/>
          </a:solidFill>
          <a:ln w="12700">
            <a:solidFill>
              <a:srgbClr val="0F9ED5"/>
            </a:solidFill>
            <a:prstDash val="solid"/>
          </a:ln>
        </p:spPr>
      </p:sp>
      <p:sp>
        <p:nvSpPr>
          <p:cNvPr id="11" name="Shape 8"/>
          <p:cNvSpPr/>
          <p:nvPr/>
        </p:nvSpPr>
        <p:spPr>
          <a:xfrm>
            <a:off x="237744" y="886968"/>
            <a:ext cx="8668512" cy="475488"/>
          </a:xfrm>
          <a:prstGeom prst="rect">
            <a:avLst/>
          </a:prstGeom>
          <a:solidFill>
            <a:srgbClr val="6062FF"/>
          </a:solidFill>
          <a:ln w="12700">
            <a:solidFill>
              <a:srgbClr val="6062FF"/>
            </a:solidFill>
            <a:prstDash val="solid"/>
          </a:ln>
        </p:spPr>
      </p:sp>
      <p:sp>
        <p:nvSpPr>
          <p:cNvPr id="12" name="Text 9"/>
          <p:cNvSpPr/>
          <p:nvPr/>
        </p:nvSpPr>
        <p:spPr>
          <a:xfrm>
            <a:off x="347472" y="886968"/>
            <a:ext cx="8449056" cy="475488"/>
          </a:xfrm>
          <a:prstGeom prst="rect">
            <a:avLst/>
          </a:prstGeom>
          <a:noFill/>
        </p:spPr>
        <p:txBody>
          <a:bodyPr wrap="square" lIns="0" tIns="0" rIns="0" bIns="0" rtlCol="0" anchor="ctr"/>
          <a:lstStyle/>
          <a:p>
            <a:pPr marL="0" indent="0">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Unique Selling Point:  The ONLY free, fully offline safety app with covert SOS via volume buttons — no internet, no visible interaction needed</a:t>
            </a:r>
            <a:endParaRPr lang="en-US" sz="1000" dirty="0"/>
          </a:p>
        </p:txBody>
      </p:sp>
      <p:sp>
        <p:nvSpPr>
          <p:cNvPr id="13" name="Text 10"/>
          <p:cNvSpPr/>
          <p:nvPr/>
        </p:nvSpPr>
        <p:spPr>
          <a:xfrm>
            <a:off x="237744" y="1463040"/>
            <a:ext cx="4251960" cy="219456"/>
          </a:xfrm>
          <a:prstGeom prst="rect">
            <a:avLst/>
          </a:prstGeom>
          <a:noFill/>
        </p:spPr>
        <p:txBody>
          <a:bodyPr wrap="square" lIns="0" tIns="0" rIns="0" bIns="0" rtlCol="0" anchor="ctr"/>
          <a:lstStyle/>
          <a:p>
            <a:pPr marL="0" indent="0">
              <a:buNone/>
            </a:pPr>
            <a:r>
              <a:rPr lang="en-US" sz="1050" b="1" dirty="0">
                <a:solidFill>
                  <a:srgbClr val="000000"/>
                </a:solidFill>
                <a:latin typeface="Calibri" panose="020F0502020204030204" pitchFamily="34" charset="0"/>
                <a:ea typeface="Calibri" panose="020F0502020204030204" pitchFamily="34" charset="-122"/>
                <a:cs typeface="Calibri" panose="020F0502020204030204" pitchFamily="34" charset="-120"/>
              </a:rPr>
              <a:t>Superiority Over Existing Solutions</a:t>
            </a:r>
            <a:endParaRPr lang="en-US" sz="1050" dirty="0"/>
          </a:p>
        </p:txBody>
      </p:sp>
      <p:sp>
        <p:nvSpPr>
          <p:cNvPr id="14" name="Shape 11"/>
          <p:cNvSpPr/>
          <p:nvPr/>
        </p:nvSpPr>
        <p:spPr>
          <a:xfrm>
            <a:off x="237744" y="1709928"/>
            <a:ext cx="4251960" cy="269748"/>
          </a:xfrm>
          <a:prstGeom prst="rect">
            <a:avLst/>
          </a:prstGeom>
          <a:solidFill>
            <a:srgbClr val="F6F9FF"/>
          </a:solidFill>
          <a:ln w="5080">
            <a:solidFill>
              <a:srgbClr val="D8E0F0"/>
            </a:solidFill>
            <a:prstDash val="solid"/>
          </a:ln>
        </p:spPr>
      </p:sp>
      <p:sp>
        <p:nvSpPr>
          <p:cNvPr id="15" name="Text 12"/>
          <p:cNvSpPr/>
          <p:nvPr/>
        </p:nvSpPr>
        <p:spPr>
          <a:xfrm>
            <a:off x="329184" y="1760220"/>
            <a:ext cx="1785823" cy="173736"/>
          </a:xfrm>
          <a:prstGeom prst="rect">
            <a:avLst/>
          </a:prstGeom>
          <a:noFill/>
        </p:spPr>
        <p:txBody>
          <a:bodyPr wrap="square" lIns="0" tIns="0" rIns="0" bIns="0" rtlCol="0" anchor="ctr"/>
          <a:lstStyle/>
          <a:p>
            <a:pPr marL="0" indent="0">
              <a:buNone/>
            </a:pPr>
            <a:r>
              <a:rPr lang="en-US" sz="850" b="1" dirty="0">
                <a:solidFill>
                  <a:srgbClr val="6062FF"/>
                </a:solidFill>
                <a:latin typeface="Calibri" panose="020F0502020204030204" pitchFamily="34" charset="0"/>
                <a:ea typeface="Calibri" panose="020F0502020204030204" pitchFamily="34" charset="-122"/>
                <a:cs typeface="Calibri" panose="020F0502020204030204" pitchFamily="34" charset="-120"/>
              </a:rPr>
              <a:t>Works Fully Offline</a:t>
            </a:r>
            <a:endParaRPr lang="en-US" sz="850" dirty="0"/>
          </a:p>
        </p:txBody>
      </p:sp>
      <p:sp>
        <p:nvSpPr>
          <p:cNvPr id="16" name="Text 13"/>
          <p:cNvSpPr/>
          <p:nvPr/>
        </p:nvSpPr>
        <p:spPr>
          <a:xfrm>
            <a:off x="2151126" y="1760220"/>
            <a:ext cx="2253539" cy="173736"/>
          </a:xfrm>
          <a:prstGeom prst="rect">
            <a:avLst/>
          </a:prstGeom>
          <a:noFill/>
        </p:spPr>
        <p:txBody>
          <a:bodyPr wrap="square" lIns="0" tIns="0" rIns="0" bIns="0" rtlCol="0" anchor="ctr"/>
          <a:lstStyle/>
          <a:p>
            <a:pPr marL="0" indent="0">
              <a:buNone/>
            </a:pPr>
            <a:r>
              <a:rPr lang="en-US" sz="850" dirty="0">
                <a:solidFill>
                  <a:srgbClr val="333333"/>
                </a:solidFill>
                <a:latin typeface="Calibri" panose="020F0502020204030204" pitchFamily="34" charset="0"/>
                <a:ea typeface="Calibri" panose="020F0502020204030204" pitchFamily="34" charset="-122"/>
                <a:cs typeface="Calibri" panose="020F0502020204030204" pitchFamily="34" charset="-120"/>
              </a:rPr>
              <a:t>Zero internet dependency — works in rural areas</a:t>
            </a:r>
            <a:endParaRPr lang="en-US" sz="850" dirty="0"/>
          </a:p>
        </p:txBody>
      </p:sp>
      <p:sp>
        <p:nvSpPr>
          <p:cNvPr id="17" name="Shape 14"/>
          <p:cNvSpPr/>
          <p:nvPr/>
        </p:nvSpPr>
        <p:spPr>
          <a:xfrm>
            <a:off x="237744" y="1993392"/>
            <a:ext cx="4251960" cy="269748"/>
          </a:xfrm>
          <a:prstGeom prst="rect">
            <a:avLst/>
          </a:prstGeom>
          <a:solidFill>
            <a:srgbClr val="F8FAFF"/>
          </a:solidFill>
          <a:ln w="5080">
            <a:solidFill>
              <a:srgbClr val="D8E0F0"/>
            </a:solidFill>
            <a:prstDash val="solid"/>
          </a:ln>
        </p:spPr>
      </p:sp>
      <p:sp>
        <p:nvSpPr>
          <p:cNvPr id="18" name="Text 15"/>
          <p:cNvSpPr/>
          <p:nvPr/>
        </p:nvSpPr>
        <p:spPr>
          <a:xfrm>
            <a:off x="329184" y="2043684"/>
            <a:ext cx="1785823" cy="173736"/>
          </a:xfrm>
          <a:prstGeom prst="rect">
            <a:avLst/>
          </a:prstGeom>
          <a:noFill/>
        </p:spPr>
        <p:txBody>
          <a:bodyPr wrap="square" lIns="0" tIns="0" rIns="0" bIns="0" rtlCol="0" anchor="ctr"/>
          <a:lstStyle/>
          <a:p>
            <a:pPr marL="0" indent="0">
              <a:buNone/>
            </a:pPr>
            <a:r>
              <a:rPr lang="en-US" sz="850" b="1" dirty="0">
                <a:solidFill>
                  <a:srgbClr val="6062FF"/>
                </a:solidFill>
                <a:latin typeface="Calibri" panose="020F0502020204030204" pitchFamily="34" charset="0"/>
                <a:ea typeface="Calibri" panose="020F0502020204030204" pitchFamily="34" charset="-122"/>
                <a:cs typeface="Calibri" panose="020F0502020204030204" pitchFamily="34" charset="-120"/>
              </a:rPr>
              <a:t>Covert Activation</a:t>
            </a:r>
            <a:endParaRPr lang="en-US" sz="850" dirty="0"/>
          </a:p>
        </p:txBody>
      </p:sp>
      <p:sp>
        <p:nvSpPr>
          <p:cNvPr id="19" name="Text 16"/>
          <p:cNvSpPr/>
          <p:nvPr/>
        </p:nvSpPr>
        <p:spPr>
          <a:xfrm>
            <a:off x="2151126" y="2043684"/>
            <a:ext cx="2253539" cy="173736"/>
          </a:xfrm>
          <a:prstGeom prst="rect">
            <a:avLst/>
          </a:prstGeom>
          <a:noFill/>
        </p:spPr>
        <p:txBody>
          <a:bodyPr wrap="square" lIns="0" tIns="0" rIns="0" bIns="0" rtlCol="0" anchor="ctr"/>
          <a:lstStyle/>
          <a:p>
            <a:pPr marL="0" indent="0">
              <a:buNone/>
            </a:pPr>
            <a:r>
              <a:rPr lang="en-US" sz="850" dirty="0">
                <a:solidFill>
                  <a:srgbClr val="333333"/>
                </a:solidFill>
                <a:latin typeface="Calibri" panose="020F0502020204030204" pitchFamily="34" charset="0"/>
                <a:ea typeface="Calibri" panose="020F0502020204030204" pitchFamily="34" charset="-122"/>
                <a:cs typeface="Calibri" panose="020F0502020204030204" pitchFamily="34" charset="-120"/>
              </a:rPr>
              <a:t>Vol×4 invisible to attacker — no screen tap</a:t>
            </a:r>
            <a:endParaRPr lang="en-US" sz="850" dirty="0"/>
          </a:p>
        </p:txBody>
      </p:sp>
      <p:sp>
        <p:nvSpPr>
          <p:cNvPr id="20" name="Shape 17"/>
          <p:cNvSpPr/>
          <p:nvPr/>
        </p:nvSpPr>
        <p:spPr>
          <a:xfrm>
            <a:off x="237744" y="2276856"/>
            <a:ext cx="4251960" cy="269748"/>
          </a:xfrm>
          <a:prstGeom prst="rect">
            <a:avLst/>
          </a:prstGeom>
          <a:solidFill>
            <a:srgbClr val="F6F9FF"/>
          </a:solidFill>
          <a:ln w="5080">
            <a:solidFill>
              <a:srgbClr val="D8E0F0"/>
            </a:solidFill>
            <a:prstDash val="solid"/>
          </a:ln>
        </p:spPr>
      </p:sp>
      <p:sp>
        <p:nvSpPr>
          <p:cNvPr id="21" name="Text 18"/>
          <p:cNvSpPr/>
          <p:nvPr/>
        </p:nvSpPr>
        <p:spPr>
          <a:xfrm>
            <a:off x="329184" y="2327148"/>
            <a:ext cx="1785823" cy="173736"/>
          </a:xfrm>
          <a:prstGeom prst="rect">
            <a:avLst/>
          </a:prstGeom>
          <a:noFill/>
        </p:spPr>
        <p:txBody>
          <a:bodyPr wrap="square" lIns="0" tIns="0" rIns="0" bIns="0" rtlCol="0" anchor="ctr"/>
          <a:lstStyle/>
          <a:p>
            <a:pPr marL="0" indent="0">
              <a:buNone/>
            </a:pPr>
            <a:r>
              <a:rPr lang="en-US" sz="850" b="1" dirty="0">
                <a:solidFill>
                  <a:srgbClr val="6062FF"/>
                </a:solidFill>
                <a:latin typeface="Calibri" panose="020F0502020204030204" pitchFamily="34" charset="0"/>
                <a:ea typeface="Calibri" panose="020F0502020204030204" pitchFamily="34" charset="-122"/>
                <a:cs typeface="Calibri" panose="020F0502020204030204" pitchFamily="34" charset="-120"/>
              </a:rPr>
              <a:t>Auto Voice Evidence</a:t>
            </a:r>
            <a:endParaRPr lang="en-US" sz="850" dirty="0"/>
          </a:p>
        </p:txBody>
      </p:sp>
      <p:sp>
        <p:nvSpPr>
          <p:cNvPr id="22" name="Text 19"/>
          <p:cNvSpPr/>
          <p:nvPr/>
        </p:nvSpPr>
        <p:spPr>
          <a:xfrm>
            <a:off x="2151126" y="2327148"/>
            <a:ext cx="2253539" cy="173736"/>
          </a:xfrm>
          <a:prstGeom prst="rect">
            <a:avLst/>
          </a:prstGeom>
          <a:noFill/>
        </p:spPr>
        <p:txBody>
          <a:bodyPr wrap="square" lIns="0" tIns="0" rIns="0" bIns="0" rtlCol="0" anchor="ctr"/>
          <a:lstStyle/>
          <a:p>
            <a:pPr marL="0" indent="0">
              <a:buNone/>
            </a:pPr>
            <a:r>
              <a:rPr lang="en-US" sz="850" dirty="0">
                <a:solidFill>
                  <a:srgbClr val="333333"/>
                </a:solidFill>
                <a:latin typeface="Calibri" panose="020F0502020204030204" pitchFamily="34" charset="0"/>
                <a:ea typeface="Calibri" panose="020F0502020204030204" pitchFamily="34" charset="-122"/>
                <a:cs typeface="Calibri" panose="020F0502020204030204" pitchFamily="34" charset="-120"/>
              </a:rPr>
              <a:t>Records audio automatically at moment of trigger</a:t>
            </a:r>
            <a:endParaRPr lang="en-US" sz="850" dirty="0"/>
          </a:p>
        </p:txBody>
      </p:sp>
      <p:sp>
        <p:nvSpPr>
          <p:cNvPr id="23" name="Shape 20"/>
          <p:cNvSpPr/>
          <p:nvPr/>
        </p:nvSpPr>
        <p:spPr>
          <a:xfrm>
            <a:off x="237744" y="2560320"/>
            <a:ext cx="4251960" cy="269748"/>
          </a:xfrm>
          <a:prstGeom prst="rect">
            <a:avLst/>
          </a:prstGeom>
          <a:solidFill>
            <a:srgbClr val="F8FAFF"/>
          </a:solidFill>
          <a:ln w="5080">
            <a:solidFill>
              <a:srgbClr val="D8E0F0"/>
            </a:solidFill>
            <a:prstDash val="solid"/>
          </a:ln>
        </p:spPr>
      </p:sp>
      <p:sp>
        <p:nvSpPr>
          <p:cNvPr id="24" name="Text 21"/>
          <p:cNvSpPr/>
          <p:nvPr/>
        </p:nvSpPr>
        <p:spPr>
          <a:xfrm>
            <a:off x="329184" y="2610612"/>
            <a:ext cx="1785823" cy="173736"/>
          </a:xfrm>
          <a:prstGeom prst="rect">
            <a:avLst/>
          </a:prstGeom>
          <a:noFill/>
        </p:spPr>
        <p:txBody>
          <a:bodyPr wrap="square" lIns="0" tIns="0" rIns="0" bIns="0" rtlCol="0" anchor="ctr"/>
          <a:lstStyle/>
          <a:p>
            <a:pPr marL="0" indent="0">
              <a:buNone/>
            </a:pPr>
            <a:r>
              <a:rPr lang="en-US" sz="850" b="1" dirty="0">
                <a:solidFill>
                  <a:srgbClr val="6062FF"/>
                </a:solidFill>
                <a:latin typeface="Calibri" panose="020F0502020204030204" pitchFamily="34" charset="0"/>
                <a:ea typeface="Calibri" panose="020F0502020204030204" pitchFamily="34" charset="-122"/>
                <a:cs typeface="Calibri" panose="020F0502020204030204" pitchFamily="34" charset="-120"/>
              </a:rPr>
              <a:t>Always-On Service</a:t>
            </a:r>
            <a:endParaRPr lang="en-US" sz="850" dirty="0"/>
          </a:p>
        </p:txBody>
      </p:sp>
      <p:sp>
        <p:nvSpPr>
          <p:cNvPr id="25" name="Text 22"/>
          <p:cNvSpPr/>
          <p:nvPr/>
        </p:nvSpPr>
        <p:spPr>
          <a:xfrm>
            <a:off x="2151126" y="2610612"/>
            <a:ext cx="2253539" cy="173736"/>
          </a:xfrm>
          <a:prstGeom prst="rect">
            <a:avLst/>
          </a:prstGeom>
          <a:noFill/>
        </p:spPr>
        <p:txBody>
          <a:bodyPr wrap="square" lIns="0" tIns="0" rIns="0" bIns="0" rtlCol="0" anchor="ctr"/>
          <a:lstStyle/>
          <a:p>
            <a:pPr marL="0" indent="0">
              <a:buNone/>
            </a:pPr>
            <a:r>
              <a:rPr lang="en-US" sz="850" dirty="0">
                <a:solidFill>
                  <a:srgbClr val="333333"/>
                </a:solidFill>
                <a:latin typeface="Calibri" panose="020F0502020204030204" pitchFamily="34" charset="0"/>
                <a:ea typeface="Calibri" panose="020F0502020204030204" pitchFamily="34" charset="-122"/>
                <a:cs typeface="Calibri" panose="020F0502020204030204" pitchFamily="34" charset="-120"/>
              </a:rPr>
              <a:t>Restarts after every reboot — never off-guard</a:t>
            </a:r>
            <a:endParaRPr lang="en-US" sz="850" dirty="0"/>
          </a:p>
        </p:txBody>
      </p:sp>
      <p:sp>
        <p:nvSpPr>
          <p:cNvPr id="26" name="Shape 23"/>
          <p:cNvSpPr/>
          <p:nvPr/>
        </p:nvSpPr>
        <p:spPr>
          <a:xfrm>
            <a:off x="237744" y="2843784"/>
            <a:ext cx="4251960" cy="269748"/>
          </a:xfrm>
          <a:prstGeom prst="rect">
            <a:avLst/>
          </a:prstGeom>
          <a:solidFill>
            <a:srgbClr val="F6F9FF"/>
          </a:solidFill>
          <a:ln w="5080">
            <a:solidFill>
              <a:srgbClr val="D8E0F0"/>
            </a:solidFill>
            <a:prstDash val="solid"/>
          </a:ln>
        </p:spPr>
      </p:sp>
      <p:sp>
        <p:nvSpPr>
          <p:cNvPr id="27" name="Text 24"/>
          <p:cNvSpPr/>
          <p:nvPr/>
        </p:nvSpPr>
        <p:spPr>
          <a:xfrm>
            <a:off x="329184" y="2894076"/>
            <a:ext cx="1785823" cy="173736"/>
          </a:xfrm>
          <a:prstGeom prst="rect">
            <a:avLst/>
          </a:prstGeom>
          <a:noFill/>
        </p:spPr>
        <p:txBody>
          <a:bodyPr wrap="square" lIns="0" tIns="0" rIns="0" bIns="0" rtlCol="0" anchor="ctr"/>
          <a:lstStyle/>
          <a:p>
            <a:pPr marL="0" indent="0">
              <a:buNone/>
            </a:pPr>
            <a:r>
              <a:rPr lang="en-US" sz="850" b="1" dirty="0">
                <a:solidFill>
                  <a:srgbClr val="6062FF"/>
                </a:solidFill>
                <a:latin typeface="Calibri" panose="020F0502020204030204" pitchFamily="34" charset="0"/>
                <a:ea typeface="Calibri" panose="020F0502020204030204" pitchFamily="34" charset="-122"/>
                <a:cs typeface="Calibri" panose="020F0502020204030204" pitchFamily="34" charset="-120"/>
              </a:rPr>
              <a:t>Completely Free</a:t>
            </a:r>
            <a:endParaRPr lang="en-US" sz="850" dirty="0"/>
          </a:p>
        </p:txBody>
      </p:sp>
      <p:sp>
        <p:nvSpPr>
          <p:cNvPr id="28" name="Text 25"/>
          <p:cNvSpPr/>
          <p:nvPr/>
        </p:nvSpPr>
        <p:spPr>
          <a:xfrm>
            <a:off x="2151126" y="2894076"/>
            <a:ext cx="2253539" cy="173736"/>
          </a:xfrm>
          <a:prstGeom prst="rect">
            <a:avLst/>
          </a:prstGeom>
          <a:noFill/>
        </p:spPr>
        <p:txBody>
          <a:bodyPr wrap="square" lIns="0" tIns="0" rIns="0" bIns="0" rtlCol="0" anchor="ctr"/>
          <a:lstStyle/>
          <a:p>
            <a:pPr marL="0" indent="0">
              <a:buNone/>
            </a:pPr>
            <a:r>
              <a:rPr lang="en-US" sz="850" dirty="0">
                <a:solidFill>
                  <a:srgbClr val="333333"/>
                </a:solidFill>
                <a:latin typeface="Calibri" panose="020F0502020204030204" pitchFamily="34" charset="0"/>
                <a:ea typeface="Calibri" panose="020F0502020204030204" pitchFamily="34" charset="-122"/>
                <a:cs typeface="Calibri" panose="020F0502020204030204" pitchFamily="34" charset="-120"/>
              </a:rPr>
              <a:t>No subscription, no paywall, APK downloadable</a:t>
            </a:r>
            <a:endParaRPr lang="en-US" sz="850" dirty="0"/>
          </a:p>
        </p:txBody>
      </p:sp>
      <p:sp>
        <p:nvSpPr>
          <p:cNvPr id="29" name="Text 26"/>
          <p:cNvSpPr/>
          <p:nvPr/>
        </p:nvSpPr>
        <p:spPr>
          <a:xfrm>
            <a:off x="4663440" y="1463040"/>
            <a:ext cx="4242816" cy="219456"/>
          </a:xfrm>
          <a:prstGeom prst="rect">
            <a:avLst/>
          </a:prstGeom>
          <a:noFill/>
        </p:spPr>
        <p:txBody>
          <a:bodyPr wrap="square" lIns="0" tIns="0" rIns="0" bIns="0" rtlCol="0" anchor="ctr"/>
          <a:lstStyle/>
          <a:p>
            <a:pPr marL="0" indent="0">
              <a:buNone/>
            </a:pPr>
            <a:r>
              <a:rPr lang="en-US" sz="1050" b="1" dirty="0">
                <a:solidFill>
                  <a:srgbClr val="000000"/>
                </a:solidFill>
                <a:latin typeface="Calibri" panose="020F0502020204030204" pitchFamily="34" charset="0"/>
                <a:ea typeface="Calibri" panose="020F0502020204030204" pitchFamily="34" charset="-122"/>
                <a:cs typeface="Calibri" panose="020F0502020204030204" pitchFamily="34" charset="-120"/>
              </a:rPr>
              <a:t>Economic, Social &amp; Environmental Benefits</a:t>
            </a:r>
            <a:endParaRPr lang="en-US" sz="1050" dirty="0"/>
          </a:p>
        </p:txBody>
      </p:sp>
      <p:sp>
        <p:nvSpPr>
          <p:cNvPr id="30" name="Shape 27"/>
          <p:cNvSpPr/>
          <p:nvPr/>
        </p:nvSpPr>
        <p:spPr>
          <a:xfrm>
            <a:off x="4663440" y="1709928"/>
            <a:ext cx="4242816" cy="269748"/>
          </a:xfrm>
          <a:prstGeom prst="rect">
            <a:avLst/>
          </a:prstGeom>
          <a:solidFill>
            <a:srgbClr val="F6F9FF"/>
          </a:solidFill>
          <a:ln w="5080">
            <a:solidFill>
              <a:srgbClr val="D8E0F0"/>
            </a:solidFill>
            <a:prstDash val="solid"/>
          </a:ln>
        </p:spPr>
      </p:sp>
      <p:sp>
        <p:nvSpPr>
          <p:cNvPr id="31" name="Text 28"/>
          <p:cNvSpPr/>
          <p:nvPr/>
        </p:nvSpPr>
        <p:spPr>
          <a:xfrm>
            <a:off x="4754880" y="1760220"/>
            <a:ext cx="1781983" cy="173736"/>
          </a:xfrm>
          <a:prstGeom prst="rect">
            <a:avLst/>
          </a:prstGeom>
          <a:noFill/>
        </p:spPr>
        <p:txBody>
          <a:bodyPr wrap="square" lIns="0" tIns="0" rIns="0" bIns="0" rtlCol="0" anchor="ctr"/>
          <a:lstStyle/>
          <a:p>
            <a:pPr marL="0" indent="0">
              <a:buNone/>
            </a:pPr>
            <a:r>
              <a:rPr lang="en-US" sz="850" b="1" dirty="0">
                <a:solidFill>
                  <a:srgbClr val="27AE60"/>
                </a:solidFill>
                <a:latin typeface="Calibri" panose="020F0502020204030204" pitchFamily="34" charset="0"/>
                <a:ea typeface="Calibri" panose="020F0502020204030204" pitchFamily="34" charset="-122"/>
                <a:cs typeface="Calibri" panose="020F0502020204030204" pitchFamily="34" charset="-120"/>
              </a:rPr>
              <a:t>Social Impact</a:t>
            </a:r>
            <a:endParaRPr lang="en-US" sz="850" dirty="0"/>
          </a:p>
        </p:txBody>
      </p:sp>
      <p:sp>
        <p:nvSpPr>
          <p:cNvPr id="32" name="Text 29"/>
          <p:cNvSpPr/>
          <p:nvPr/>
        </p:nvSpPr>
        <p:spPr>
          <a:xfrm>
            <a:off x="6572707" y="1760220"/>
            <a:ext cx="2248692" cy="173736"/>
          </a:xfrm>
          <a:prstGeom prst="rect">
            <a:avLst/>
          </a:prstGeom>
          <a:noFill/>
        </p:spPr>
        <p:txBody>
          <a:bodyPr wrap="square" lIns="0" tIns="0" rIns="0" bIns="0" rtlCol="0" anchor="ctr"/>
          <a:lstStyle/>
          <a:p>
            <a:pPr marL="0" indent="0">
              <a:buNone/>
            </a:pPr>
            <a:r>
              <a:rPr lang="en-US" sz="850" dirty="0">
                <a:solidFill>
                  <a:srgbClr val="333333"/>
                </a:solidFill>
                <a:latin typeface="Calibri" panose="020F0502020204030204" pitchFamily="34" charset="0"/>
                <a:ea typeface="Calibri" panose="020F0502020204030204" pitchFamily="34" charset="-122"/>
                <a:cs typeface="Calibri" panose="020F0502020204030204" pitchFamily="34" charset="-120"/>
              </a:rPr>
              <a:t>Empowers millions of women with accessible safety tech</a:t>
            </a:r>
            <a:endParaRPr lang="en-US" sz="850" dirty="0"/>
          </a:p>
        </p:txBody>
      </p:sp>
      <p:sp>
        <p:nvSpPr>
          <p:cNvPr id="33" name="Shape 30"/>
          <p:cNvSpPr/>
          <p:nvPr/>
        </p:nvSpPr>
        <p:spPr>
          <a:xfrm>
            <a:off x="4663440" y="1993392"/>
            <a:ext cx="4242816" cy="269748"/>
          </a:xfrm>
          <a:prstGeom prst="rect">
            <a:avLst/>
          </a:prstGeom>
          <a:solidFill>
            <a:srgbClr val="F8FAFF"/>
          </a:solidFill>
          <a:ln w="5080">
            <a:solidFill>
              <a:srgbClr val="D8E0F0"/>
            </a:solidFill>
            <a:prstDash val="solid"/>
          </a:ln>
        </p:spPr>
      </p:sp>
      <p:sp>
        <p:nvSpPr>
          <p:cNvPr id="34" name="Text 31"/>
          <p:cNvSpPr/>
          <p:nvPr/>
        </p:nvSpPr>
        <p:spPr>
          <a:xfrm>
            <a:off x="4754880" y="2043684"/>
            <a:ext cx="1781983" cy="173736"/>
          </a:xfrm>
          <a:prstGeom prst="rect">
            <a:avLst/>
          </a:prstGeom>
          <a:noFill/>
        </p:spPr>
        <p:txBody>
          <a:bodyPr wrap="square" lIns="0" tIns="0" rIns="0" bIns="0" rtlCol="0" anchor="ctr"/>
          <a:lstStyle/>
          <a:p>
            <a:pPr marL="0" indent="0">
              <a:buNone/>
            </a:pPr>
            <a:r>
              <a:rPr lang="en-US" sz="850" b="1" dirty="0">
                <a:solidFill>
                  <a:srgbClr val="0F9ED5"/>
                </a:solidFill>
                <a:latin typeface="Calibri" panose="020F0502020204030204" pitchFamily="34" charset="0"/>
                <a:ea typeface="Calibri" panose="020F0502020204030204" pitchFamily="34" charset="-122"/>
                <a:cs typeface="Calibri" panose="020F0502020204030204" pitchFamily="34" charset="-120"/>
              </a:rPr>
              <a:t>Zero Hardware Cost</a:t>
            </a:r>
            <a:endParaRPr lang="en-US" sz="850" dirty="0"/>
          </a:p>
        </p:txBody>
      </p:sp>
      <p:sp>
        <p:nvSpPr>
          <p:cNvPr id="35" name="Text 32"/>
          <p:cNvSpPr/>
          <p:nvPr/>
        </p:nvSpPr>
        <p:spPr>
          <a:xfrm>
            <a:off x="6572707" y="2043684"/>
            <a:ext cx="2248692" cy="173736"/>
          </a:xfrm>
          <a:prstGeom prst="rect">
            <a:avLst/>
          </a:prstGeom>
          <a:noFill/>
        </p:spPr>
        <p:txBody>
          <a:bodyPr wrap="square" lIns="0" tIns="0" rIns="0" bIns="0" rtlCol="0" anchor="ctr"/>
          <a:lstStyle/>
          <a:p>
            <a:pPr marL="0" indent="0">
              <a:buNone/>
            </a:pPr>
            <a:r>
              <a:rPr lang="en-US" sz="850" dirty="0">
                <a:solidFill>
                  <a:srgbClr val="333333"/>
                </a:solidFill>
                <a:latin typeface="Calibri" panose="020F0502020204030204" pitchFamily="34" charset="0"/>
                <a:ea typeface="Calibri" panose="020F0502020204030204" pitchFamily="34" charset="-122"/>
                <a:cs typeface="Calibri" panose="020F0502020204030204" pitchFamily="34" charset="-120"/>
              </a:rPr>
              <a:t>Runs on existing Android phones — no extra device</a:t>
            </a:r>
            <a:endParaRPr lang="en-US" sz="850" dirty="0"/>
          </a:p>
        </p:txBody>
      </p:sp>
      <p:sp>
        <p:nvSpPr>
          <p:cNvPr id="36" name="Shape 33"/>
          <p:cNvSpPr/>
          <p:nvPr/>
        </p:nvSpPr>
        <p:spPr>
          <a:xfrm>
            <a:off x="4663440" y="2276856"/>
            <a:ext cx="4242816" cy="269748"/>
          </a:xfrm>
          <a:prstGeom prst="rect">
            <a:avLst/>
          </a:prstGeom>
          <a:solidFill>
            <a:srgbClr val="F6F9FF"/>
          </a:solidFill>
          <a:ln w="5080">
            <a:solidFill>
              <a:srgbClr val="D8E0F0"/>
            </a:solidFill>
            <a:prstDash val="solid"/>
          </a:ln>
        </p:spPr>
      </p:sp>
      <p:sp>
        <p:nvSpPr>
          <p:cNvPr id="37" name="Text 34"/>
          <p:cNvSpPr/>
          <p:nvPr/>
        </p:nvSpPr>
        <p:spPr>
          <a:xfrm>
            <a:off x="4754880" y="2327148"/>
            <a:ext cx="1781983" cy="173736"/>
          </a:xfrm>
          <a:prstGeom prst="rect">
            <a:avLst/>
          </a:prstGeom>
          <a:noFill/>
        </p:spPr>
        <p:txBody>
          <a:bodyPr wrap="square" lIns="0" tIns="0" rIns="0" bIns="0" rtlCol="0" anchor="ctr"/>
          <a:lstStyle/>
          <a:p>
            <a:pPr marL="0" indent="0">
              <a:buNone/>
            </a:pPr>
            <a:r>
              <a:rPr lang="en-US" sz="850" b="1" dirty="0">
                <a:solidFill>
                  <a:srgbClr val="8E44AD"/>
                </a:solidFill>
                <a:latin typeface="Calibri" panose="020F0502020204030204" pitchFamily="34" charset="0"/>
                <a:ea typeface="Calibri" panose="020F0502020204030204" pitchFamily="34" charset="-122"/>
                <a:cs typeface="Calibri" panose="020F0502020204030204" pitchFamily="34" charset="-120"/>
              </a:rPr>
              <a:t>Legal Evidence</a:t>
            </a:r>
            <a:endParaRPr lang="en-US" sz="850" dirty="0"/>
          </a:p>
        </p:txBody>
      </p:sp>
      <p:sp>
        <p:nvSpPr>
          <p:cNvPr id="38" name="Text 35"/>
          <p:cNvSpPr/>
          <p:nvPr/>
        </p:nvSpPr>
        <p:spPr>
          <a:xfrm>
            <a:off x="6572707" y="2327148"/>
            <a:ext cx="2248692" cy="173736"/>
          </a:xfrm>
          <a:prstGeom prst="rect">
            <a:avLst/>
          </a:prstGeom>
          <a:noFill/>
        </p:spPr>
        <p:txBody>
          <a:bodyPr wrap="square" lIns="0" tIns="0" rIns="0" bIns="0" rtlCol="0" anchor="ctr"/>
          <a:lstStyle/>
          <a:p>
            <a:pPr marL="0" indent="0">
              <a:buNone/>
            </a:pPr>
            <a:r>
              <a:rPr lang="en-US" sz="850" dirty="0">
                <a:solidFill>
                  <a:srgbClr val="333333"/>
                </a:solidFill>
                <a:latin typeface="Calibri" panose="020F0502020204030204" pitchFamily="34" charset="0"/>
                <a:ea typeface="Calibri" panose="020F0502020204030204" pitchFamily="34" charset="-122"/>
                <a:cs typeface="Calibri" panose="020F0502020204030204" pitchFamily="34" charset="-120"/>
              </a:rPr>
              <a:t>Audio recordings support FIRs and court proceedings</a:t>
            </a:r>
            <a:endParaRPr lang="en-US" sz="850" dirty="0"/>
          </a:p>
        </p:txBody>
      </p:sp>
      <p:sp>
        <p:nvSpPr>
          <p:cNvPr id="39" name="Shape 36"/>
          <p:cNvSpPr/>
          <p:nvPr/>
        </p:nvSpPr>
        <p:spPr>
          <a:xfrm>
            <a:off x="4663440" y="2560320"/>
            <a:ext cx="4242816" cy="269748"/>
          </a:xfrm>
          <a:prstGeom prst="rect">
            <a:avLst/>
          </a:prstGeom>
          <a:solidFill>
            <a:srgbClr val="F8FAFF"/>
          </a:solidFill>
          <a:ln w="5080">
            <a:solidFill>
              <a:srgbClr val="D8E0F0"/>
            </a:solidFill>
            <a:prstDash val="solid"/>
          </a:ln>
        </p:spPr>
      </p:sp>
      <p:sp>
        <p:nvSpPr>
          <p:cNvPr id="40" name="Text 37"/>
          <p:cNvSpPr/>
          <p:nvPr/>
        </p:nvSpPr>
        <p:spPr>
          <a:xfrm>
            <a:off x="4754880" y="2610612"/>
            <a:ext cx="1781983" cy="173736"/>
          </a:xfrm>
          <a:prstGeom prst="rect">
            <a:avLst/>
          </a:prstGeom>
          <a:noFill/>
        </p:spPr>
        <p:txBody>
          <a:bodyPr wrap="square" lIns="0" tIns="0" rIns="0" bIns="0" rtlCol="0" anchor="ctr"/>
          <a:lstStyle/>
          <a:p>
            <a:pPr marL="0" indent="0">
              <a:buNone/>
            </a:pPr>
            <a:r>
              <a:rPr lang="en-US" sz="850" b="1" dirty="0">
                <a:solidFill>
                  <a:srgbClr val="D68910"/>
                </a:solidFill>
                <a:latin typeface="Calibri" panose="020F0502020204030204" pitchFamily="34" charset="0"/>
                <a:ea typeface="Calibri" panose="020F0502020204030204" pitchFamily="34" charset="-122"/>
                <a:cs typeface="Calibri" panose="020F0502020204030204" pitchFamily="34" charset="-120"/>
              </a:rPr>
              <a:t>Safety Awareness</a:t>
            </a:r>
            <a:endParaRPr lang="en-US" sz="850" dirty="0"/>
          </a:p>
        </p:txBody>
      </p:sp>
      <p:sp>
        <p:nvSpPr>
          <p:cNvPr id="41" name="Text 38"/>
          <p:cNvSpPr/>
          <p:nvPr/>
        </p:nvSpPr>
        <p:spPr>
          <a:xfrm>
            <a:off x="6572707" y="2610612"/>
            <a:ext cx="2248692" cy="173736"/>
          </a:xfrm>
          <a:prstGeom prst="rect">
            <a:avLst/>
          </a:prstGeom>
          <a:noFill/>
        </p:spPr>
        <p:txBody>
          <a:bodyPr wrap="square" lIns="0" tIns="0" rIns="0" bIns="0" rtlCol="0" anchor="ctr"/>
          <a:lstStyle/>
          <a:p>
            <a:pPr marL="0" indent="0">
              <a:buNone/>
            </a:pPr>
            <a:r>
              <a:rPr lang="en-US" sz="850" dirty="0">
                <a:solidFill>
                  <a:srgbClr val="333333"/>
                </a:solidFill>
                <a:latin typeface="Calibri" panose="020F0502020204030204" pitchFamily="34" charset="0"/>
                <a:ea typeface="Calibri" panose="020F0502020204030204" pitchFamily="34" charset="-122"/>
                <a:cs typeface="Calibri" panose="020F0502020204030204" pitchFamily="34" charset="-120"/>
              </a:rPr>
              <a:t>Offline AI guides on rights, reporting, self-defence</a:t>
            </a:r>
            <a:endParaRPr lang="en-US" sz="850" dirty="0"/>
          </a:p>
        </p:txBody>
      </p:sp>
      <p:sp>
        <p:nvSpPr>
          <p:cNvPr id="42" name="Shape 39"/>
          <p:cNvSpPr/>
          <p:nvPr/>
        </p:nvSpPr>
        <p:spPr>
          <a:xfrm>
            <a:off x="4663440" y="2843784"/>
            <a:ext cx="4242816" cy="269748"/>
          </a:xfrm>
          <a:prstGeom prst="rect">
            <a:avLst/>
          </a:prstGeom>
          <a:solidFill>
            <a:srgbClr val="F6F9FF"/>
          </a:solidFill>
          <a:ln w="5080">
            <a:solidFill>
              <a:srgbClr val="D8E0F0"/>
            </a:solidFill>
            <a:prstDash val="solid"/>
          </a:ln>
        </p:spPr>
      </p:sp>
      <p:sp>
        <p:nvSpPr>
          <p:cNvPr id="43" name="Text 40"/>
          <p:cNvSpPr/>
          <p:nvPr/>
        </p:nvSpPr>
        <p:spPr>
          <a:xfrm>
            <a:off x="4754880" y="2894076"/>
            <a:ext cx="1781983" cy="173736"/>
          </a:xfrm>
          <a:prstGeom prst="rect">
            <a:avLst/>
          </a:prstGeom>
          <a:noFill/>
        </p:spPr>
        <p:txBody>
          <a:bodyPr wrap="square" lIns="0" tIns="0" rIns="0" bIns="0" rtlCol="0" anchor="ctr"/>
          <a:lstStyle/>
          <a:p>
            <a:pPr marL="0" indent="0">
              <a:buNone/>
            </a:pPr>
            <a:r>
              <a:rPr lang="en-US" sz="850" b="1" dirty="0">
                <a:solidFill>
                  <a:srgbClr val="E74C3C"/>
                </a:solidFill>
                <a:latin typeface="Calibri" panose="020F0502020204030204" pitchFamily="34" charset="0"/>
                <a:ea typeface="Calibri" panose="020F0502020204030204" pitchFamily="34" charset="-122"/>
                <a:cs typeface="Calibri" panose="020F0502020204030204" pitchFamily="34" charset="-120"/>
              </a:rPr>
              <a:t>Global Scalability</a:t>
            </a:r>
            <a:endParaRPr lang="en-US" sz="850" dirty="0"/>
          </a:p>
        </p:txBody>
      </p:sp>
      <p:sp>
        <p:nvSpPr>
          <p:cNvPr id="44" name="Text 41"/>
          <p:cNvSpPr/>
          <p:nvPr/>
        </p:nvSpPr>
        <p:spPr>
          <a:xfrm>
            <a:off x="6572707" y="2894076"/>
            <a:ext cx="2248692" cy="173736"/>
          </a:xfrm>
          <a:prstGeom prst="rect">
            <a:avLst/>
          </a:prstGeom>
          <a:noFill/>
        </p:spPr>
        <p:txBody>
          <a:bodyPr wrap="square" lIns="0" tIns="0" rIns="0" bIns="0" rtlCol="0" anchor="ctr"/>
          <a:lstStyle/>
          <a:p>
            <a:pPr marL="0" indent="0">
              <a:buNone/>
            </a:pPr>
            <a:r>
              <a:rPr lang="en-US" sz="850" dirty="0">
                <a:solidFill>
                  <a:srgbClr val="333333"/>
                </a:solidFill>
                <a:latin typeface="Calibri" panose="020F0502020204030204" pitchFamily="34" charset="0"/>
                <a:ea typeface="Calibri" panose="020F0502020204030204" pitchFamily="34" charset="-122"/>
                <a:cs typeface="Calibri" panose="020F0502020204030204" pitchFamily="34" charset="-120"/>
              </a:rPr>
              <a:t>Works on Android 8.0+; APK deployable worldwide</a:t>
            </a:r>
            <a:endParaRPr lang="en-US" sz="850" dirty="0"/>
          </a:p>
        </p:txBody>
      </p:sp>
      <p:sp>
        <p:nvSpPr>
          <p:cNvPr id="45" name="Shape 42"/>
          <p:cNvSpPr/>
          <p:nvPr/>
        </p:nvSpPr>
        <p:spPr>
          <a:xfrm>
            <a:off x="237744" y="3657600"/>
            <a:ext cx="8668512" cy="246888"/>
          </a:xfrm>
          <a:prstGeom prst="rect">
            <a:avLst/>
          </a:prstGeom>
          <a:solidFill>
            <a:srgbClr val="0F9ED5"/>
          </a:solidFill>
          <a:ln w="12700">
            <a:solidFill>
              <a:srgbClr val="0F9ED5"/>
            </a:solidFill>
            <a:prstDash val="solid"/>
          </a:ln>
        </p:spPr>
      </p:sp>
      <p:sp>
        <p:nvSpPr>
          <p:cNvPr id="46" name="Text 43"/>
          <p:cNvSpPr/>
          <p:nvPr/>
        </p:nvSpPr>
        <p:spPr>
          <a:xfrm>
            <a:off x="237744" y="3657600"/>
            <a:ext cx="1733702" cy="246888"/>
          </a:xfrm>
          <a:prstGeom prst="rect">
            <a:avLst/>
          </a:prstGeom>
          <a:noFill/>
        </p:spPr>
        <p:txBody>
          <a:bodyPr wrap="square" lIns="0" tIns="0" rIns="0" bIns="0" rtlCol="0" anchor="ctr"/>
          <a:lstStyle/>
          <a:p>
            <a:pPr marL="0" indent="0" algn="ctr">
              <a:buNone/>
            </a:pPr>
            <a:r>
              <a:rPr lang="en-US" sz="850" b="1" dirty="0">
                <a:solidFill>
                  <a:srgbClr val="FFFFFF"/>
                </a:solidFill>
                <a:latin typeface="Calibri" panose="020F0502020204030204" pitchFamily="34" charset="0"/>
                <a:ea typeface="Calibri" panose="020F0502020204030204" pitchFamily="34" charset="-122"/>
                <a:cs typeface="Calibri" panose="020F0502020204030204" pitchFamily="34" charset="-120"/>
              </a:rPr>
              <a:t>Feature</a:t>
            </a:r>
            <a:endParaRPr lang="en-US" sz="850" dirty="0"/>
          </a:p>
        </p:txBody>
      </p:sp>
      <p:sp>
        <p:nvSpPr>
          <p:cNvPr id="47" name="Text 44"/>
          <p:cNvSpPr/>
          <p:nvPr/>
        </p:nvSpPr>
        <p:spPr>
          <a:xfrm>
            <a:off x="1971446" y="3657600"/>
            <a:ext cx="1733702" cy="246888"/>
          </a:xfrm>
          <a:prstGeom prst="rect">
            <a:avLst/>
          </a:prstGeom>
          <a:noFill/>
        </p:spPr>
        <p:txBody>
          <a:bodyPr wrap="square" lIns="0" tIns="0" rIns="0" bIns="0" rtlCol="0" anchor="ctr"/>
          <a:lstStyle/>
          <a:p>
            <a:pPr marL="0" indent="0" algn="ctr">
              <a:buNone/>
            </a:pPr>
            <a:r>
              <a:rPr lang="en-US" sz="850" b="1" dirty="0">
                <a:solidFill>
                  <a:srgbClr val="FFFFFF"/>
                </a:solidFill>
                <a:latin typeface="Calibri" panose="020F0502020204030204" pitchFamily="34" charset="0"/>
                <a:ea typeface="Calibri" panose="020F0502020204030204" pitchFamily="34" charset="-122"/>
                <a:cs typeface="Calibri" panose="020F0502020204030204" pitchFamily="34" charset="-120"/>
              </a:rPr>
              <a:t>SafeHer ✓</a:t>
            </a:r>
            <a:endParaRPr lang="en-US" sz="850" dirty="0"/>
          </a:p>
        </p:txBody>
      </p:sp>
      <p:sp>
        <p:nvSpPr>
          <p:cNvPr id="48" name="Text 45"/>
          <p:cNvSpPr/>
          <p:nvPr/>
        </p:nvSpPr>
        <p:spPr>
          <a:xfrm>
            <a:off x="3705149" y="3657600"/>
            <a:ext cx="1733702" cy="246888"/>
          </a:xfrm>
          <a:prstGeom prst="rect">
            <a:avLst/>
          </a:prstGeom>
          <a:noFill/>
        </p:spPr>
        <p:txBody>
          <a:bodyPr wrap="square" lIns="0" tIns="0" rIns="0" bIns="0" rtlCol="0" anchor="ctr"/>
          <a:lstStyle/>
          <a:p>
            <a:pPr marL="0" indent="0" algn="ctr">
              <a:buNone/>
            </a:pPr>
            <a:r>
              <a:rPr lang="en-US" sz="850" b="1" dirty="0">
                <a:solidFill>
                  <a:srgbClr val="FFFFFF"/>
                </a:solidFill>
                <a:latin typeface="Calibri" panose="020F0502020204030204" pitchFamily="34" charset="0"/>
                <a:ea typeface="Calibri" panose="020F0502020204030204" pitchFamily="34" charset="-122"/>
                <a:cs typeface="Calibri" panose="020F0502020204030204" pitchFamily="34" charset="-120"/>
              </a:rPr>
              <a:t>bSafe</a:t>
            </a:r>
            <a:endParaRPr lang="en-US" sz="850" dirty="0"/>
          </a:p>
        </p:txBody>
      </p:sp>
      <p:sp>
        <p:nvSpPr>
          <p:cNvPr id="49" name="Text 46"/>
          <p:cNvSpPr/>
          <p:nvPr/>
        </p:nvSpPr>
        <p:spPr>
          <a:xfrm>
            <a:off x="5438851" y="3657600"/>
            <a:ext cx="1733702" cy="246888"/>
          </a:xfrm>
          <a:prstGeom prst="rect">
            <a:avLst/>
          </a:prstGeom>
          <a:noFill/>
        </p:spPr>
        <p:txBody>
          <a:bodyPr wrap="square" lIns="0" tIns="0" rIns="0" bIns="0" rtlCol="0" anchor="ctr"/>
          <a:lstStyle/>
          <a:p>
            <a:pPr marL="0" indent="0" algn="ctr">
              <a:buNone/>
            </a:pPr>
            <a:r>
              <a:rPr lang="en-US" sz="850" b="1" dirty="0">
                <a:solidFill>
                  <a:srgbClr val="FFFFFF"/>
                </a:solidFill>
                <a:latin typeface="Calibri" panose="020F0502020204030204" pitchFamily="34" charset="0"/>
                <a:ea typeface="Calibri" panose="020F0502020204030204" pitchFamily="34" charset="-122"/>
                <a:cs typeface="Calibri" panose="020F0502020204030204" pitchFamily="34" charset="-120"/>
              </a:rPr>
              <a:t>Guardly</a:t>
            </a:r>
            <a:endParaRPr lang="en-US" sz="850" dirty="0"/>
          </a:p>
        </p:txBody>
      </p:sp>
      <p:sp>
        <p:nvSpPr>
          <p:cNvPr id="50" name="Text 47"/>
          <p:cNvSpPr/>
          <p:nvPr/>
        </p:nvSpPr>
        <p:spPr>
          <a:xfrm>
            <a:off x="7172554" y="3657600"/>
            <a:ext cx="1733702" cy="246888"/>
          </a:xfrm>
          <a:prstGeom prst="rect">
            <a:avLst/>
          </a:prstGeom>
          <a:noFill/>
        </p:spPr>
        <p:txBody>
          <a:bodyPr wrap="square" lIns="0" tIns="0" rIns="0" bIns="0" rtlCol="0" anchor="ctr"/>
          <a:lstStyle/>
          <a:p>
            <a:pPr marL="0" indent="0" algn="ctr">
              <a:buNone/>
            </a:pPr>
            <a:r>
              <a:rPr lang="en-US" sz="850" b="1" dirty="0">
                <a:solidFill>
                  <a:srgbClr val="FFFFFF"/>
                </a:solidFill>
                <a:latin typeface="Calibri" panose="020F0502020204030204" pitchFamily="34" charset="0"/>
                <a:ea typeface="Calibri" panose="020F0502020204030204" pitchFamily="34" charset="-122"/>
                <a:cs typeface="Calibri" panose="020F0502020204030204" pitchFamily="34" charset="-120"/>
              </a:rPr>
              <a:t>Shake2Safety</a:t>
            </a:r>
            <a:endParaRPr lang="en-US" sz="850" dirty="0"/>
          </a:p>
        </p:txBody>
      </p:sp>
      <p:sp>
        <p:nvSpPr>
          <p:cNvPr id="51" name="Shape 48"/>
          <p:cNvSpPr/>
          <p:nvPr/>
        </p:nvSpPr>
        <p:spPr>
          <a:xfrm>
            <a:off x="237744" y="3904488"/>
            <a:ext cx="1733702" cy="201168"/>
          </a:xfrm>
          <a:prstGeom prst="rect">
            <a:avLst/>
          </a:prstGeom>
          <a:solidFill>
            <a:srgbClr val="F6F9FF"/>
          </a:solidFill>
          <a:ln w="3810">
            <a:solidFill>
              <a:srgbClr val="D5DAFF"/>
            </a:solidFill>
            <a:prstDash val="solid"/>
          </a:ln>
        </p:spPr>
      </p:sp>
      <p:sp>
        <p:nvSpPr>
          <p:cNvPr id="52" name="Text 49"/>
          <p:cNvSpPr/>
          <p:nvPr/>
        </p:nvSpPr>
        <p:spPr>
          <a:xfrm>
            <a:off x="237744" y="3904488"/>
            <a:ext cx="1733702" cy="201168"/>
          </a:xfrm>
          <a:prstGeom prst="rect">
            <a:avLst/>
          </a:prstGeom>
          <a:noFill/>
        </p:spPr>
        <p:txBody>
          <a:bodyPr wrap="square" rtlCol="0" anchor="ctr"/>
          <a:lstStyle/>
          <a:p>
            <a:pPr marL="0" indent="0" algn="l">
              <a:buNone/>
            </a:pPr>
            <a:r>
              <a:rPr lang="en-US" sz="800" dirty="0">
                <a:solidFill>
                  <a:srgbClr val="000000"/>
                </a:solidFill>
                <a:latin typeface="Calibri" panose="020F0502020204030204" pitchFamily="34" charset="0"/>
                <a:ea typeface="Calibri" panose="020F0502020204030204" pitchFamily="34" charset="-122"/>
                <a:cs typeface="Calibri" panose="020F0502020204030204" pitchFamily="34" charset="-120"/>
              </a:rPr>
              <a:t>Offline Mode</a:t>
            </a:r>
            <a:endParaRPr lang="en-US" sz="800" dirty="0"/>
          </a:p>
        </p:txBody>
      </p:sp>
      <p:sp>
        <p:nvSpPr>
          <p:cNvPr id="53" name="Shape 50"/>
          <p:cNvSpPr/>
          <p:nvPr/>
        </p:nvSpPr>
        <p:spPr>
          <a:xfrm>
            <a:off x="1971446" y="3904488"/>
            <a:ext cx="1733702" cy="201168"/>
          </a:xfrm>
          <a:prstGeom prst="rect">
            <a:avLst/>
          </a:prstGeom>
          <a:solidFill>
            <a:srgbClr val="F6F9FF"/>
          </a:solidFill>
          <a:ln w="3810">
            <a:solidFill>
              <a:srgbClr val="D5DAFF"/>
            </a:solidFill>
            <a:prstDash val="solid"/>
          </a:ln>
        </p:spPr>
      </p:sp>
      <p:sp>
        <p:nvSpPr>
          <p:cNvPr id="54" name="Text 51"/>
          <p:cNvSpPr/>
          <p:nvPr/>
        </p:nvSpPr>
        <p:spPr>
          <a:xfrm>
            <a:off x="1971446" y="3904488"/>
            <a:ext cx="1733702" cy="201168"/>
          </a:xfrm>
          <a:prstGeom prst="rect">
            <a:avLst/>
          </a:prstGeom>
          <a:noFill/>
        </p:spPr>
        <p:txBody>
          <a:bodyPr wrap="square" lIns="0" tIns="0" rIns="0" bIns="0" rtlCol="0" anchor="ctr"/>
          <a:lstStyle/>
          <a:p>
            <a:pPr marL="0" indent="0" algn="ctr">
              <a:buNone/>
            </a:pPr>
            <a:r>
              <a:rPr lang="en-US" sz="800" b="1" dirty="0">
                <a:solidFill>
                  <a:srgbClr val="27AE60"/>
                </a:solidFill>
                <a:latin typeface="Calibri" panose="020F0502020204030204" pitchFamily="34" charset="0"/>
                <a:ea typeface="Calibri" panose="020F0502020204030204" pitchFamily="34" charset="-122"/>
                <a:cs typeface="Calibri" panose="020F0502020204030204" pitchFamily="34" charset="-120"/>
              </a:rPr>
              <a:t>✅</a:t>
            </a:r>
            <a:endParaRPr lang="en-US" sz="800" dirty="0"/>
          </a:p>
        </p:txBody>
      </p:sp>
      <p:sp>
        <p:nvSpPr>
          <p:cNvPr id="55" name="Shape 52"/>
          <p:cNvSpPr/>
          <p:nvPr/>
        </p:nvSpPr>
        <p:spPr>
          <a:xfrm>
            <a:off x="3705149" y="3904488"/>
            <a:ext cx="1733702" cy="201168"/>
          </a:xfrm>
          <a:prstGeom prst="rect">
            <a:avLst/>
          </a:prstGeom>
          <a:solidFill>
            <a:srgbClr val="F6F9FF"/>
          </a:solidFill>
          <a:ln w="3810">
            <a:solidFill>
              <a:srgbClr val="D5DAFF"/>
            </a:solidFill>
            <a:prstDash val="solid"/>
          </a:ln>
        </p:spPr>
      </p:sp>
      <p:sp>
        <p:nvSpPr>
          <p:cNvPr id="56" name="Text 53"/>
          <p:cNvSpPr/>
          <p:nvPr/>
        </p:nvSpPr>
        <p:spPr>
          <a:xfrm>
            <a:off x="3705149" y="3904488"/>
            <a:ext cx="1733702" cy="201168"/>
          </a:xfrm>
          <a:prstGeom prst="rect">
            <a:avLst/>
          </a:prstGeom>
          <a:noFill/>
        </p:spPr>
        <p:txBody>
          <a:bodyPr wrap="square" lIns="0" tIns="0" rIns="0" bIns="0" rtlCol="0" anchor="ctr"/>
          <a:lstStyle/>
          <a:p>
            <a:pPr marL="0" indent="0" algn="ctr">
              <a:buNone/>
            </a:pPr>
            <a:r>
              <a:rPr lang="en-US" sz="800" dirty="0">
                <a:solidFill>
                  <a:srgbClr val="E74C3C"/>
                </a:solidFill>
                <a:latin typeface="Calibri" panose="020F0502020204030204" pitchFamily="34" charset="0"/>
                <a:ea typeface="Calibri" panose="020F0502020204030204" pitchFamily="34" charset="-122"/>
                <a:cs typeface="Calibri" panose="020F0502020204030204" pitchFamily="34" charset="-120"/>
              </a:rPr>
              <a:t>❌</a:t>
            </a:r>
            <a:endParaRPr lang="en-US" sz="800" dirty="0"/>
          </a:p>
        </p:txBody>
      </p:sp>
      <p:sp>
        <p:nvSpPr>
          <p:cNvPr id="57" name="Shape 54"/>
          <p:cNvSpPr/>
          <p:nvPr/>
        </p:nvSpPr>
        <p:spPr>
          <a:xfrm>
            <a:off x="5438851" y="3904488"/>
            <a:ext cx="1733702" cy="201168"/>
          </a:xfrm>
          <a:prstGeom prst="rect">
            <a:avLst/>
          </a:prstGeom>
          <a:solidFill>
            <a:srgbClr val="F6F9FF"/>
          </a:solidFill>
          <a:ln w="3810">
            <a:solidFill>
              <a:srgbClr val="D5DAFF"/>
            </a:solidFill>
            <a:prstDash val="solid"/>
          </a:ln>
        </p:spPr>
      </p:sp>
      <p:sp>
        <p:nvSpPr>
          <p:cNvPr id="58" name="Text 55"/>
          <p:cNvSpPr/>
          <p:nvPr/>
        </p:nvSpPr>
        <p:spPr>
          <a:xfrm>
            <a:off x="5438851" y="3904488"/>
            <a:ext cx="1733702" cy="201168"/>
          </a:xfrm>
          <a:prstGeom prst="rect">
            <a:avLst/>
          </a:prstGeom>
          <a:noFill/>
        </p:spPr>
        <p:txBody>
          <a:bodyPr wrap="square" lIns="0" tIns="0" rIns="0" bIns="0" rtlCol="0" anchor="ctr"/>
          <a:lstStyle/>
          <a:p>
            <a:pPr marL="0" indent="0" algn="ctr">
              <a:buNone/>
            </a:pPr>
            <a:r>
              <a:rPr lang="en-US" sz="800" dirty="0">
                <a:solidFill>
                  <a:srgbClr val="E74C3C"/>
                </a:solidFill>
                <a:latin typeface="Calibri" panose="020F0502020204030204" pitchFamily="34" charset="0"/>
                <a:ea typeface="Calibri" panose="020F0502020204030204" pitchFamily="34" charset="-122"/>
                <a:cs typeface="Calibri" panose="020F0502020204030204" pitchFamily="34" charset="-120"/>
              </a:rPr>
              <a:t>❌</a:t>
            </a:r>
            <a:endParaRPr lang="en-US" sz="800" dirty="0"/>
          </a:p>
        </p:txBody>
      </p:sp>
      <p:sp>
        <p:nvSpPr>
          <p:cNvPr id="59" name="Shape 56"/>
          <p:cNvSpPr/>
          <p:nvPr/>
        </p:nvSpPr>
        <p:spPr>
          <a:xfrm>
            <a:off x="7172554" y="3904488"/>
            <a:ext cx="1733702" cy="201168"/>
          </a:xfrm>
          <a:prstGeom prst="rect">
            <a:avLst/>
          </a:prstGeom>
          <a:solidFill>
            <a:srgbClr val="F6F9FF"/>
          </a:solidFill>
          <a:ln w="3810">
            <a:solidFill>
              <a:srgbClr val="D5DAFF"/>
            </a:solidFill>
            <a:prstDash val="solid"/>
          </a:ln>
        </p:spPr>
      </p:sp>
      <p:sp>
        <p:nvSpPr>
          <p:cNvPr id="60" name="Text 57"/>
          <p:cNvSpPr/>
          <p:nvPr/>
        </p:nvSpPr>
        <p:spPr>
          <a:xfrm>
            <a:off x="7172554" y="3904488"/>
            <a:ext cx="1733702" cy="201168"/>
          </a:xfrm>
          <a:prstGeom prst="rect">
            <a:avLst/>
          </a:prstGeom>
          <a:noFill/>
        </p:spPr>
        <p:txBody>
          <a:bodyPr wrap="square" lIns="0" tIns="0" rIns="0" bIns="0" rtlCol="0" anchor="ctr"/>
          <a:lstStyle/>
          <a:p>
            <a:pPr marL="0" indent="0" algn="ctr">
              <a:buNone/>
            </a:pPr>
            <a:r>
              <a:rPr lang="en-US" sz="800" dirty="0">
                <a:solidFill>
                  <a:srgbClr val="000000"/>
                </a:solidFill>
                <a:latin typeface="Calibri" panose="020F0502020204030204" pitchFamily="34" charset="0"/>
                <a:ea typeface="Calibri" panose="020F0502020204030204" pitchFamily="34" charset="-122"/>
                <a:cs typeface="Calibri" panose="020F0502020204030204" pitchFamily="34" charset="-120"/>
              </a:rPr>
              <a:t>Partial</a:t>
            </a:r>
            <a:endParaRPr lang="en-US" sz="800" dirty="0"/>
          </a:p>
        </p:txBody>
      </p:sp>
      <p:sp>
        <p:nvSpPr>
          <p:cNvPr id="61" name="Shape 58"/>
          <p:cNvSpPr/>
          <p:nvPr/>
        </p:nvSpPr>
        <p:spPr>
          <a:xfrm>
            <a:off x="237744" y="4105656"/>
            <a:ext cx="1733702" cy="201168"/>
          </a:xfrm>
          <a:prstGeom prst="rect">
            <a:avLst/>
          </a:prstGeom>
          <a:solidFill>
            <a:srgbClr val="F8FAFF"/>
          </a:solidFill>
          <a:ln w="3810">
            <a:solidFill>
              <a:srgbClr val="D5DAFF"/>
            </a:solidFill>
            <a:prstDash val="solid"/>
          </a:ln>
        </p:spPr>
      </p:sp>
      <p:sp>
        <p:nvSpPr>
          <p:cNvPr id="62" name="Text 59"/>
          <p:cNvSpPr/>
          <p:nvPr/>
        </p:nvSpPr>
        <p:spPr>
          <a:xfrm>
            <a:off x="237744" y="4105656"/>
            <a:ext cx="1733702" cy="201168"/>
          </a:xfrm>
          <a:prstGeom prst="rect">
            <a:avLst/>
          </a:prstGeom>
          <a:noFill/>
        </p:spPr>
        <p:txBody>
          <a:bodyPr wrap="square" rtlCol="0" anchor="ctr"/>
          <a:lstStyle/>
          <a:p>
            <a:pPr marL="0" indent="0" algn="l">
              <a:buNone/>
            </a:pPr>
            <a:r>
              <a:rPr lang="en-US" sz="800" dirty="0">
                <a:solidFill>
                  <a:srgbClr val="000000"/>
                </a:solidFill>
                <a:latin typeface="Calibri" panose="020F0502020204030204" pitchFamily="34" charset="0"/>
                <a:ea typeface="Calibri" panose="020F0502020204030204" pitchFamily="34" charset="-122"/>
                <a:cs typeface="Calibri" panose="020F0502020204030204" pitchFamily="34" charset="-120"/>
              </a:rPr>
              <a:t>Covert SOS</a:t>
            </a:r>
            <a:endParaRPr lang="en-US" sz="800" dirty="0"/>
          </a:p>
        </p:txBody>
      </p:sp>
      <p:sp>
        <p:nvSpPr>
          <p:cNvPr id="63" name="Shape 60"/>
          <p:cNvSpPr/>
          <p:nvPr/>
        </p:nvSpPr>
        <p:spPr>
          <a:xfrm>
            <a:off x="1971446" y="4105656"/>
            <a:ext cx="1733702" cy="201168"/>
          </a:xfrm>
          <a:prstGeom prst="rect">
            <a:avLst/>
          </a:prstGeom>
          <a:solidFill>
            <a:srgbClr val="F8FAFF"/>
          </a:solidFill>
          <a:ln w="3810">
            <a:solidFill>
              <a:srgbClr val="D5DAFF"/>
            </a:solidFill>
            <a:prstDash val="solid"/>
          </a:ln>
        </p:spPr>
      </p:sp>
      <p:sp>
        <p:nvSpPr>
          <p:cNvPr id="64" name="Text 61"/>
          <p:cNvSpPr/>
          <p:nvPr/>
        </p:nvSpPr>
        <p:spPr>
          <a:xfrm>
            <a:off x="1971446" y="4105656"/>
            <a:ext cx="1733702" cy="201168"/>
          </a:xfrm>
          <a:prstGeom prst="rect">
            <a:avLst/>
          </a:prstGeom>
          <a:noFill/>
        </p:spPr>
        <p:txBody>
          <a:bodyPr wrap="square" lIns="0" tIns="0" rIns="0" bIns="0" rtlCol="0" anchor="ctr"/>
          <a:lstStyle/>
          <a:p>
            <a:pPr marL="0" indent="0" algn="ctr">
              <a:buNone/>
            </a:pPr>
            <a:r>
              <a:rPr lang="en-US" sz="800" b="1" dirty="0">
                <a:solidFill>
                  <a:srgbClr val="27AE60"/>
                </a:solidFill>
                <a:latin typeface="Calibri" panose="020F0502020204030204" pitchFamily="34" charset="0"/>
                <a:ea typeface="Calibri" panose="020F0502020204030204" pitchFamily="34" charset="-122"/>
                <a:cs typeface="Calibri" panose="020F0502020204030204" pitchFamily="34" charset="-120"/>
              </a:rPr>
              <a:t>✅</a:t>
            </a:r>
            <a:endParaRPr lang="en-US" sz="800" dirty="0"/>
          </a:p>
        </p:txBody>
      </p:sp>
      <p:sp>
        <p:nvSpPr>
          <p:cNvPr id="65" name="Shape 62"/>
          <p:cNvSpPr/>
          <p:nvPr/>
        </p:nvSpPr>
        <p:spPr>
          <a:xfrm>
            <a:off x="3705149" y="4105656"/>
            <a:ext cx="1733702" cy="201168"/>
          </a:xfrm>
          <a:prstGeom prst="rect">
            <a:avLst/>
          </a:prstGeom>
          <a:solidFill>
            <a:srgbClr val="F8FAFF"/>
          </a:solidFill>
          <a:ln w="3810">
            <a:solidFill>
              <a:srgbClr val="D5DAFF"/>
            </a:solidFill>
            <a:prstDash val="solid"/>
          </a:ln>
        </p:spPr>
      </p:sp>
      <p:sp>
        <p:nvSpPr>
          <p:cNvPr id="66" name="Text 63"/>
          <p:cNvSpPr/>
          <p:nvPr/>
        </p:nvSpPr>
        <p:spPr>
          <a:xfrm>
            <a:off x="3705149" y="4105656"/>
            <a:ext cx="1733702" cy="201168"/>
          </a:xfrm>
          <a:prstGeom prst="rect">
            <a:avLst/>
          </a:prstGeom>
          <a:noFill/>
        </p:spPr>
        <p:txBody>
          <a:bodyPr wrap="square" lIns="0" tIns="0" rIns="0" bIns="0" rtlCol="0" anchor="ctr"/>
          <a:lstStyle/>
          <a:p>
            <a:pPr marL="0" indent="0" algn="ctr">
              <a:buNone/>
            </a:pPr>
            <a:r>
              <a:rPr lang="en-US" sz="800" dirty="0">
                <a:solidFill>
                  <a:srgbClr val="E74C3C"/>
                </a:solidFill>
                <a:latin typeface="Calibri" panose="020F0502020204030204" pitchFamily="34" charset="0"/>
                <a:ea typeface="Calibri" panose="020F0502020204030204" pitchFamily="34" charset="-122"/>
                <a:cs typeface="Calibri" panose="020F0502020204030204" pitchFamily="34" charset="-120"/>
              </a:rPr>
              <a:t>❌</a:t>
            </a:r>
            <a:endParaRPr lang="en-US" sz="800" dirty="0"/>
          </a:p>
        </p:txBody>
      </p:sp>
      <p:sp>
        <p:nvSpPr>
          <p:cNvPr id="67" name="Shape 64"/>
          <p:cNvSpPr/>
          <p:nvPr/>
        </p:nvSpPr>
        <p:spPr>
          <a:xfrm>
            <a:off x="5438851" y="4105656"/>
            <a:ext cx="1733702" cy="201168"/>
          </a:xfrm>
          <a:prstGeom prst="rect">
            <a:avLst/>
          </a:prstGeom>
          <a:solidFill>
            <a:srgbClr val="F8FAFF"/>
          </a:solidFill>
          <a:ln w="3810">
            <a:solidFill>
              <a:srgbClr val="D5DAFF"/>
            </a:solidFill>
            <a:prstDash val="solid"/>
          </a:ln>
        </p:spPr>
      </p:sp>
      <p:sp>
        <p:nvSpPr>
          <p:cNvPr id="68" name="Text 65"/>
          <p:cNvSpPr/>
          <p:nvPr/>
        </p:nvSpPr>
        <p:spPr>
          <a:xfrm>
            <a:off x="5438851" y="4105656"/>
            <a:ext cx="1733702" cy="201168"/>
          </a:xfrm>
          <a:prstGeom prst="rect">
            <a:avLst/>
          </a:prstGeom>
          <a:noFill/>
        </p:spPr>
        <p:txBody>
          <a:bodyPr wrap="square" lIns="0" tIns="0" rIns="0" bIns="0" rtlCol="0" anchor="ctr"/>
          <a:lstStyle/>
          <a:p>
            <a:pPr marL="0" indent="0" algn="ctr">
              <a:buNone/>
            </a:pPr>
            <a:r>
              <a:rPr lang="en-US" sz="800" dirty="0">
                <a:solidFill>
                  <a:srgbClr val="E74C3C"/>
                </a:solidFill>
                <a:latin typeface="Calibri" panose="020F0502020204030204" pitchFamily="34" charset="0"/>
                <a:ea typeface="Calibri" panose="020F0502020204030204" pitchFamily="34" charset="-122"/>
                <a:cs typeface="Calibri" panose="020F0502020204030204" pitchFamily="34" charset="-120"/>
              </a:rPr>
              <a:t>❌</a:t>
            </a:r>
            <a:endParaRPr lang="en-US" sz="800" dirty="0"/>
          </a:p>
        </p:txBody>
      </p:sp>
      <p:sp>
        <p:nvSpPr>
          <p:cNvPr id="69" name="Shape 66"/>
          <p:cNvSpPr/>
          <p:nvPr/>
        </p:nvSpPr>
        <p:spPr>
          <a:xfrm>
            <a:off x="7172554" y="4105656"/>
            <a:ext cx="1733702" cy="201168"/>
          </a:xfrm>
          <a:prstGeom prst="rect">
            <a:avLst/>
          </a:prstGeom>
          <a:solidFill>
            <a:srgbClr val="F8FAFF"/>
          </a:solidFill>
          <a:ln w="3810">
            <a:solidFill>
              <a:srgbClr val="D5DAFF"/>
            </a:solidFill>
            <a:prstDash val="solid"/>
          </a:ln>
        </p:spPr>
      </p:sp>
      <p:sp>
        <p:nvSpPr>
          <p:cNvPr id="70" name="Text 67"/>
          <p:cNvSpPr/>
          <p:nvPr/>
        </p:nvSpPr>
        <p:spPr>
          <a:xfrm>
            <a:off x="7172554" y="4105656"/>
            <a:ext cx="1733702" cy="201168"/>
          </a:xfrm>
          <a:prstGeom prst="rect">
            <a:avLst/>
          </a:prstGeom>
          <a:noFill/>
        </p:spPr>
        <p:txBody>
          <a:bodyPr wrap="square" lIns="0" tIns="0" rIns="0" bIns="0" rtlCol="0" anchor="ctr"/>
          <a:lstStyle/>
          <a:p>
            <a:pPr marL="0" indent="0" algn="ctr">
              <a:buNone/>
            </a:pPr>
            <a:r>
              <a:rPr lang="en-US" sz="800" dirty="0">
                <a:solidFill>
                  <a:srgbClr val="E74C3C"/>
                </a:solidFill>
                <a:latin typeface="Calibri" panose="020F0502020204030204" pitchFamily="34" charset="0"/>
                <a:ea typeface="Calibri" panose="020F0502020204030204" pitchFamily="34" charset="-122"/>
                <a:cs typeface="Calibri" panose="020F0502020204030204" pitchFamily="34" charset="-120"/>
              </a:rPr>
              <a:t>❌</a:t>
            </a:r>
            <a:endParaRPr lang="en-US" sz="800" dirty="0"/>
          </a:p>
        </p:txBody>
      </p:sp>
      <p:sp>
        <p:nvSpPr>
          <p:cNvPr id="71" name="Shape 68"/>
          <p:cNvSpPr/>
          <p:nvPr/>
        </p:nvSpPr>
        <p:spPr>
          <a:xfrm>
            <a:off x="237744" y="4306824"/>
            <a:ext cx="1733702" cy="201168"/>
          </a:xfrm>
          <a:prstGeom prst="rect">
            <a:avLst/>
          </a:prstGeom>
          <a:solidFill>
            <a:srgbClr val="F6F9FF"/>
          </a:solidFill>
          <a:ln w="3810">
            <a:solidFill>
              <a:srgbClr val="D5DAFF"/>
            </a:solidFill>
            <a:prstDash val="solid"/>
          </a:ln>
        </p:spPr>
      </p:sp>
      <p:sp>
        <p:nvSpPr>
          <p:cNvPr id="72" name="Text 69"/>
          <p:cNvSpPr/>
          <p:nvPr/>
        </p:nvSpPr>
        <p:spPr>
          <a:xfrm>
            <a:off x="237744" y="4306824"/>
            <a:ext cx="1733702" cy="201168"/>
          </a:xfrm>
          <a:prstGeom prst="rect">
            <a:avLst/>
          </a:prstGeom>
          <a:noFill/>
        </p:spPr>
        <p:txBody>
          <a:bodyPr wrap="square" rtlCol="0" anchor="ctr"/>
          <a:lstStyle/>
          <a:p>
            <a:pPr marL="0" indent="0" algn="l">
              <a:buNone/>
            </a:pPr>
            <a:r>
              <a:rPr lang="en-US" sz="800" dirty="0">
                <a:solidFill>
                  <a:srgbClr val="000000"/>
                </a:solidFill>
                <a:latin typeface="Calibri" panose="020F0502020204030204" pitchFamily="34" charset="0"/>
                <a:ea typeface="Calibri" panose="020F0502020204030204" pitchFamily="34" charset="-122"/>
                <a:cs typeface="Calibri" panose="020F0502020204030204" pitchFamily="34" charset="-120"/>
              </a:rPr>
              <a:t>Auto Recording</a:t>
            </a:r>
            <a:endParaRPr lang="en-US" sz="800" dirty="0"/>
          </a:p>
        </p:txBody>
      </p:sp>
      <p:sp>
        <p:nvSpPr>
          <p:cNvPr id="73" name="Shape 70"/>
          <p:cNvSpPr/>
          <p:nvPr/>
        </p:nvSpPr>
        <p:spPr>
          <a:xfrm>
            <a:off x="1971446" y="4306824"/>
            <a:ext cx="1733702" cy="201168"/>
          </a:xfrm>
          <a:prstGeom prst="rect">
            <a:avLst/>
          </a:prstGeom>
          <a:solidFill>
            <a:srgbClr val="F6F9FF"/>
          </a:solidFill>
          <a:ln w="3810">
            <a:solidFill>
              <a:srgbClr val="D5DAFF"/>
            </a:solidFill>
            <a:prstDash val="solid"/>
          </a:ln>
        </p:spPr>
      </p:sp>
      <p:sp>
        <p:nvSpPr>
          <p:cNvPr id="74" name="Text 71"/>
          <p:cNvSpPr/>
          <p:nvPr/>
        </p:nvSpPr>
        <p:spPr>
          <a:xfrm>
            <a:off x="1971446" y="4306824"/>
            <a:ext cx="1733702" cy="201168"/>
          </a:xfrm>
          <a:prstGeom prst="rect">
            <a:avLst/>
          </a:prstGeom>
          <a:noFill/>
        </p:spPr>
        <p:txBody>
          <a:bodyPr wrap="square" lIns="0" tIns="0" rIns="0" bIns="0" rtlCol="0" anchor="ctr"/>
          <a:lstStyle/>
          <a:p>
            <a:pPr marL="0" indent="0" algn="ctr">
              <a:buNone/>
            </a:pPr>
            <a:r>
              <a:rPr lang="en-US" sz="800" b="1" dirty="0">
                <a:solidFill>
                  <a:srgbClr val="27AE60"/>
                </a:solidFill>
                <a:latin typeface="Calibri" panose="020F0502020204030204" pitchFamily="34" charset="0"/>
                <a:ea typeface="Calibri" panose="020F0502020204030204" pitchFamily="34" charset="-122"/>
                <a:cs typeface="Calibri" panose="020F0502020204030204" pitchFamily="34" charset="-120"/>
              </a:rPr>
              <a:t>✅</a:t>
            </a:r>
            <a:endParaRPr lang="en-US" sz="800" dirty="0"/>
          </a:p>
        </p:txBody>
      </p:sp>
      <p:sp>
        <p:nvSpPr>
          <p:cNvPr id="75" name="Shape 72"/>
          <p:cNvSpPr/>
          <p:nvPr/>
        </p:nvSpPr>
        <p:spPr>
          <a:xfrm>
            <a:off x="3705149" y="4306824"/>
            <a:ext cx="1733702" cy="201168"/>
          </a:xfrm>
          <a:prstGeom prst="rect">
            <a:avLst/>
          </a:prstGeom>
          <a:solidFill>
            <a:srgbClr val="F6F9FF"/>
          </a:solidFill>
          <a:ln w="3810">
            <a:solidFill>
              <a:srgbClr val="D5DAFF"/>
            </a:solidFill>
            <a:prstDash val="solid"/>
          </a:ln>
        </p:spPr>
      </p:sp>
      <p:sp>
        <p:nvSpPr>
          <p:cNvPr id="76" name="Text 73"/>
          <p:cNvSpPr/>
          <p:nvPr/>
        </p:nvSpPr>
        <p:spPr>
          <a:xfrm>
            <a:off x="3705149" y="4306824"/>
            <a:ext cx="1733702" cy="201168"/>
          </a:xfrm>
          <a:prstGeom prst="rect">
            <a:avLst/>
          </a:prstGeom>
          <a:noFill/>
        </p:spPr>
        <p:txBody>
          <a:bodyPr wrap="square" lIns="0" tIns="0" rIns="0" bIns="0" rtlCol="0" anchor="ctr"/>
          <a:lstStyle/>
          <a:p>
            <a:pPr marL="0" indent="0" algn="ctr">
              <a:buNone/>
            </a:pPr>
            <a:r>
              <a:rPr lang="en-US" sz="800" dirty="0">
                <a:solidFill>
                  <a:srgbClr val="000000"/>
                </a:solidFill>
                <a:latin typeface="Calibri" panose="020F0502020204030204" pitchFamily="34" charset="0"/>
                <a:ea typeface="Calibri" panose="020F0502020204030204" pitchFamily="34" charset="-122"/>
                <a:cs typeface="Calibri" panose="020F0502020204030204" pitchFamily="34" charset="-120"/>
              </a:rPr>
              <a:t>Paid</a:t>
            </a:r>
            <a:endParaRPr lang="en-US" sz="800" dirty="0"/>
          </a:p>
        </p:txBody>
      </p:sp>
      <p:sp>
        <p:nvSpPr>
          <p:cNvPr id="77" name="Shape 74"/>
          <p:cNvSpPr/>
          <p:nvPr/>
        </p:nvSpPr>
        <p:spPr>
          <a:xfrm>
            <a:off x="5438851" y="4306824"/>
            <a:ext cx="1733702" cy="201168"/>
          </a:xfrm>
          <a:prstGeom prst="rect">
            <a:avLst/>
          </a:prstGeom>
          <a:solidFill>
            <a:srgbClr val="F6F9FF"/>
          </a:solidFill>
          <a:ln w="3810">
            <a:solidFill>
              <a:srgbClr val="D5DAFF"/>
            </a:solidFill>
            <a:prstDash val="solid"/>
          </a:ln>
        </p:spPr>
      </p:sp>
      <p:sp>
        <p:nvSpPr>
          <p:cNvPr id="78" name="Text 75"/>
          <p:cNvSpPr/>
          <p:nvPr/>
        </p:nvSpPr>
        <p:spPr>
          <a:xfrm>
            <a:off x="5438851" y="4306824"/>
            <a:ext cx="1733702" cy="201168"/>
          </a:xfrm>
          <a:prstGeom prst="rect">
            <a:avLst/>
          </a:prstGeom>
          <a:noFill/>
        </p:spPr>
        <p:txBody>
          <a:bodyPr wrap="square" lIns="0" tIns="0" rIns="0" bIns="0" rtlCol="0" anchor="ctr"/>
          <a:lstStyle/>
          <a:p>
            <a:pPr marL="0" indent="0" algn="ctr">
              <a:buNone/>
            </a:pPr>
            <a:r>
              <a:rPr lang="en-US" sz="800" dirty="0">
                <a:solidFill>
                  <a:srgbClr val="E74C3C"/>
                </a:solidFill>
                <a:latin typeface="Calibri" panose="020F0502020204030204" pitchFamily="34" charset="0"/>
                <a:ea typeface="Calibri" panose="020F0502020204030204" pitchFamily="34" charset="-122"/>
                <a:cs typeface="Calibri" panose="020F0502020204030204" pitchFamily="34" charset="-120"/>
              </a:rPr>
              <a:t>❌</a:t>
            </a:r>
            <a:endParaRPr lang="en-US" sz="800" dirty="0"/>
          </a:p>
        </p:txBody>
      </p:sp>
      <p:sp>
        <p:nvSpPr>
          <p:cNvPr id="79" name="Shape 76"/>
          <p:cNvSpPr/>
          <p:nvPr/>
        </p:nvSpPr>
        <p:spPr>
          <a:xfrm>
            <a:off x="7172554" y="4306824"/>
            <a:ext cx="1733702" cy="201168"/>
          </a:xfrm>
          <a:prstGeom prst="rect">
            <a:avLst/>
          </a:prstGeom>
          <a:solidFill>
            <a:srgbClr val="F6F9FF"/>
          </a:solidFill>
          <a:ln w="3810">
            <a:solidFill>
              <a:srgbClr val="D5DAFF"/>
            </a:solidFill>
            <a:prstDash val="solid"/>
          </a:ln>
        </p:spPr>
      </p:sp>
      <p:sp>
        <p:nvSpPr>
          <p:cNvPr id="80" name="Text 77"/>
          <p:cNvSpPr/>
          <p:nvPr/>
        </p:nvSpPr>
        <p:spPr>
          <a:xfrm>
            <a:off x="7172554" y="4306824"/>
            <a:ext cx="1733702" cy="201168"/>
          </a:xfrm>
          <a:prstGeom prst="rect">
            <a:avLst/>
          </a:prstGeom>
          <a:noFill/>
        </p:spPr>
        <p:txBody>
          <a:bodyPr wrap="square" lIns="0" tIns="0" rIns="0" bIns="0" rtlCol="0" anchor="ctr"/>
          <a:lstStyle/>
          <a:p>
            <a:pPr marL="0" indent="0" algn="ctr">
              <a:buNone/>
            </a:pPr>
            <a:r>
              <a:rPr lang="en-US" sz="800" dirty="0">
                <a:solidFill>
                  <a:srgbClr val="E74C3C"/>
                </a:solidFill>
                <a:latin typeface="Calibri" panose="020F0502020204030204" pitchFamily="34" charset="0"/>
                <a:ea typeface="Calibri" panose="020F0502020204030204" pitchFamily="34" charset="-122"/>
                <a:cs typeface="Calibri" panose="020F0502020204030204" pitchFamily="34" charset="-120"/>
              </a:rPr>
              <a:t>❌</a:t>
            </a:r>
            <a:endParaRPr lang="en-US" sz="800" dirty="0"/>
          </a:p>
        </p:txBody>
      </p:sp>
      <p:sp>
        <p:nvSpPr>
          <p:cNvPr id="81" name="Shape 78"/>
          <p:cNvSpPr/>
          <p:nvPr/>
        </p:nvSpPr>
        <p:spPr>
          <a:xfrm>
            <a:off x="237744" y="4507992"/>
            <a:ext cx="1733702" cy="201168"/>
          </a:xfrm>
          <a:prstGeom prst="rect">
            <a:avLst/>
          </a:prstGeom>
          <a:solidFill>
            <a:srgbClr val="F8FAFF"/>
          </a:solidFill>
          <a:ln w="3810">
            <a:solidFill>
              <a:srgbClr val="D5DAFF"/>
            </a:solidFill>
            <a:prstDash val="solid"/>
          </a:ln>
        </p:spPr>
      </p:sp>
      <p:sp>
        <p:nvSpPr>
          <p:cNvPr id="82" name="Text 79"/>
          <p:cNvSpPr/>
          <p:nvPr/>
        </p:nvSpPr>
        <p:spPr>
          <a:xfrm>
            <a:off x="237744" y="4507992"/>
            <a:ext cx="1733702" cy="201168"/>
          </a:xfrm>
          <a:prstGeom prst="rect">
            <a:avLst/>
          </a:prstGeom>
          <a:noFill/>
        </p:spPr>
        <p:txBody>
          <a:bodyPr wrap="square" rtlCol="0" anchor="ctr"/>
          <a:lstStyle/>
          <a:p>
            <a:pPr marL="0" indent="0" algn="l">
              <a:buNone/>
            </a:pPr>
            <a:r>
              <a:rPr lang="en-US" sz="800" dirty="0">
                <a:solidFill>
                  <a:srgbClr val="000000"/>
                </a:solidFill>
                <a:latin typeface="Calibri" panose="020F0502020204030204" pitchFamily="34" charset="0"/>
                <a:ea typeface="Calibri" panose="020F0502020204030204" pitchFamily="34" charset="-122"/>
                <a:cs typeface="Calibri" panose="020F0502020204030204" pitchFamily="34" charset="-120"/>
              </a:rPr>
              <a:t>Free</a:t>
            </a:r>
            <a:endParaRPr lang="en-US" sz="800" dirty="0"/>
          </a:p>
        </p:txBody>
      </p:sp>
      <p:sp>
        <p:nvSpPr>
          <p:cNvPr id="83" name="Shape 80"/>
          <p:cNvSpPr/>
          <p:nvPr/>
        </p:nvSpPr>
        <p:spPr>
          <a:xfrm>
            <a:off x="1971446" y="4507992"/>
            <a:ext cx="1733702" cy="201168"/>
          </a:xfrm>
          <a:prstGeom prst="rect">
            <a:avLst/>
          </a:prstGeom>
          <a:solidFill>
            <a:srgbClr val="F8FAFF"/>
          </a:solidFill>
          <a:ln w="3810">
            <a:solidFill>
              <a:srgbClr val="D5DAFF"/>
            </a:solidFill>
            <a:prstDash val="solid"/>
          </a:ln>
        </p:spPr>
      </p:sp>
      <p:sp>
        <p:nvSpPr>
          <p:cNvPr id="84" name="Text 81"/>
          <p:cNvSpPr/>
          <p:nvPr/>
        </p:nvSpPr>
        <p:spPr>
          <a:xfrm>
            <a:off x="1971446" y="4507992"/>
            <a:ext cx="1733702" cy="201168"/>
          </a:xfrm>
          <a:prstGeom prst="rect">
            <a:avLst/>
          </a:prstGeom>
          <a:noFill/>
        </p:spPr>
        <p:txBody>
          <a:bodyPr wrap="square" lIns="0" tIns="0" rIns="0" bIns="0" rtlCol="0" anchor="ctr"/>
          <a:lstStyle/>
          <a:p>
            <a:pPr marL="0" indent="0" algn="ctr">
              <a:buNone/>
            </a:pPr>
            <a:r>
              <a:rPr lang="en-US" sz="800" b="1" dirty="0">
                <a:solidFill>
                  <a:srgbClr val="27AE60"/>
                </a:solidFill>
                <a:latin typeface="Calibri" panose="020F0502020204030204" pitchFamily="34" charset="0"/>
                <a:ea typeface="Calibri" panose="020F0502020204030204" pitchFamily="34" charset="-122"/>
                <a:cs typeface="Calibri" panose="020F0502020204030204" pitchFamily="34" charset="-120"/>
              </a:rPr>
              <a:t>✅</a:t>
            </a:r>
            <a:endParaRPr lang="en-US" sz="800" dirty="0"/>
          </a:p>
        </p:txBody>
      </p:sp>
      <p:sp>
        <p:nvSpPr>
          <p:cNvPr id="85" name="Shape 82"/>
          <p:cNvSpPr/>
          <p:nvPr/>
        </p:nvSpPr>
        <p:spPr>
          <a:xfrm>
            <a:off x="3705149" y="4507992"/>
            <a:ext cx="1733702" cy="201168"/>
          </a:xfrm>
          <a:prstGeom prst="rect">
            <a:avLst/>
          </a:prstGeom>
          <a:solidFill>
            <a:srgbClr val="F8FAFF"/>
          </a:solidFill>
          <a:ln w="3810">
            <a:solidFill>
              <a:srgbClr val="D5DAFF"/>
            </a:solidFill>
            <a:prstDash val="solid"/>
          </a:ln>
        </p:spPr>
      </p:sp>
      <p:sp>
        <p:nvSpPr>
          <p:cNvPr id="86" name="Text 83"/>
          <p:cNvSpPr/>
          <p:nvPr/>
        </p:nvSpPr>
        <p:spPr>
          <a:xfrm>
            <a:off x="3705149" y="4507992"/>
            <a:ext cx="1733702" cy="201168"/>
          </a:xfrm>
          <a:prstGeom prst="rect">
            <a:avLst/>
          </a:prstGeom>
          <a:noFill/>
        </p:spPr>
        <p:txBody>
          <a:bodyPr wrap="square" lIns="0" tIns="0" rIns="0" bIns="0" rtlCol="0" anchor="ctr"/>
          <a:lstStyle/>
          <a:p>
            <a:pPr marL="0" indent="0" algn="ctr">
              <a:buNone/>
            </a:pPr>
            <a:r>
              <a:rPr lang="en-US" sz="800" dirty="0">
                <a:solidFill>
                  <a:srgbClr val="000000"/>
                </a:solidFill>
                <a:latin typeface="Calibri" panose="020F0502020204030204" pitchFamily="34" charset="0"/>
                <a:ea typeface="Calibri" panose="020F0502020204030204" pitchFamily="34" charset="-122"/>
                <a:cs typeface="Calibri" panose="020F0502020204030204" pitchFamily="34" charset="-120"/>
              </a:rPr>
              <a:t>Freemium</a:t>
            </a:r>
            <a:endParaRPr lang="en-US" sz="800" dirty="0"/>
          </a:p>
        </p:txBody>
      </p:sp>
      <p:sp>
        <p:nvSpPr>
          <p:cNvPr id="87" name="Shape 84"/>
          <p:cNvSpPr/>
          <p:nvPr/>
        </p:nvSpPr>
        <p:spPr>
          <a:xfrm>
            <a:off x="5438851" y="4507992"/>
            <a:ext cx="1733702" cy="201168"/>
          </a:xfrm>
          <a:prstGeom prst="rect">
            <a:avLst/>
          </a:prstGeom>
          <a:solidFill>
            <a:srgbClr val="F8FAFF"/>
          </a:solidFill>
          <a:ln w="3810">
            <a:solidFill>
              <a:srgbClr val="D5DAFF"/>
            </a:solidFill>
            <a:prstDash val="solid"/>
          </a:ln>
        </p:spPr>
      </p:sp>
      <p:sp>
        <p:nvSpPr>
          <p:cNvPr id="88" name="Text 85"/>
          <p:cNvSpPr/>
          <p:nvPr/>
        </p:nvSpPr>
        <p:spPr>
          <a:xfrm>
            <a:off x="5438851" y="4507992"/>
            <a:ext cx="1733702" cy="201168"/>
          </a:xfrm>
          <a:prstGeom prst="rect">
            <a:avLst/>
          </a:prstGeom>
          <a:noFill/>
        </p:spPr>
        <p:txBody>
          <a:bodyPr wrap="square" lIns="0" tIns="0" rIns="0" bIns="0" rtlCol="0" anchor="ctr"/>
          <a:lstStyle/>
          <a:p>
            <a:pPr marL="0" indent="0" algn="ctr">
              <a:buNone/>
            </a:pPr>
            <a:r>
              <a:rPr lang="en-US" sz="800" dirty="0">
                <a:solidFill>
                  <a:srgbClr val="000000"/>
                </a:solidFill>
                <a:latin typeface="Calibri" panose="020F0502020204030204" pitchFamily="34" charset="0"/>
                <a:ea typeface="Calibri" panose="020F0502020204030204" pitchFamily="34" charset="-122"/>
                <a:cs typeface="Calibri" panose="020F0502020204030204" pitchFamily="34" charset="-120"/>
              </a:rPr>
              <a:t>Paid</a:t>
            </a:r>
            <a:endParaRPr lang="en-US" sz="800" dirty="0"/>
          </a:p>
        </p:txBody>
      </p:sp>
      <p:sp>
        <p:nvSpPr>
          <p:cNvPr id="89" name="Shape 86"/>
          <p:cNvSpPr/>
          <p:nvPr/>
        </p:nvSpPr>
        <p:spPr>
          <a:xfrm>
            <a:off x="7172554" y="4507992"/>
            <a:ext cx="1733702" cy="201168"/>
          </a:xfrm>
          <a:prstGeom prst="rect">
            <a:avLst/>
          </a:prstGeom>
          <a:solidFill>
            <a:srgbClr val="F8FAFF"/>
          </a:solidFill>
          <a:ln w="3810">
            <a:solidFill>
              <a:srgbClr val="D5DAFF"/>
            </a:solidFill>
            <a:prstDash val="solid"/>
          </a:ln>
        </p:spPr>
      </p:sp>
      <p:sp>
        <p:nvSpPr>
          <p:cNvPr id="90" name="Text 87"/>
          <p:cNvSpPr/>
          <p:nvPr/>
        </p:nvSpPr>
        <p:spPr>
          <a:xfrm>
            <a:off x="7172554" y="4507992"/>
            <a:ext cx="1733702" cy="201168"/>
          </a:xfrm>
          <a:prstGeom prst="rect">
            <a:avLst/>
          </a:prstGeom>
          <a:noFill/>
        </p:spPr>
        <p:txBody>
          <a:bodyPr wrap="square" lIns="0" tIns="0" rIns="0" bIns="0" rtlCol="0" anchor="ctr"/>
          <a:lstStyle/>
          <a:p>
            <a:pPr marL="0" indent="0" algn="ctr">
              <a:buNone/>
            </a:pPr>
            <a:r>
              <a:rPr lang="en-US" sz="800" dirty="0">
                <a:solidFill>
                  <a:srgbClr val="27AE60"/>
                </a:solidFill>
                <a:latin typeface="Calibri" panose="020F0502020204030204" pitchFamily="34" charset="0"/>
                <a:ea typeface="Calibri" panose="020F0502020204030204" pitchFamily="34" charset="-122"/>
                <a:cs typeface="Calibri" panose="020F0502020204030204" pitchFamily="34" charset="-120"/>
              </a:rPr>
              <a:t>✅</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59436" cy="4773168"/>
          </a:xfrm>
          <a:prstGeom prst="rect">
            <a:avLst/>
          </a:prstGeom>
          <a:solidFill>
            <a:srgbClr val="6062FF"/>
          </a:solidFill>
          <a:ln w="12700">
            <a:solidFill>
              <a:srgbClr val="6062FF"/>
            </a:solidFill>
            <a:prstDash val="solid"/>
          </a:ln>
        </p:spPr>
      </p:sp>
      <p:pic>
        <p:nvPicPr>
          <p:cNvPr id="3" name="Image 0" descr="preencoded.png"/>
          <p:cNvPicPr>
            <a:picLocks noChangeAspect="1"/>
          </p:cNvPicPr>
          <p:nvPr/>
        </p:nvPicPr>
        <p:blipFill>
          <a:blip r:embed="rId3"/>
          <a:stretch>
            <a:fillRect/>
          </a:stretch>
        </p:blipFill>
        <p:spPr>
          <a:xfrm>
            <a:off x="8321040" y="45720"/>
            <a:ext cx="658368" cy="658368"/>
          </a:xfrm>
          <a:prstGeom prst="rect">
            <a:avLst/>
          </a:prstGeom>
        </p:spPr>
      </p:pic>
      <p:sp>
        <p:nvSpPr>
          <p:cNvPr id="4" name="Shape 1"/>
          <p:cNvSpPr/>
          <p:nvPr/>
        </p:nvSpPr>
        <p:spPr>
          <a:xfrm>
            <a:off x="0" y="4773168"/>
            <a:ext cx="9144000" cy="370332"/>
          </a:xfrm>
          <a:prstGeom prst="rect">
            <a:avLst/>
          </a:prstGeom>
          <a:solidFill>
            <a:srgbClr val="FFFFFF"/>
          </a:solidFill>
          <a:ln w="12700">
            <a:solidFill>
              <a:srgbClr val="FFFFFF"/>
            </a:solidFill>
            <a:prstDash val="solid"/>
          </a:ln>
        </p:spPr>
      </p:sp>
      <p:sp>
        <p:nvSpPr>
          <p:cNvPr id="5" name="Shape 2"/>
          <p:cNvSpPr/>
          <p:nvPr/>
        </p:nvSpPr>
        <p:spPr>
          <a:xfrm>
            <a:off x="0" y="4773168"/>
            <a:ext cx="59436" cy="370332"/>
          </a:xfrm>
          <a:prstGeom prst="rect">
            <a:avLst/>
          </a:prstGeom>
          <a:solidFill>
            <a:srgbClr val="0F9ED5"/>
          </a:solidFill>
          <a:ln w="12700">
            <a:solidFill>
              <a:srgbClr val="0F9ED5"/>
            </a:solidFill>
            <a:prstDash val="solid"/>
          </a:ln>
        </p:spPr>
      </p:sp>
      <p:sp>
        <p:nvSpPr>
          <p:cNvPr id="6" name="Text 3"/>
          <p:cNvSpPr/>
          <p:nvPr/>
        </p:nvSpPr>
        <p:spPr>
          <a:xfrm>
            <a:off x="109728" y="4823460"/>
            <a:ext cx="5029200" cy="146304"/>
          </a:xfrm>
          <a:prstGeom prst="rect">
            <a:avLst/>
          </a:prstGeom>
          <a:noFill/>
        </p:spPr>
        <p:txBody>
          <a:bodyPr wrap="square" lIns="0" tIns="0" rIns="0" bIns="0" rtlCol="0" anchor="ctr"/>
          <a:lstStyle/>
          <a:p>
            <a:pPr marL="0" indent="0">
              <a:buNone/>
            </a:pPr>
            <a:r>
              <a:rPr lang="en-US" sz="650" dirty="0">
                <a:solidFill>
                  <a:srgbClr val="767676"/>
                </a:solidFill>
                <a:latin typeface="Calibri" panose="020F0502020204030204" pitchFamily="34" charset="0"/>
                <a:ea typeface="Calibri" panose="020F0502020204030204" pitchFamily="34" charset="-122"/>
                <a:cs typeface="Calibri" panose="020F0502020204030204" pitchFamily="34" charset="-120"/>
              </a:rPr>
              <a:t>HackNovation 2.0  |  R&amp;D Cell, GIET University, Gunupur</a:t>
            </a:r>
            <a:endParaRPr lang="en-US" sz="650" dirty="0"/>
          </a:p>
        </p:txBody>
      </p:sp>
      <p:sp>
        <p:nvSpPr>
          <p:cNvPr id="7" name="Text 4"/>
          <p:cNvSpPr/>
          <p:nvPr/>
        </p:nvSpPr>
        <p:spPr>
          <a:xfrm>
            <a:off x="4389120" y="4823460"/>
            <a:ext cx="365760" cy="146304"/>
          </a:xfrm>
          <a:prstGeom prst="rect">
            <a:avLst/>
          </a:prstGeom>
          <a:noFill/>
        </p:spPr>
        <p:txBody>
          <a:bodyPr wrap="square" lIns="0" tIns="0" rIns="0" bIns="0" rtlCol="0" anchor="ctr"/>
          <a:lstStyle/>
          <a:p>
            <a:pPr marL="0" indent="0" algn="ctr">
              <a:buNone/>
            </a:pPr>
            <a:r>
              <a:rPr lang="en-US" sz="650" dirty="0">
                <a:solidFill>
                  <a:srgbClr val="767676"/>
                </a:solidFill>
                <a:latin typeface="Calibri" panose="020F0502020204030204" pitchFamily="34" charset="0"/>
                <a:ea typeface="Calibri" panose="020F0502020204030204" pitchFamily="34" charset="-122"/>
                <a:cs typeface="Calibri" panose="020F0502020204030204" pitchFamily="34" charset="-120"/>
              </a:rPr>
              <a:t>5</a:t>
            </a:r>
            <a:endParaRPr lang="en-US" sz="650" dirty="0"/>
          </a:p>
        </p:txBody>
      </p:sp>
      <p:sp>
        <p:nvSpPr>
          <p:cNvPr id="8" name="Text 5"/>
          <p:cNvSpPr/>
          <p:nvPr/>
        </p:nvSpPr>
        <p:spPr>
          <a:xfrm>
            <a:off x="7223760" y="4823460"/>
            <a:ext cx="1828800" cy="146304"/>
          </a:xfrm>
          <a:prstGeom prst="rect">
            <a:avLst/>
          </a:prstGeom>
          <a:noFill/>
        </p:spPr>
        <p:txBody>
          <a:bodyPr wrap="square" lIns="0" tIns="0" rIns="0" bIns="0" rtlCol="0" anchor="ctr"/>
          <a:lstStyle/>
          <a:p>
            <a:pPr marL="0" indent="0" algn="r">
              <a:buNone/>
            </a:pPr>
            <a:r>
              <a:rPr lang="en-US" sz="650" dirty="0">
                <a:solidFill>
                  <a:srgbClr val="767676"/>
                </a:solidFill>
                <a:latin typeface="Calibri" panose="020F0502020204030204" pitchFamily="34" charset="0"/>
                <a:ea typeface="Calibri" panose="020F0502020204030204" pitchFamily="34" charset="-122"/>
                <a:cs typeface="Calibri" panose="020F0502020204030204" pitchFamily="34" charset="-120"/>
              </a:rPr>
              <a:t>COD-THREE</a:t>
            </a:r>
            <a:endParaRPr lang="en-US" sz="650" dirty="0"/>
          </a:p>
        </p:txBody>
      </p:sp>
      <p:sp>
        <p:nvSpPr>
          <p:cNvPr id="9" name="Text 6"/>
          <p:cNvSpPr/>
          <p:nvPr/>
        </p:nvSpPr>
        <p:spPr>
          <a:xfrm>
            <a:off x="256032" y="219456"/>
            <a:ext cx="7863840" cy="530352"/>
          </a:xfrm>
          <a:prstGeom prst="rect">
            <a:avLst/>
          </a:prstGeom>
          <a:noFill/>
        </p:spPr>
        <p:txBody>
          <a:bodyPr wrap="square" lIns="0" tIns="0" rIns="0" bIns="0" rtlCol="0" anchor="ctr"/>
          <a:lstStyle/>
          <a:p>
            <a:pPr marL="0" indent="0">
              <a:buNone/>
            </a:pPr>
            <a:r>
              <a:rPr lang="en-US" sz="2600" b="1" dirty="0">
                <a:solidFill>
                  <a:srgbClr val="000000"/>
                </a:solidFill>
                <a:latin typeface="Calibri" panose="020F0502020204030204" pitchFamily="34" charset="0"/>
                <a:ea typeface="Calibri" panose="020F0502020204030204" pitchFamily="34" charset="-122"/>
                <a:cs typeface="Calibri" panose="020F0502020204030204" pitchFamily="34" charset="-120"/>
              </a:rPr>
              <a:t>Market Analysis</a:t>
            </a:r>
            <a:endParaRPr lang="en-US" sz="2600" dirty="0"/>
          </a:p>
        </p:txBody>
      </p:sp>
      <p:sp>
        <p:nvSpPr>
          <p:cNvPr id="10" name="Shape 7"/>
          <p:cNvSpPr/>
          <p:nvPr/>
        </p:nvSpPr>
        <p:spPr>
          <a:xfrm>
            <a:off x="256032" y="768096"/>
            <a:ext cx="777240" cy="38405"/>
          </a:xfrm>
          <a:prstGeom prst="rect">
            <a:avLst/>
          </a:prstGeom>
          <a:solidFill>
            <a:srgbClr val="0F9ED5"/>
          </a:solidFill>
          <a:ln w="12700">
            <a:solidFill>
              <a:srgbClr val="0F9ED5"/>
            </a:solidFill>
            <a:prstDash val="solid"/>
          </a:ln>
        </p:spPr>
      </p:sp>
      <p:sp>
        <p:nvSpPr>
          <p:cNvPr id="11" name="Shape 8"/>
          <p:cNvSpPr/>
          <p:nvPr/>
        </p:nvSpPr>
        <p:spPr>
          <a:xfrm>
            <a:off x="649224" y="886968"/>
            <a:ext cx="2103120" cy="2103120"/>
          </a:xfrm>
          <a:prstGeom prst="ellipse">
            <a:avLst/>
          </a:prstGeom>
          <a:solidFill>
            <a:srgbClr val="6062FF">
              <a:alpha val="12000"/>
            </a:srgbClr>
          </a:solidFill>
          <a:ln w="31750">
            <a:solidFill>
              <a:srgbClr val="6062FF"/>
            </a:solidFill>
            <a:prstDash val="solid"/>
          </a:ln>
        </p:spPr>
      </p:sp>
      <p:sp>
        <p:nvSpPr>
          <p:cNvPr id="12" name="Text 9"/>
          <p:cNvSpPr/>
          <p:nvPr/>
        </p:nvSpPr>
        <p:spPr>
          <a:xfrm>
            <a:off x="649224" y="1024128"/>
            <a:ext cx="2103120" cy="411480"/>
          </a:xfrm>
          <a:prstGeom prst="rect">
            <a:avLst/>
          </a:prstGeom>
          <a:noFill/>
        </p:spPr>
        <p:txBody>
          <a:bodyPr wrap="square" lIns="0" tIns="0" rIns="0" bIns="0" rtlCol="0" anchor="ctr"/>
          <a:lstStyle/>
          <a:p>
            <a:pPr marL="0" indent="0" algn="ctr">
              <a:buNone/>
            </a:pPr>
            <a:r>
              <a:rPr lang="en-US" sz="2400" b="1" dirty="0">
                <a:solidFill>
                  <a:srgbClr val="6062FF"/>
                </a:solidFill>
                <a:latin typeface="Calibri" panose="020F0502020204030204" pitchFamily="34" charset="0"/>
                <a:ea typeface="Calibri" panose="020F0502020204030204" pitchFamily="34" charset="-122"/>
                <a:cs typeface="Calibri" panose="020F0502020204030204" pitchFamily="34" charset="-120"/>
              </a:rPr>
              <a:t>TAM</a:t>
            </a:r>
            <a:endParaRPr lang="en-US" sz="2400" dirty="0"/>
          </a:p>
        </p:txBody>
      </p:sp>
      <p:sp>
        <p:nvSpPr>
          <p:cNvPr id="13" name="Text 10"/>
          <p:cNvSpPr/>
          <p:nvPr/>
        </p:nvSpPr>
        <p:spPr>
          <a:xfrm>
            <a:off x="649224" y="1481328"/>
            <a:ext cx="2103120" cy="475488"/>
          </a:xfrm>
          <a:prstGeom prst="rect">
            <a:avLst/>
          </a:prstGeom>
          <a:noFill/>
        </p:spPr>
        <p:txBody>
          <a:bodyPr wrap="square" lIns="0" tIns="0" rIns="0" bIns="0" rtlCol="0" anchor="ctr"/>
          <a:lstStyle/>
          <a:p>
            <a:pPr marL="0" indent="0" algn="ctr">
              <a:buNone/>
            </a:pPr>
            <a:r>
              <a:rPr lang="en-US" sz="2200" b="1" dirty="0">
                <a:solidFill>
                  <a:srgbClr val="6062FF"/>
                </a:solidFill>
                <a:latin typeface="Calibri" panose="020F0502020204030204" pitchFamily="34" charset="0"/>
                <a:ea typeface="Calibri" panose="020F0502020204030204" pitchFamily="34" charset="-122"/>
                <a:cs typeface="Calibri" panose="020F0502020204030204" pitchFamily="34" charset="-120"/>
              </a:rPr>
              <a:t>$4.2B</a:t>
            </a:r>
            <a:endParaRPr lang="en-US" sz="2200" dirty="0"/>
          </a:p>
        </p:txBody>
      </p:sp>
      <p:sp>
        <p:nvSpPr>
          <p:cNvPr id="14" name="Text 11"/>
          <p:cNvSpPr/>
          <p:nvPr/>
        </p:nvSpPr>
        <p:spPr>
          <a:xfrm>
            <a:off x="237744" y="3090672"/>
            <a:ext cx="2852928" cy="219456"/>
          </a:xfrm>
          <a:prstGeom prst="rect">
            <a:avLst/>
          </a:prstGeom>
          <a:noFill/>
        </p:spPr>
        <p:txBody>
          <a:bodyPr wrap="square" lIns="0" tIns="0" rIns="0" bIns="0" rtlCol="0" anchor="ctr"/>
          <a:lstStyle/>
          <a:p>
            <a:pPr marL="0" indent="0" algn="ctr">
              <a:buNone/>
            </a:pPr>
            <a:r>
              <a:rPr lang="en-US" sz="850" b="1" dirty="0">
                <a:solidFill>
                  <a:srgbClr val="6062FF"/>
                </a:solidFill>
                <a:latin typeface="Calibri" panose="020F0502020204030204" pitchFamily="34" charset="0"/>
                <a:ea typeface="Calibri" panose="020F0502020204030204" pitchFamily="34" charset="-122"/>
                <a:cs typeface="Calibri" panose="020F0502020204030204" pitchFamily="34" charset="-120"/>
              </a:rPr>
              <a:t>Total Addressable Market</a:t>
            </a:r>
            <a:endParaRPr lang="en-US" sz="850" dirty="0"/>
          </a:p>
        </p:txBody>
      </p:sp>
      <p:sp>
        <p:nvSpPr>
          <p:cNvPr id="15" name="Text 12"/>
          <p:cNvSpPr/>
          <p:nvPr/>
        </p:nvSpPr>
        <p:spPr>
          <a:xfrm>
            <a:off x="237744" y="3328416"/>
            <a:ext cx="2852928" cy="402336"/>
          </a:xfrm>
          <a:prstGeom prst="rect">
            <a:avLst/>
          </a:prstGeom>
          <a:noFill/>
        </p:spPr>
        <p:txBody>
          <a:bodyPr wrap="square" lIns="0" tIns="0" rIns="0" bIns="0" rtlCol="0" anchor="ctr"/>
          <a:lstStyle/>
          <a:p>
            <a:pPr marL="0" indent="0" algn="ctr">
              <a:buNone/>
            </a:pPr>
            <a:r>
              <a:rPr lang="en-US" sz="750" dirty="0">
                <a:solidFill>
                  <a:srgbClr val="444444"/>
                </a:solidFill>
                <a:latin typeface="Calibri" panose="020F0502020204030204" pitchFamily="34" charset="0"/>
                <a:ea typeface="Calibri" panose="020F0502020204030204" pitchFamily="34" charset="-122"/>
                <a:cs typeface="Calibri" panose="020F0502020204030204" pitchFamily="34" charset="-120"/>
              </a:rPr>
              <a:t>Global personal safety app market (2024)</a:t>
            </a:r>
            <a:endParaRPr lang="en-US" sz="750" dirty="0"/>
          </a:p>
          <a:p>
            <a:pPr marL="0" indent="0" algn="ctr">
              <a:buNone/>
            </a:pPr>
            <a:r>
              <a:rPr lang="en-US" sz="750" dirty="0">
                <a:solidFill>
                  <a:srgbClr val="444444"/>
                </a:solidFill>
                <a:latin typeface="Calibri" panose="020F0502020204030204" pitchFamily="34" charset="0"/>
                <a:ea typeface="Calibri" panose="020F0502020204030204" pitchFamily="34" charset="-122"/>
                <a:cs typeface="Calibri" panose="020F0502020204030204" pitchFamily="34" charset="-120"/>
              </a:rPr>
              <a:t>1.5B+ Android users worldwide</a:t>
            </a:r>
            <a:endParaRPr lang="en-US" sz="750" dirty="0"/>
          </a:p>
        </p:txBody>
      </p:sp>
      <p:sp>
        <p:nvSpPr>
          <p:cNvPr id="16" name="Shape 13"/>
          <p:cNvSpPr/>
          <p:nvPr/>
        </p:nvSpPr>
        <p:spPr>
          <a:xfrm>
            <a:off x="3557016" y="886968"/>
            <a:ext cx="2103120" cy="2103120"/>
          </a:xfrm>
          <a:prstGeom prst="ellipse">
            <a:avLst/>
          </a:prstGeom>
          <a:solidFill>
            <a:srgbClr val="0F9ED5">
              <a:alpha val="12000"/>
            </a:srgbClr>
          </a:solidFill>
          <a:ln w="31750">
            <a:solidFill>
              <a:srgbClr val="0F9ED5"/>
            </a:solidFill>
            <a:prstDash val="solid"/>
          </a:ln>
        </p:spPr>
      </p:sp>
      <p:sp>
        <p:nvSpPr>
          <p:cNvPr id="17" name="Text 14"/>
          <p:cNvSpPr/>
          <p:nvPr/>
        </p:nvSpPr>
        <p:spPr>
          <a:xfrm>
            <a:off x="3557016" y="1024128"/>
            <a:ext cx="2103120" cy="411480"/>
          </a:xfrm>
          <a:prstGeom prst="rect">
            <a:avLst/>
          </a:prstGeom>
          <a:noFill/>
        </p:spPr>
        <p:txBody>
          <a:bodyPr wrap="square" lIns="0" tIns="0" rIns="0" bIns="0" rtlCol="0" anchor="ctr"/>
          <a:lstStyle/>
          <a:p>
            <a:pPr marL="0" indent="0" algn="ctr">
              <a:buNone/>
            </a:pPr>
            <a:r>
              <a:rPr lang="en-US" sz="2400" b="1" dirty="0">
                <a:solidFill>
                  <a:srgbClr val="0F9ED5"/>
                </a:solidFill>
                <a:latin typeface="Calibri" panose="020F0502020204030204" pitchFamily="34" charset="0"/>
                <a:ea typeface="Calibri" panose="020F0502020204030204" pitchFamily="34" charset="-122"/>
                <a:cs typeface="Calibri" panose="020F0502020204030204" pitchFamily="34" charset="-120"/>
              </a:rPr>
              <a:t>SAM</a:t>
            </a:r>
            <a:endParaRPr lang="en-US" sz="2400" dirty="0"/>
          </a:p>
        </p:txBody>
      </p:sp>
      <p:sp>
        <p:nvSpPr>
          <p:cNvPr id="18" name="Text 15"/>
          <p:cNvSpPr/>
          <p:nvPr/>
        </p:nvSpPr>
        <p:spPr>
          <a:xfrm>
            <a:off x="3557016" y="1481328"/>
            <a:ext cx="2103120" cy="475488"/>
          </a:xfrm>
          <a:prstGeom prst="rect">
            <a:avLst/>
          </a:prstGeom>
          <a:noFill/>
        </p:spPr>
        <p:txBody>
          <a:bodyPr wrap="square" lIns="0" tIns="0" rIns="0" bIns="0" rtlCol="0" anchor="ctr"/>
          <a:lstStyle/>
          <a:p>
            <a:pPr marL="0" indent="0" algn="ctr">
              <a:buNone/>
            </a:pPr>
            <a:r>
              <a:rPr lang="en-US" sz="2200" b="1" dirty="0">
                <a:solidFill>
                  <a:srgbClr val="0F9ED5"/>
                </a:solidFill>
                <a:latin typeface="Calibri" panose="020F0502020204030204" pitchFamily="34" charset="0"/>
                <a:ea typeface="Calibri" panose="020F0502020204030204" pitchFamily="34" charset="-122"/>
                <a:cs typeface="Calibri" panose="020F0502020204030204" pitchFamily="34" charset="-120"/>
              </a:rPr>
              <a:t>$680M</a:t>
            </a:r>
            <a:endParaRPr lang="en-US" sz="2200" dirty="0"/>
          </a:p>
        </p:txBody>
      </p:sp>
      <p:sp>
        <p:nvSpPr>
          <p:cNvPr id="19" name="Text 16"/>
          <p:cNvSpPr/>
          <p:nvPr/>
        </p:nvSpPr>
        <p:spPr>
          <a:xfrm>
            <a:off x="3145536" y="3090672"/>
            <a:ext cx="2852928" cy="219456"/>
          </a:xfrm>
          <a:prstGeom prst="rect">
            <a:avLst/>
          </a:prstGeom>
          <a:noFill/>
        </p:spPr>
        <p:txBody>
          <a:bodyPr wrap="square" lIns="0" tIns="0" rIns="0" bIns="0" rtlCol="0" anchor="ctr"/>
          <a:lstStyle/>
          <a:p>
            <a:pPr marL="0" indent="0" algn="ctr">
              <a:buNone/>
            </a:pPr>
            <a:r>
              <a:rPr lang="en-US" sz="850" b="1" dirty="0">
                <a:solidFill>
                  <a:srgbClr val="0F9ED5"/>
                </a:solidFill>
                <a:latin typeface="Calibri" panose="020F0502020204030204" pitchFamily="34" charset="0"/>
                <a:ea typeface="Calibri" panose="020F0502020204030204" pitchFamily="34" charset="-122"/>
                <a:cs typeface="Calibri" panose="020F0502020204030204" pitchFamily="34" charset="-120"/>
              </a:rPr>
              <a:t>Serviceable Addressable Market</a:t>
            </a:r>
            <a:endParaRPr lang="en-US" sz="850" dirty="0"/>
          </a:p>
        </p:txBody>
      </p:sp>
      <p:sp>
        <p:nvSpPr>
          <p:cNvPr id="20" name="Text 17"/>
          <p:cNvSpPr/>
          <p:nvPr/>
        </p:nvSpPr>
        <p:spPr>
          <a:xfrm>
            <a:off x="3145536" y="3328416"/>
            <a:ext cx="2852928" cy="402336"/>
          </a:xfrm>
          <a:prstGeom prst="rect">
            <a:avLst/>
          </a:prstGeom>
          <a:noFill/>
        </p:spPr>
        <p:txBody>
          <a:bodyPr wrap="square" lIns="0" tIns="0" rIns="0" bIns="0" rtlCol="0" anchor="ctr"/>
          <a:lstStyle/>
          <a:p>
            <a:pPr marL="0" indent="0" algn="ctr">
              <a:buNone/>
            </a:pPr>
            <a:r>
              <a:rPr lang="en-US" sz="750" dirty="0">
                <a:solidFill>
                  <a:srgbClr val="444444"/>
                </a:solidFill>
                <a:latin typeface="Calibri" panose="020F0502020204030204" pitchFamily="34" charset="0"/>
                <a:ea typeface="Calibri" panose="020F0502020204030204" pitchFamily="34" charset="-122"/>
                <a:cs typeface="Calibri" panose="020F0502020204030204" pitchFamily="34" charset="-120"/>
              </a:rPr>
              <a:t>Women-focused safety apps in India, SE Asia &amp; South Asia — 400M+ target users</a:t>
            </a:r>
            <a:endParaRPr lang="en-US" sz="750" dirty="0"/>
          </a:p>
        </p:txBody>
      </p:sp>
      <p:sp>
        <p:nvSpPr>
          <p:cNvPr id="21" name="Shape 18"/>
          <p:cNvSpPr/>
          <p:nvPr/>
        </p:nvSpPr>
        <p:spPr>
          <a:xfrm>
            <a:off x="6464808" y="886968"/>
            <a:ext cx="2103120" cy="2103120"/>
          </a:xfrm>
          <a:prstGeom prst="ellipse">
            <a:avLst/>
          </a:prstGeom>
          <a:solidFill>
            <a:srgbClr val="27AE60">
              <a:alpha val="12000"/>
            </a:srgbClr>
          </a:solidFill>
          <a:ln w="31750">
            <a:solidFill>
              <a:srgbClr val="27AE60"/>
            </a:solidFill>
            <a:prstDash val="solid"/>
          </a:ln>
        </p:spPr>
      </p:sp>
      <p:sp>
        <p:nvSpPr>
          <p:cNvPr id="22" name="Text 19"/>
          <p:cNvSpPr/>
          <p:nvPr/>
        </p:nvSpPr>
        <p:spPr>
          <a:xfrm>
            <a:off x="6464808" y="1024128"/>
            <a:ext cx="2103120" cy="411480"/>
          </a:xfrm>
          <a:prstGeom prst="rect">
            <a:avLst/>
          </a:prstGeom>
          <a:noFill/>
        </p:spPr>
        <p:txBody>
          <a:bodyPr wrap="square" lIns="0" tIns="0" rIns="0" bIns="0" rtlCol="0" anchor="ctr"/>
          <a:lstStyle/>
          <a:p>
            <a:pPr marL="0" indent="0" algn="ctr">
              <a:buNone/>
            </a:pPr>
            <a:r>
              <a:rPr lang="en-US" sz="2400" b="1" dirty="0">
                <a:solidFill>
                  <a:srgbClr val="27AE60"/>
                </a:solidFill>
                <a:latin typeface="Calibri" panose="020F0502020204030204" pitchFamily="34" charset="0"/>
                <a:ea typeface="Calibri" panose="020F0502020204030204" pitchFamily="34" charset="-122"/>
                <a:cs typeface="Calibri" panose="020F0502020204030204" pitchFamily="34" charset="-120"/>
              </a:rPr>
              <a:t>SOM</a:t>
            </a:r>
            <a:endParaRPr lang="en-US" sz="2400" dirty="0"/>
          </a:p>
        </p:txBody>
      </p:sp>
      <p:sp>
        <p:nvSpPr>
          <p:cNvPr id="23" name="Text 20"/>
          <p:cNvSpPr/>
          <p:nvPr/>
        </p:nvSpPr>
        <p:spPr>
          <a:xfrm>
            <a:off x="6464808" y="1481328"/>
            <a:ext cx="2103120" cy="475488"/>
          </a:xfrm>
          <a:prstGeom prst="rect">
            <a:avLst/>
          </a:prstGeom>
          <a:noFill/>
        </p:spPr>
        <p:txBody>
          <a:bodyPr wrap="square" lIns="0" tIns="0" rIns="0" bIns="0" rtlCol="0" anchor="ctr"/>
          <a:lstStyle/>
          <a:p>
            <a:pPr marL="0" indent="0" algn="ctr">
              <a:buNone/>
            </a:pPr>
            <a:r>
              <a:rPr lang="en-US" sz="2200" b="1" dirty="0">
                <a:solidFill>
                  <a:srgbClr val="27AE60"/>
                </a:solidFill>
                <a:latin typeface="Calibri" panose="020F0502020204030204" pitchFamily="34" charset="0"/>
                <a:ea typeface="Calibri" panose="020F0502020204030204" pitchFamily="34" charset="-122"/>
                <a:cs typeface="Calibri" panose="020F0502020204030204" pitchFamily="34" charset="-120"/>
              </a:rPr>
              <a:t>$42M</a:t>
            </a:r>
            <a:endParaRPr lang="en-US" sz="2200" dirty="0"/>
          </a:p>
        </p:txBody>
      </p:sp>
      <p:sp>
        <p:nvSpPr>
          <p:cNvPr id="24" name="Text 21"/>
          <p:cNvSpPr/>
          <p:nvPr/>
        </p:nvSpPr>
        <p:spPr>
          <a:xfrm>
            <a:off x="6053328" y="3090672"/>
            <a:ext cx="2852928" cy="219456"/>
          </a:xfrm>
          <a:prstGeom prst="rect">
            <a:avLst/>
          </a:prstGeom>
          <a:noFill/>
        </p:spPr>
        <p:txBody>
          <a:bodyPr wrap="square" lIns="0" tIns="0" rIns="0" bIns="0" rtlCol="0" anchor="ctr"/>
          <a:lstStyle/>
          <a:p>
            <a:pPr marL="0" indent="0" algn="ctr">
              <a:buNone/>
            </a:pPr>
            <a:r>
              <a:rPr lang="en-US" sz="850" b="1" dirty="0">
                <a:solidFill>
                  <a:srgbClr val="27AE60"/>
                </a:solidFill>
                <a:latin typeface="Calibri" panose="020F0502020204030204" pitchFamily="34" charset="0"/>
                <a:ea typeface="Calibri" panose="020F0502020204030204" pitchFamily="34" charset="-122"/>
                <a:cs typeface="Calibri" panose="020F0502020204030204" pitchFamily="34" charset="-120"/>
              </a:rPr>
              <a:t>Serviceable Obtainable Market</a:t>
            </a:r>
            <a:endParaRPr lang="en-US" sz="850" dirty="0"/>
          </a:p>
        </p:txBody>
      </p:sp>
      <p:sp>
        <p:nvSpPr>
          <p:cNvPr id="25" name="Text 22"/>
          <p:cNvSpPr/>
          <p:nvPr/>
        </p:nvSpPr>
        <p:spPr>
          <a:xfrm>
            <a:off x="6053328" y="3328416"/>
            <a:ext cx="2852928" cy="402336"/>
          </a:xfrm>
          <a:prstGeom prst="rect">
            <a:avLst/>
          </a:prstGeom>
          <a:noFill/>
        </p:spPr>
        <p:txBody>
          <a:bodyPr wrap="square" lIns="0" tIns="0" rIns="0" bIns="0" rtlCol="0" anchor="ctr"/>
          <a:lstStyle/>
          <a:p>
            <a:pPr marL="0" indent="0" algn="ctr">
              <a:buNone/>
            </a:pPr>
            <a:r>
              <a:rPr lang="en-US" sz="750" dirty="0">
                <a:solidFill>
                  <a:srgbClr val="444444"/>
                </a:solidFill>
                <a:latin typeface="Calibri" panose="020F0502020204030204" pitchFamily="34" charset="0"/>
                <a:ea typeface="Calibri" panose="020F0502020204030204" pitchFamily="34" charset="-122"/>
                <a:cs typeface="Calibri" panose="020F0502020204030204" pitchFamily="34" charset="-120"/>
              </a:rPr>
              <a:t>Students &amp; working women in Tier 1–2 Indian cities (est. 25M users, Yr 1–2)</a:t>
            </a:r>
            <a:endParaRPr lang="en-US" sz="750" dirty="0"/>
          </a:p>
        </p:txBody>
      </p:sp>
      <p:sp>
        <p:nvSpPr>
          <p:cNvPr id="26" name="Shape 23"/>
          <p:cNvSpPr/>
          <p:nvPr/>
        </p:nvSpPr>
        <p:spPr>
          <a:xfrm>
            <a:off x="237744" y="3813048"/>
            <a:ext cx="8668512" cy="246888"/>
          </a:xfrm>
          <a:prstGeom prst="rect">
            <a:avLst/>
          </a:prstGeom>
          <a:solidFill>
            <a:srgbClr val="6062FF"/>
          </a:solidFill>
          <a:ln w="12700">
            <a:solidFill>
              <a:srgbClr val="6062FF"/>
            </a:solidFill>
            <a:prstDash val="solid"/>
          </a:ln>
        </p:spPr>
      </p:sp>
      <p:sp>
        <p:nvSpPr>
          <p:cNvPr id="27" name="Text 24"/>
          <p:cNvSpPr/>
          <p:nvPr/>
        </p:nvSpPr>
        <p:spPr>
          <a:xfrm>
            <a:off x="347472" y="3813048"/>
            <a:ext cx="8449056" cy="246888"/>
          </a:xfrm>
          <a:prstGeom prst="rect">
            <a:avLst/>
          </a:prstGeom>
          <a:noFill/>
        </p:spPr>
        <p:txBody>
          <a:bodyPr wrap="square" lIns="0" tIns="0" rIns="0" bIns="0" rtlCol="0" anchor="ctr"/>
          <a:lstStyle/>
          <a:p>
            <a:pPr marL="0" indent="0">
              <a:buNone/>
            </a:pPr>
            <a:r>
              <a:rPr lang="en-US" sz="950" b="1" dirty="0">
                <a:solidFill>
                  <a:srgbClr val="FFFFFF"/>
                </a:solidFill>
                <a:latin typeface="Calibri" panose="020F0502020204030204" pitchFamily="34" charset="0"/>
                <a:ea typeface="Calibri" panose="020F0502020204030204" pitchFamily="34" charset="-122"/>
                <a:cs typeface="Calibri" panose="020F0502020204030204" pitchFamily="34" charset="-120"/>
              </a:rPr>
              <a:t>Existing Solutions &amp; Key Players</a:t>
            </a:r>
            <a:endParaRPr lang="en-US" sz="950" dirty="0"/>
          </a:p>
        </p:txBody>
      </p:sp>
      <p:sp>
        <p:nvSpPr>
          <p:cNvPr id="28" name="Shape 25"/>
          <p:cNvSpPr/>
          <p:nvPr/>
        </p:nvSpPr>
        <p:spPr>
          <a:xfrm>
            <a:off x="237744" y="4087368"/>
            <a:ext cx="4251960" cy="228600"/>
          </a:xfrm>
          <a:prstGeom prst="rect">
            <a:avLst/>
          </a:prstGeom>
          <a:solidFill>
            <a:srgbClr val="F6F9FF"/>
          </a:solidFill>
          <a:ln w="3810">
            <a:solidFill>
              <a:srgbClr val="D8E0F0"/>
            </a:solidFill>
            <a:prstDash val="solid"/>
          </a:ln>
        </p:spPr>
      </p:sp>
      <p:sp>
        <p:nvSpPr>
          <p:cNvPr id="29" name="Text 26"/>
          <p:cNvSpPr/>
          <p:nvPr/>
        </p:nvSpPr>
        <p:spPr>
          <a:xfrm>
            <a:off x="310896" y="4114800"/>
            <a:ext cx="1554480" cy="173736"/>
          </a:xfrm>
          <a:prstGeom prst="rect">
            <a:avLst/>
          </a:prstGeom>
          <a:noFill/>
        </p:spPr>
        <p:txBody>
          <a:bodyPr wrap="square" lIns="0" tIns="0" rIns="0" bIns="0" rtlCol="0" anchor="ctr"/>
          <a:lstStyle/>
          <a:p>
            <a:pPr marL="0" indent="0">
              <a:buNone/>
            </a:pPr>
            <a:r>
              <a:rPr lang="en-US" sz="850" b="1" dirty="0">
                <a:solidFill>
                  <a:srgbClr val="6062FF"/>
                </a:solidFill>
                <a:latin typeface="Calibri" panose="020F0502020204030204" pitchFamily="34" charset="0"/>
                <a:ea typeface="Calibri" panose="020F0502020204030204" pitchFamily="34" charset="-122"/>
                <a:cs typeface="Calibri" panose="020F0502020204030204" pitchFamily="34" charset="-120"/>
              </a:rPr>
              <a:t>bSafe (Norway)</a:t>
            </a:r>
            <a:endParaRPr lang="en-US" sz="850" dirty="0"/>
          </a:p>
        </p:txBody>
      </p:sp>
      <p:sp>
        <p:nvSpPr>
          <p:cNvPr id="30" name="Text 27"/>
          <p:cNvSpPr/>
          <p:nvPr/>
        </p:nvSpPr>
        <p:spPr>
          <a:xfrm>
            <a:off x="1901952" y="4114800"/>
            <a:ext cx="2514600" cy="173736"/>
          </a:xfrm>
          <a:prstGeom prst="rect">
            <a:avLst/>
          </a:prstGeom>
          <a:noFill/>
        </p:spPr>
        <p:txBody>
          <a:bodyPr wrap="square" lIns="0" tIns="0" rIns="0" bIns="0" rtlCol="0" anchor="ctr"/>
          <a:lstStyle/>
          <a:p>
            <a:pPr marL="0" indent="0">
              <a:buNone/>
            </a:pPr>
            <a:r>
              <a:rPr lang="en-US" sz="800" dirty="0">
                <a:solidFill>
                  <a:srgbClr val="333333"/>
                </a:solidFill>
                <a:latin typeface="Calibri" panose="020F0502020204030204" pitchFamily="34" charset="0"/>
                <a:ea typeface="Calibri" panose="020F0502020204030204" pitchFamily="34" charset="-122"/>
                <a:cs typeface="Calibri" panose="020F0502020204030204" pitchFamily="34" charset="-120"/>
              </a:rPr>
              <a:t>Internet-dependent; premium features behind paywall; not fully offline</a:t>
            </a:r>
            <a:endParaRPr lang="en-US" sz="800" dirty="0"/>
          </a:p>
        </p:txBody>
      </p:sp>
      <p:sp>
        <p:nvSpPr>
          <p:cNvPr id="31" name="Shape 28"/>
          <p:cNvSpPr/>
          <p:nvPr/>
        </p:nvSpPr>
        <p:spPr>
          <a:xfrm>
            <a:off x="4608576" y="4087368"/>
            <a:ext cx="4251960" cy="228600"/>
          </a:xfrm>
          <a:prstGeom prst="rect">
            <a:avLst/>
          </a:prstGeom>
          <a:solidFill>
            <a:srgbClr val="F6F9FF"/>
          </a:solidFill>
          <a:ln w="3810">
            <a:solidFill>
              <a:srgbClr val="D8E0F0"/>
            </a:solidFill>
            <a:prstDash val="solid"/>
          </a:ln>
        </p:spPr>
      </p:sp>
      <p:sp>
        <p:nvSpPr>
          <p:cNvPr id="32" name="Text 29"/>
          <p:cNvSpPr/>
          <p:nvPr/>
        </p:nvSpPr>
        <p:spPr>
          <a:xfrm>
            <a:off x="4681728" y="4114800"/>
            <a:ext cx="1554480" cy="173736"/>
          </a:xfrm>
          <a:prstGeom prst="rect">
            <a:avLst/>
          </a:prstGeom>
          <a:noFill/>
        </p:spPr>
        <p:txBody>
          <a:bodyPr wrap="square" lIns="0" tIns="0" rIns="0" bIns="0" rtlCol="0" anchor="ctr"/>
          <a:lstStyle/>
          <a:p>
            <a:pPr marL="0" indent="0">
              <a:buNone/>
            </a:pPr>
            <a:r>
              <a:rPr lang="en-US" sz="850" b="1" dirty="0">
                <a:solidFill>
                  <a:srgbClr val="6062FF"/>
                </a:solidFill>
                <a:latin typeface="Calibri" panose="020F0502020204030204" pitchFamily="34" charset="0"/>
                <a:ea typeface="Calibri" panose="020F0502020204030204" pitchFamily="34" charset="-122"/>
                <a:cs typeface="Calibri" panose="020F0502020204030204" pitchFamily="34" charset="-120"/>
              </a:rPr>
              <a:t>Guardly (Canada)</a:t>
            </a:r>
            <a:endParaRPr lang="en-US" sz="850" dirty="0"/>
          </a:p>
        </p:txBody>
      </p:sp>
      <p:sp>
        <p:nvSpPr>
          <p:cNvPr id="33" name="Text 30"/>
          <p:cNvSpPr/>
          <p:nvPr/>
        </p:nvSpPr>
        <p:spPr>
          <a:xfrm>
            <a:off x="6272784" y="4114800"/>
            <a:ext cx="2514600" cy="173736"/>
          </a:xfrm>
          <a:prstGeom prst="rect">
            <a:avLst/>
          </a:prstGeom>
          <a:noFill/>
        </p:spPr>
        <p:txBody>
          <a:bodyPr wrap="square" lIns="0" tIns="0" rIns="0" bIns="0" rtlCol="0" anchor="ctr"/>
          <a:lstStyle/>
          <a:p>
            <a:pPr marL="0" indent="0">
              <a:buNone/>
            </a:pPr>
            <a:r>
              <a:rPr lang="en-US" sz="800" dirty="0">
                <a:solidFill>
                  <a:srgbClr val="333333"/>
                </a:solidFill>
                <a:latin typeface="Calibri" panose="020F0502020204030204" pitchFamily="34" charset="0"/>
                <a:ea typeface="Calibri" panose="020F0502020204030204" pitchFamily="34" charset="-122"/>
                <a:cs typeface="Calibri" panose="020F0502020204030204" pitchFamily="34" charset="-120"/>
              </a:rPr>
              <a:t>Enterprise B2B product; not accessible to individual consumers; costly</a:t>
            </a:r>
            <a:endParaRPr lang="en-US" sz="800" dirty="0"/>
          </a:p>
        </p:txBody>
      </p:sp>
      <p:sp>
        <p:nvSpPr>
          <p:cNvPr id="34" name="Shape 31"/>
          <p:cNvSpPr/>
          <p:nvPr/>
        </p:nvSpPr>
        <p:spPr>
          <a:xfrm>
            <a:off x="237744" y="4338828"/>
            <a:ext cx="4251960" cy="228600"/>
          </a:xfrm>
          <a:prstGeom prst="rect">
            <a:avLst/>
          </a:prstGeom>
          <a:solidFill>
            <a:srgbClr val="F8FAFF"/>
          </a:solidFill>
          <a:ln w="3810">
            <a:solidFill>
              <a:srgbClr val="D8E0F0"/>
            </a:solidFill>
            <a:prstDash val="solid"/>
          </a:ln>
        </p:spPr>
      </p:sp>
      <p:sp>
        <p:nvSpPr>
          <p:cNvPr id="35" name="Text 32"/>
          <p:cNvSpPr/>
          <p:nvPr/>
        </p:nvSpPr>
        <p:spPr>
          <a:xfrm>
            <a:off x="310896" y="4366260"/>
            <a:ext cx="1554480" cy="173736"/>
          </a:xfrm>
          <a:prstGeom prst="rect">
            <a:avLst/>
          </a:prstGeom>
          <a:noFill/>
        </p:spPr>
        <p:txBody>
          <a:bodyPr wrap="square" lIns="0" tIns="0" rIns="0" bIns="0" rtlCol="0" anchor="ctr"/>
          <a:lstStyle/>
          <a:p>
            <a:pPr marL="0" indent="0">
              <a:buNone/>
            </a:pPr>
            <a:r>
              <a:rPr lang="en-US" sz="850" b="1" dirty="0">
                <a:solidFill>
                  <a:srgbClr val="6062FF"/>
                </a:solidFill>
                <a:latin typeface="Calibri" panose="020F0502020204030204" pitchFamily="34" charset="0"/>
                <a:ea typeface="Calibri" panose="020F0502020204030204" pitchFamily="34" charset="-122"/>
                <a:cs typeface="Calibri" panose="020F0502020204030204" pitchFamily="34" charset="-120"/>
              </a:rPr>
              <a:t>Shake2Safety</a:t>
            </a:r>
            <a:endParaRPr lang="en-US" sz="850" dirty="0"/>
          </a:p>
        </p:txBody>
      </p:sp>
      <p:sp>
        <p:nvSpPr>
          <p:cNvPr id="36" name="Text 33"/>
          <p:cNvSpPr/>
          <p:nvPr/>
        </p:nvSpPr>
        <p:spPr>
          <a:xfrm>
            <a:off x="1901952" y="4366260"/>
            <a:ext cx="2514600" cy="173736"/>
          </a:xfrm>
          <a:prstGeom prst="rect">
            <a:avLst/>
          </a:prstGeom>
          <a:noFill/>
        </p:spPr>
        <p:txBody>
          <a:bodyPr wrap="square" lIns="0" tIns="0" rIns="0" bIns="0" rtlCol="0" anchor="ctr"/>
          <a:lstStyle/>
          <a:p>
            <a:pPr marL="0" indent="0">
              <a:buNone/>
            </a:pPr>
            <a:r>
              <a:rPr lang="en-US" sz="800" dirty="0">
                <a:solidFill>
                  <a:srgbClr val="333333"/>
                </a:solidFill>
                <a:latin typeface="Calibri" panose="020F0502020204030204" pitchFamily="34" charset="0"/>
                <a:ea typeface="Calibri" panose="020F0502020204030204" pitchFamily="34" charset="-122"/>
                <a:cs typeface="Calibri" panose="020F0502020204030204" pitchFamily="34" charset="-120"/>
              </a:rPr>
              <a:t>Shake only; no GPS, no auto-recording, no offline AI, no evidence logs</a:t>
            </a:r>
            <a:endParaRPr lang="en-US" sz="800" dirty="0"/>
          </a:p>
        </p:txBody>
      </p:sp>
      <p:sp>
        <p:nvSpPr>
          <p:cNvPr id="37" name="Shape 34"/>
          <p:cNvSpPr/>
          <p:nvPr/>
        </p:nvSpPr>
        <p:spPr>
          <a:xfrm>
            <a:off x="4608576" y="4338828"/>
            <a:ext cx="4251960" cy="228600"/>
          </a:xfrm>
          <a:prstGeom prst="rect">
            <a:avLst/>
          </a:prstGeom>
          <a:solidFill>
            <a:srgbClr val="F8FAFF"/>
          </a:solidFill>
          <a:ln w="3810">
            <a:solidFill>
              <a:srgbClr val="D8E0F0"/>
            </a:solidFill>
            <a:prstDash val="solid"/>
          </a:ln>
        </p:spPr>
      </p:sp>
      <p:sp>
        <p:nvSpPr>
          <p:cNvPr id="38" name="Text 35"/>
          <p:cNvSpPr/>
          <p:nvPr/>
        </p:nvSpPr>
        <p:spPr>
          <a:xfrm>
            <a:off x="4681728" y="4366260"/>
            <a:ext cx="1554480" cy="173736"/>
          </a:xfrm>
          <a:prstGeom prst="rect">
            <a:avLst/>
          </a:prstGeom>
          <a:noFill/>
        </p:spPr>
        <p:txBody>
          <a:bodyPr wrap="square" lIns="0" tIns="0" rIns="0" bIns="0" rtlCol="0" anchor="ctr"/>
          <a:lstStyle/>
          <a:p>
            <a:pPr marL="0" indent="0">
              <a:buNone/>
            </a:pPr>
            <a:r>
              <a:rPr lang="en-US" sz="850" b="1" dirty="0">
                <a:solidFill>
                  <a:srgbClr val="6062FF"/>
                </a:solidFill>
                <a:latin typeface="Calibri" panose="020F0502020204030204" pitchFamily="34" charset="0"/>
                <a:ea typeface="Calibri" panose="020F0502020204030204" pitchFamily="34" charset="-122"/>
                <a:cs typeface="Calibri" panose="020F0502020204030204" pitchFamily="34" charset="-120"/>
              </a:rPr>
              <a:t>Safetipin</a:t>
            </a:r>
            <a:endParaRPr lang="en-US" sz="850" dirty="0"/>
          </a:p>
        </p:txBody>
      </p:sp>
      <p:sp>
        <p:nvSpPr>
          <p:cNvPr id="39" name="Text 36"/>
          <p:cNvSpPr/>
          <p:nvPr/>
        </p:nvSpPr>
        <p:spPr>
          <a:xfrm>
            <a:off x="6272784" y="4366260"/>
            <a:ext cx="2514600" cy="173736"/>
          </a:xfrm>
          <a:prstGeom prst="rect">
            <a:avLst/>
          </a:prstGeom>
          <a:noFill/>
        </p:spPr>
        <p:txBody>
          <a:bodyPr wrap="square" lIns="0" tIns="0" rIns="0" bIns="0" rtlCol="0" anchor="ctr"/>
          <a:lstStyle/>
          <a:p>
            <a:pPr marL="0" indent="0">
              <a:buNone/>
            </a:pPr>
            <a:r>
              <a:rPr lang="en-US" sz="800" dirty="0">
                <a:solidFill>
                  <a:srgbClr val="333333"/>
                </a:solidFill>
                <a:latin typeface="Calibri" panose="020F0502020204030204" pitchFamily="34" charset="0"/>
                <a:ea typeface="Calibri" panose="020F0502020204030204" pitchFamily="34" charset="-122"/>
                <a:cs typeface="Calibri" panose="020F0502020204030204" pitchFamily="34" charset="-120"/>
              </a:rPr>
              <a:t>Map-based passive safety scoring; no real-time emergency alert system</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FFFFF"/>
          </a:solidFill>
          <a:ln w="12700">
            <a:solidFill>
              <a:srgbClr val="FFFFFF"/>
            </a:solidFill>
            <a:prstDash val="solid"/>
          </a:ln>
        </p:spPr>
      </p:sp>
      <p:sp>
        <p:nvSpPr>
          <p:cNvPr id="3" name="Shape 1"/>
          <p:cNvSpPr/>
          <p:nvPr/>
        </p:nvSpPr>
        <p:spPr>
          <a:xfrm>
            <a:off x="0" y="0"/>
            <a:ext cx="59436" cy="658368"/>
          </a:xfrm>
          <a:prstGeom prst="rect">
            <a:avLst/>
          </a:prstGeom>
          <a:solidFill>
            <a:srgbClr val="6062FF"/>
          </a:solidFill>
          <a:ln w="12700">
            <a:solidFill>
              <a:srgbClr val="6062FF"/>
            </a:solidFill>
            <a:prstDash val="solid"/>
          </a:ln>
        </p:spPr>
      </p:sp>
      <p:sp>
        <p:nvSpPr>
          <p:cNvPr id="4" name="Text 2"/>
          <p:cNvSpPr/>
          <p:nvPr/>
        </p:nvSpPr>
        <p:spPr>
          <a:xfrm>
            <a:off x="219456" y="91440"/>
            <a:ext cx="7772400" cy="457200"/>
          </a:xfrm>
          <a:prstGeom prst="rect">
            <a:avLst/>
          </a:prstGeom>
          <a:noFill/>
        </p:spPr>
        <p:txBody>
          <a:bodyPr wrap="square" lIns="0" tIns="0" rIns="0" bIns="0" rtlCol="0" anchor="ctr"/>
          <a:lstStyle/>
          <a:p>
            <a:pPr marL="0" indent="0">
              <a:buNone/>
            </a:pPr>
            <a:r>
              <a:rPr lang="en-US" sz="2200" b="1" dirty="0">
                <a:solidFill>
                  <a:srgbClr val="000000"/>
                </a:solidFill>
                <a:latin typeface="Calibri" panose="020F0502020204030204" pitchFamily="34" charset="0"/>
                <a:ea typeface="Calibri" panose="020F0502020204030204" pitchFamily="34" charset="-122"/>
                <a:cs typeface="Calibri" panose="020F0502020204030204" pitchFamily="34" charset="-120"/>
              </a:rPr>
              <a:t>Business Model Canvas</a:t>
            </a:r>
            <a:endParaRPr lang="en-US" sz="2200" dirty="0"/>
          </a:p>
        </p:txBody>
      </p:sp>
      <p:pic>
        <p:nvPicPr>
          <p:cNvPr id="5" name="Image 0" descr="preencoded.png"/>
          <p:cNvPicPr>
            <a:picLocks noChangeAspect="1"/>
          </p:cNvPicPr>
          <p:nvPr/>
        </p:nvPicPr>
        <p:blipFill>
          <a:blip r:embed="rId3"/>
          <a:stretch>
            <a:fillRect/>
          </a:stretch>
        </p:blipFill>
        <p:spPr>
          <a:xfrm>
            <a:off x="8321040" y="45720"/>
            <a:ext cx="658368" cy="658368"/>
          </a:xfrm>
          <a:prstGeom prst="rect">
            <a:avLst/>
          </a:prstGeom>
        </p:spPr>
      </p:pic>
      <p:sp>
        <p:nvSpPr>
          <p:cNvPr id="6" name="Shape 3"/>
          <p:cNvSpPr/>
          <p:nvPr/>
        </p:nvSpPr>
        <p:spPr>
          <a:xfrm>
            <a:off x="91440" y="694944"/>
            <a:ext cx="1719072" cy="1938528"/>
          </a:xfrm>
          <a:prstGeom prst="rect">
            <a:avLst/>
          </a:prstGeom>
          <a:solidFill>
            <a:srgbClr val="FFFFFF"/>
          </a:solidFill>
          <a:ln w="6350">
            <a:solidFill>
              <a:srgbClr val="CCCCCC"/>
            </a:solidFill>
            <a:prstDash val="solid"/>
          </a:ln>
        </p:spPr>
      </p:sp>
      <p:sp>
        <p:nvSpPr>
          <p:cNvPr id="7" name="Shape 4"/>
          <p:cNvSpPr/>
          <p:nvPr/>
        </p:nvSpPr>
        <p:spPr>
          <a:xfrm>
            <a:off x="91440" y="694944"/>
            <a:ext cx="1719072" cy="256032"/>
          </a:xfrm>
          <a:prstGeom prst="rect">
            <a:avLst/>
          </a:prstGeom>
          <a:solidFill>
            <a:srgbClr val="6062FF"/>
          </a:solidFill>
          <a:ln w="12700">
            <a:solidFill>
              <a:srgbClr val="6062FF"/>
            </a:solidFill>
            <a:prstDash val="solid"/>
          </a:ln>
        </p:spPr>
      </p:sp>
      <p:sp>
        <p:nvSpPr>
          <p:cNvPr id="8" name="Text 5"/>
          <p:cNvSpPr/>
          <p:nvPr/>
        </p:nvSpPr>
        <p:spPr>
          <a:xfrm>
            <a:off x="155448" y="694944"/>
            <a:ext cx="1627632" cy="256032"/>
          </a:xfrm>
          <a:prstGeom prst="rect">
            <a:avLst/>
          </a:prstGeom>
          <a:noFill/>
        </p:spPr>
        <p:txBody>
          <a:bodyPr wrap="square" lIns="0" tIns="0" rIns="0" bIns="0" rtlCol="0" anchor="ctr"/>
          <a:lstStyle/>
          <a:p>
            <a:pPr marL="0" indent="0">
              <a:buNone/>
            </a:pPr>
            <a:r>
              <a:rPr lang="en-US" sz="850" b="1" dirty="0">
                <a:solidFill>
                  <a:srgbClr val="FFFFFF"/>
                </a:solidFill>
                <a:latin typeface="Calibri" panose="020F0502020204030204" pitchFamily="34" charset="0"/>
                <a:ea typeface="Calibri" panose="020F0502020204030204" pitchFamily="34" charset="-122"/>
                <a:cs typeface="Calibri" panose="020F0502020204030204" pitchFamily="34" charset="-120"/>
              </a:rPr>
              <a:t>Key Partners</a:t>
            </a:r>
            <a:endParaRPr lang="en-US" sz="850" dirty="0"/>
          </a:p>
        </p:txBody>
      </p:sp>
      <p:sp>
        <p:nvSpPr>
          <p:cNvPr id="9" name="Text 6"/>
          <p:cNvSpPr/>
          <p:nvPr/>
        </p:nvSpPr>
        <p:spPr>
          <a:xfrm>
            <a:off x="155448" y="969264"/>
            <a:ext cx="1609344" cy="1627632"/>
          </a:xfrm>
          <a:prstGeom prst="rect">
            <a:avLst/>
          </a:prstGeom>
          <a:noFill/>
        </p:spPr>
        <p:txBody>
          <a:bodyPr wrap="square" lIns="0" tIns="0" rIns="0" bIns="0" rtlCol="0" anchor="ctr"/>
          <a:lstStyle/>
          <a:p>
            <a:pPr marL="0" indent="0">
              <a:buNone/>
            </a:pPr>
            <a:r>
              <a:rPr lang="en-US" sz="750" dirty="0">
                <a:solidFill>
                  <a:srgbClr val="333333"/>
                </a:solidFill>
                <a:latin typeface="Calibri" panose="020F0502020204030204" pitchFamily="34" charset="0"/>
                <a:ea typeface="Calibri" panose="020F0502020204030204" pitchFamily="34" charset="-122"/>
                <a:cs typeface="Calibri" panose="020F0502020204030204" pitchFamily="34" charset="-120"/>
              </a:rPr>
              <a:t>• GIET University R&amp;D</a:t>
            </a:r>
            <a:endParaRPr lang="en-US" sz="750" dirty="0"/>
          </a:p>
          <a:p>
            <a:pPr marL="0" indent="0">
              <a:buNone/>
            </a:pPr>
            <a:r>
              <a:rPr lang="en-US" sz="750" dirty="0">
                <a:solidFill>
                  <a:srgbClr val="333333"/>
                </a:solidFill>
                <a:latin typeface="Calibri" panose="020F0502020204030204" pitchFamily="34" charset="0"/>
                <a:ea typeface="Calibri" panose="020F0502020204030204" pitchFamily="34" charset="-122"/>
                <a:cs typeface="Calibri" panose="020F0502020204030204" pitchFamily="34" charset="-120"/>
              </a:rPr>
              <a:t>• Google Play Store</a:t>
            </a:r>
            <a:endParaRPr lang="en-US" sz="750" dirty="0"/>
          </a:p>
          <a:p>
            <a:pPr marL="0" indent="0">
              <a:buNone/>
            </a:pPr>
            <a:r>
              <a:rPr lang="en-US" sz="750" dirty="0">
                <a:solidFill>
                  <a:srgbClr val="333333"/>
                </a:solidFill>
                <a:latin typeface="Calibri" panose="020F0502020204030204" pitchFamily="34" charset="0"/>
                <a:ea typeface="Calibri" panose="020F0502020204030204" pitchFamily="34" charset="-122"/>
                <a:cs typeface="Calibri" panose="020F0502020204030204" pitchFamily="34" charset="-120"/>
              </a:rPr>
              <a:t>• Android / Google</a:t>
            </a:r>
            <a:endParaRPr lang="en-US" sz="750" dirty="0"/>
          </a:p>
          <a:p>
            <a:pPr marL="0" indent="0">
              <a:buNone/>
            </a:pPr>
            <a:r>
              <a:rPr lang="en-US" sz="750" dirty="0">
                <a:solidFill>
                  <a:srgbClr val="333333"/>
                </a:solidFill>
                <a:latin typeface="Calibri" panose="020F0502020204030204" pitchFamily="34" charset="0"/>
                <a:ea typeface="Calibri" panose="020F0502020204030204" pitchFamily="34" charset="-122"/>
                <a:cs typeface="Calibri" panose="020F0502020204030204" pitchFamily="34" charset="-120"/>
              </a:rPr>
              <a:t>• NGO safety networks</a:t>
            </a:r>
            <a:endParaRPr lang="en-US" sz="750" dirty="0"/>
          </a:p>
          <a:p>
            <a:pPr marL="0" indent="0">
              <a:buNone/>
            </a:pPr>
            <a:r>
              <a:rPr lang="en-US" sz="750" dirty="0">
                <a:solidFill>
                  <a:srgbClr val="333333"/>
                </a:solidFill>
                <a:latin typeface="Calibri" panose="020F0502020204030204" pitchFamily="34" charset="0"/>
                <a:ea typeface="Calibri" panose="020F0502020204030204" pitchFamily="34" charset="-122"/>
                <a:cs typeface="Calibri" panose="020F0502020204030204" pitchFamily="34" charset="-120"/>
              </a:rPr>
              <a:t>• Telecom providers</a:t>
            </a:r>
            <a:endParaRPr lang="en-US" sz="750" dirty="0"/>
          </a:p>
        </p:txBody>
      </p:sp>
      <p:sp>
        <p:nvSpPr>
          <p:cNvPr id="10" name="Shape 7"/>
          <p:cNvSpPr/>
          <p:nvPr/>
        </p:nvSpPr>
        <p:spPr>
          <a:xfrm>
            <a:off x="1865376" y="694944"/>
            <a:ext cx="1719072" cy="914400"/>
          </a:xfrm>
          <a:prstGeom prst="rect">
            <a:avLst/>
          </a:prstGeom>
          <a:solidFill>
            <a:srgbClr val="FFFFFF"/>
          </a:solidFill>
          <a:ln w="6350">
            <a:solidFill>
              <a:srgbClr val="CCCCCC"/>
            </a:solidFill>
            <a:prstDash val="solid"/>
          </a:ln>
        </p:spPr>
      </p:sp>
      <p:sp>
        <p:nvSpPr>
          <p:cNvPr id="11" name="Shape 8"/>
          <p:cNvSpPr/>
          <p:nvPr/>
        </p:nvSpPr>
        <p:spPr>
          <a:xfrm>
            <a:off x="1865376" y="694944"/>
            <a:ext cx="1719072" cy="256032"/>
          </a:xfrm>
          <a:prstGeom prst="rect">
            <a:avLst/>
          </a:prstGeom>
          <a:solidFill>
            <a:srgbClr val="0F9ED5"/>
          </a:solidFill>
          <a:ln w="12700">
            <a:solidFill>
              <a:srgbClr val="0F9ED5"/>
            </a:solidFill>
            <a:prstDash val="solid"/>
          </a:ln>
        </p:spPr>
      </p:sp>
      <p:sp>
        <p:nvSpPr>
          <p:cNvPr id="12" name="Text 9"/>
          <p:cNvSpPr/>
          <p:nvPr/>
        </p:nvSpPr>
        <p:spPr>
          <a:xfrm>
            <a:off x="1929384" y="694944"/>
            <a:ext cx="1627632" cy="256032"/>
          </a:xfrm>
          <a:prstGeom prst="rect">
            <a:avLst/>
          </a:prstGeom>
          <a:noFill/>
        </p:spPr>
        <p:txBody>
          <a:bodyPr wrap="square" lIns="0" tIns="0" rIns="0" bIns="0" rtlCol="0" anchor="ctr"/>
          <a:lstStyle/>
          <a:p>
            <a:pPr marL="0" indent="0">
              <a:buNone/>
            </a:pPr>
            <a:r>
              <a:rPr lang="en-US" sz="850" b="1" dirty="0">
                <a:solidFill>
                  <a:srgbClr val="FFFFFF"/>
                </a:solidFill>
                <a:latin typeface="Calibri" panose="020F0502020204030204" pitchFamily="34" charset="0"/>
                <a:ea typeface="Calibri" panose="020F0502020204030204" pitchFamily="34" charset="-122"/>
                <a:cs typeface="Calibri" panose="020F0502020204030204" pitchFamily="34" charset="-120"/>
              </a:rPr>
              <a:t>Key Activities</a:t>
            </a:r>
            <a:endParaRPr lang="en-US" sz="850" dirty="0"/>
          </a:p>
        </p:txBody>
      </p:sp>
      <p:sp>
        <p:nvSpPr>
          <p:cNvPr id="13" name="Text 10"/>
          <p:cNvSpPr/>
          <p:nvPr/>
        </p:nvSpPr>
        <p:spPr>
          <a:xfrm>
            <a:off x="1929384" y="969264"/>
            <a:ext cx="1609344" cy="603504"/>
          </a:xfrm>
          <a:prstGeom prst="rect">
            <a:avLst/>
          </a:prstGeom>
          <a:noFill/>
        </p:spPr>
        <p:txBody>
          <a:bodyPr wrap="square" lIns="0" tIns="0" rIns="0" bIns="0" rtlCol="0" anchor="ctr"/>
          <a:lstStyle/>
          <a:p>
            <a:pPr marL="0" indent="0">
              <a:buNone/>
            </a:pPr>
            <a:r>
              <a:rPr lang="en-US" sz="750" dirty="0">
                <a:solidFill>
                  <a:srgbClr val="333333"/>
                </a:solidFill>
                <a:latin typeface="Calibri" panose="020F0502020204030204" pitchFamily="34" charset="0"/>
                <a:ea typeface="Calibri" panose="020F0502020204030204" pitchFamily="34" charset="-122"/>
                <a:cs typeface="Calibri" panose="020F0502020204030204" pitchFamily="34" charset="-120"/>
              </a:rPr>
              <a:t>• App development</a:t>
            </a:r>
            <a:endParaRPr lang="en-US" sz="750" dirty="0"/>
          </a:p>
          <a:p>
            <a:pPr marL="0" indent="0">
              <a:buNone/>
            </a:pPr>
            <a:r>
              <a:rPr lang="en-US" sz="750" dirty="0">
                <a:solidFill>
                  <a:srgbClr val="333333"/>
                </a:solidFill>
                <a:latin typeface="Calibri" panose="020F0502020204030204" pitchFamily="34" charset="0"/>
                <a:ea typeface="Calibri" panose="020F0502020204030204" pitchFamily="34" charset="-122"/>
                <a:cs typeface="Calibri" panose="020F0502020204030204" pitchFamily="34" charset="-120"/>
              </a:rPr>
              <a:t>• Safety AI KB updates</a:t>
            </a:r>
            <a:endParaRPr lang="en-US" sz="750" dirty="0"/>
          </a:p>
          <a:p>
            <a:pPr marL="0" indent="0">
              <a:buNone/>
            </a:pPr>
            <a:r>
              <a:rPr lang="en-US" sz="750" dirty="0">
                <a:solidFill>
                  <a:srgbClr val="333333"/>
                </a:solidFill>
                <a:latin typeface="Calibri" panose="020F0502020204030204" pitchFamily="34" charset="0"/>
                <a:ea typeface="Calibri" panose="020F0502020204030204" pitchFamily="34" charset="-122"/>
                <a:cs typeface="Calibri" panose="020F0502020204030204" pitchFamily="34" charset="-120"/>
              </a:rPr>
              <a:t>• Campus outreach</a:t>
            </a:r>
            <a:endParaRPr lang="en-US" sz="750" dirty="0"/>
          </a:p>
        </p:txBody>
      </p:sp>
      <p:sp>
        <p:nvSpPr>
          <p:cNvPr id="14" name="Shape 11"/>
          <p:cNvSpPr/>
          <p:nvPr/>
        </p:nvSpPr>
        <p:spPr>
          <a:xfrm>
            <a:off x="3639312" y="694944"/>
            <a:ext cx="1737360" cy="1938528"/>
          </a:xfrm>
          <a:prstGeom prst="rect">
            <a:avLst/>
          </a:prstGeom>
          <a:solidFill>
            <a:srgbClr val="FFFFFF"/>
          </a:solidFill>
          <a:ln w="6350">
            <a:solidFill>
              <a:srgbClr val="CCCCCC"/>
            </a:solidFill>
            <a:prstDash val="solid"/>
          </a:ln>
        </p:spPr>
      </p:sp>
      <p:sp>
        <p:nvSpPr>
          <p:cNvPr id="15" name="Shape 12"/>
          <p:cNvSpPr/>
          <p:nvPr/>
        </p:nvSpPr>
        <p:spPr>
          <a:xfrm>
            <a:off x="3639312" y="694944"/>
            <a:ext cx="1737360" cy="256032"/>
          </a:xfrm>
          <a:prstGeom prst="rect">
            <a:avLst/>
          </a:prstGeom>
          <a:solidFill>
            <a:srgbClr val="E74C3C"/>
          </a:solidFill>
          <a:ln w="12700">
            <a:solidFill>
              <a:srgbClr val="E74C3C"/>
            </a:solidFill>
            <a:prstDash val="solid"/>
          </a:ln>
        </p:spPr>
      </p:sp>
      <p:sp>
        <p:nvSpPr>
          <p:cNvPr id="16" name="Text 13"/>
          <p:cNvSpPr/>
          <p:nvPr/>
        </p:nvSpPr>
        <p:spPr>
          <a:xfrm>
            <a:off x="3703320" y="694944"/>
            <a:ext cx="1645920" cy="256032"/>
          </a:xfrm>
          <a:prstGeom prst="rect">
            <a:avLst/>
          </a:prstGeom>
          <a:noFill/>
        </p:spPr>
        <p:txBody>
          <a:bodyPr wrap="square" lIns="0" tIns="0" rIns="0" bIns="0" rtlCol="0" anchor="ctr"/>
          <a:lstStyle/>
          <a:p>
            <a:pPr marL="0" indent="0">
              <a:buNone/>
            </a:pPr>
            <a:r>
              <a:rPr lang="en-US" sz="850" b="1" dirty="0">
                <a:solidFill>
                  <a:srgbClr val="FFFFFF"/>
                </a:solidFill>
                <a:latin typeface="Calibri" panose="020F0502020204030204" pitchFamily="34" charset="0"/>
                <a:ea typeface="Calibri" panose="020F0502020204030204" pitchFamily="34" charset="-122"/>
                <a:cs typeface="Calibri" panose="020F0502020204030204" pitchFamily="34" charset="-120"/>
              </a:rPr>
              <a:t>Value Propositions</a:t>
            </a:r>
            <a:endParaRPr lang="en-US" sz="850" dirty="0"/>
          </a:p>
        </p:txBody>
      </p:sp>
      <p:sp>
        <p:nvSpPr>
          <p:cNvPr id="17" name="Text 14"/>
          <p:cNvSpPr/>
          <p:nvPr/>
        </p:nvSpPr>
        <p:spPr>
          <a:xfrm>
            <a:off x="3703320" y="969264"/>
            <a:ext cx="1627632" cy="1627632"/>
          </a:xfrm>
          <a:prstGeom prst="rect">
            <a:avLst/>
          </a:prstGeom>
          <a:noFill/>
        </p:spPr>
        <p:txBody>
          <a:bodyPr wrap="square" lIns="0" tIns="0" rIns="0" bIns="0" rtlCol="0" anchor="ctr"/>
          <a:lstStyle/>
          <a:p>
            <a:pPr marL="0" indent="0">
              <a:buNone/>
            </a:pPr>
            <a:r>
              <a:rPr lang="en-US" sz="750" dirty="0">
                <a:solidFill>
                  <a:srgbClr val="333333"/>
                </a:solidFill>
                <a:latin typeface="Calibri" panose="020F0502020204030204" pitchFamily="34" charset="0"/>
                <a:ea typeface="Calibri" panose="020F0502020204030204" pitchFamily="34" charset="-122"/>
                <a:cs typeface="Calibri" panose="020F0502020204030204" pitchFamily="34" charset="-120"/>
              </a:rPr>
              <a:t>• Free offline safety app</a:t>
            </a:r>
            <a:endParaRPr lang="en-US" sz="750" dirty="0"/>
          </a:p>
          <a:p>
            <a:pPr marL="0" indent="0">
              <a:buNone/>
            </a:pPr>
            <a:r>
              <a:rPr lang="en-US" sz="750" dirty="0">
                <a:solidFill>
                  <a:srgbClr val="333333"/>
                </a:solidFill>
                <a:latin typeface="Calibri" panose="020F0502020204030204" pitchFamily="34" charset="0"/>
                <a:ea typeface="Calibri" panose="020F0502020204030204" pitchFamily="34" charset="-122"/>
                <a:cs typeface="Calibri" panose="020F0502020204030204" pitchFamily="34" charset="-120"/>
              </a:rPr>
              <a:t>• Covert SOS (Vol×4, Shake)</a:t>
            </a:r>
            <a:endParaRPr lang="en-US" sz="750" dirty="0"/>
          </a:p>
          <a:p>
            <a:pPr marL="0" indent="0">
              <a:buNone/>
            </a:pPr>
            <a:r>
              <a:rPr lang="en-US" sz="750" dirty="0">
                <a:solidFill>
                  <a:srgbClr val="333333"/>
                </a:solidFill>
                <a:latin typeface="Calibri" panose="020F0502020204030204" pitchFamily="34" charset="0"/>
                <a:ea typeface="Calibri" panose="020F0502020204030204" pitchFamily="34" charset="-122"/>
                <a:cs typeface="Calibri" panose="020F0502020204030204" pitchFamily="34" charset="-120"/>
              </a:rPr>
              <a:t>• Auto voice recording</a:t>
            </a:r>
            <a:endParaRPr lang="en-US" sz="750" dirty="0"/>
          </a:p>
          <a:p>
            <a:pPr marL="0" indent="0">
              <a:buNone/>
            </a:pPr>
            <a:r>
              <a:rPr lang="en-US" sz="750" dirty="0">
                <a:solidFill>
                  <a:srgbClr val="333333"/>
                </a:solidFill>
                <a:latin typeface="Calibri" panose="020F0502020204030204" pitchFamily="34" charset="0"/>
                <a:ea typeface="Calibri" panose="020F0502020204030204" pitchFamily="34" charset="-122"/>
                <a:cs typeface="Calibri" panose="020F0502020204030204" pitchFamily="34" charset="-120"/>
              </a:rPr>
              <a:t>• Offline AI safety guide</a:t>
            </a:r>
            <a:endParaRPr lang="en-US" sz="750" dirty="0"/>
          </a:p>
          <a:p>
            <a:pPr marL="0" indent="0">
              <a:buNone/>
            </a:pPr>
            <a:r>
              <a:rPr lang="en-US" sz="750" dirty="0">
                <a:solidFill>
                  <a:srgbClr val="333333"/>
                </a:solidFill>
                <a:latin typeface="Calibri" panose="020F0502020204030204" pitchFamily="34" charset="0"/>
                <a:ea typeface="Calibri" panose="020F0502020204030204" pitchFamily="34" charset="-122"/>
                <a:cs typeface="Calibri" panose="020F0502020204030204" pitchFamily="34" charset="-120"/>
              </a:rPr>
              <a:t>• Safe Walk timer</a:t>
            </a:r>
            <a:endParaRPr lang="en-US" sz="750" dirty="0"/>
          </a:p>
        </p:txBody>
      </p:sp>
      <p:sp>
        <p:nvSpPr>
          <p:cNvPr id="18" name="Shape 15"/>
          <p:cNvSpPr/>
          <p:nvPr/>
        </p:nvSpPr>
        <p:spPr>
          <a:xfrm>
            <a:off x="5431536" y="694944"/>
            <a:ext cx="1719072" cy="914400"/>
          </a:xfrm>
          <a:prstGeom prst="rect">
            <a:avLst/>
          </a:prstGeom>
          <a:solidFill>
            <a:srgbClr val="FFFFFF"/>
          </a:solidFill>
          <a:ln w="6350">
            <a:solidFill>
              <a:srgbClr val="CCCCCC"/>
            </a:solidFill>
            <a:prstDash val="solid"/>
          </a:ln>
        </p:spPr>
      </p:sp>
      <p:sp>
        <p:nvSpPr>
          <p:cNvPr id="19" name="Shape 16"/>
          <p:cNvSpPr/>
          <p:nvPr/>
        </p:nvSpPr>
        <p:spPr>
          <a:xfrm>
            <a:off x="5431536" y="694944"/>
            <a:ext cx="1719072" cy="256032"/>
          </a:xfrm>
          <a:prstGeom prst="rect">
            <a:avLst/>
          </a:prstGeom>
          <a:solidFill>
            <a:srgbClr val="27AE60"/>
          </a:solidFill>
          <a:ln w="12700">
            <a:solidFill>
              <a:srgbClr val="27AE60"/>
            </a:solidFill>
            <a:prstDash val="solid"/>
          </a:ln>
        </p:spPr>
      </p:sp>
      <p:sp>
        <p:nvSpPr>
          <p:cNvPr id="20" name="Text 17"/>
          <p:cNvSpPr/>
          <p:nvPr/>
        </p:nvSpPr>
        <p:spPr>
          <a:xfrm>
            <a:off x="5495544" y="694944"/>
            <a:ext cx="1627632" cy="256032"/>
          </a:xfrm>
          <a:prstGeom prst="rect">
            <a:avLst/>
          </a:prstGeom>
          <a:noFill/>
        </p:spPr>
        <p:txBody>
          <a:bodyPr wrap="square" lIns="0" tIns="0" rIns="0" bIns="0" rtlCol="0" anchor="ctr"/>
          <a:lstStyle/>
          <a:p>
            <a:pPr marL="0" indent="0">
              <a:buNone/>
            </a:pPr>
            <a:r>
              <a:rPr lang="en-US" sz="850" b="1" dirty="0">
                <a:solidFill>
                  <a:srgbClr val="FFFFFF"/>
                </a:solidFill>
                <a:latin typeface="Calibri" panose="020F0502020204030204" pitchFamily="34" charset="0"/>
                <a:ea typeface="Calibri" panose="020F0502020204030204" pitchFamily="34" charset="-122"/>
                <a:cs typeface="Calibri" panose="020F0502020204030204" pitchFamily="34" charset="-120"/>
              </a:rPr>
              <a:t>Customer Relationships</a:t>
            </a:r>
            <a:endParaRPr lang="en-US" sz="850" dirty="0"/>
          </a:p>
        </p:txBody>
      </p:sp>
      <p:sp>
        <p:nvSpPr>
          <p:cNvPr id="21" name="Text 18"/>
          <p:cNvSpPr/>
          <p:nvPr/>
        </p:nvSpPr>
        <p:spPr>
          <a:xfrm>
            <a:off x="5495544" y="969264"/>
            <a:ext cx="1609344" cy="603504"/>
          </a:xfrm>
          <a:prstGeom prst="rect">
            <a:avLst/>
          </a:prstGeom>
          <a:noFill/>
        </p:spPr>
        <p:txBody>
          <a:bodyPr wrap="square" lIns="0" tIns="0" rIns="0" bIns="0" rtlCol="0" anchor="ctr"/>
          <a:lstStyle/>
          <a:p>
            <a:pPr marL="0" indent="0">
              <a:buNone/>
            </a:pPr>
            <a:r>
              <a:rPr lang="en-US" sz="750" dirty="0">
                <a:solidFill>
                  <a:srgbClr val="333333"/>
                </a:solidFill>
                <a:latin typeface="Calibri" panose="020F0502020204030204" pitchFamily="34" charset="0"/>
                <a:ea typeface="Calibri" panose="020F0502020204030204" pitchFamily="34" charset="-122"/>
                <a:cs typeface="Calibri" panose="020F0502020204030204" pitchFamily="34" charset="-120"/>
              </a:rPr>
              <a:t>• Community-driven updates</a:t>
            </a:r>
            <a:endParaRPr lang="en-US" sz="750" dirty="0"/>
          </a:p>
          <a:p>
            <a:pPr marL="0" indent="0">
              <a:buNone/>
            </a:pPr>
            <a:r>
              <a:rPr lang="en-US" sz="750" dirty="0">
                <a:solidFill>
                  <a:srgbClr val="333333"/>
                </a:solidFill>
                <a:latin typeface="Calibri" panose="020F0502020204030204" pitchFamily="34" charset="0"/>
                <a:ea typeface="Calibri" panose="020F0502020204030204" pitchFamily="34" charset="-122"/>
                <a:cs typeface="Calibri" panose="020F0502020204030204" pitchFamily="34" charset="-120"/>
              </a:rPr>
              <a:t>• Ambassador program</a:t>
            </a:r>
            <a:endParaRPr lang="en-US" sz="750" dirty="0"/>
          </a:p>
          <a:p>
            <a:pPr marL="0" indent="0">
              <a:buNone/>
            </a:pPr>
            <a:r>
              <a:rPr lang="en-US" sz="750" dirty="0">
                <a:solidFill>
                  <a:srgbClr val="333333"/>
                </a:solidFill>
                <a:latin typeface="Calibri" panose="020F0502020204030204" pitchFamily="34" charset="0"/>
                <a:ea typeface="Calibri" panose="020F0502020204030204" pitchFamily="34" charset="-122"/>
                <a:cs typeface="Calibri" panose="020F0502020204030204" pitchFamily="34" charset="-120"/>
              </a:rPr>
              <a:t>• Peer-sharing &amp; referrals</a:t>
            </a:r>
            <a:endParaRPr lang="en-US" sz="750" dirty="0"/>
          </a:p>
        </p:txBody>
      </p:sp>
      <p:sp>
        <p:nvSpPr>
          <p:cNvPr id="22" name="Shape 19"/>
          <p:cNvSpPr/>
          <p:nvPr/>
        </p:nvSpPr>
        <p:spPr>
          <a:xfrm>
            <a:off x="7205472" y="694944"/>
            <a:ext cx="1792224" cy="1938528"/>
          </a:xfrm>
          <a:prstGeom prst="rect">
            <a:avLst/>
          </a:prstGeom>
          <a:solidFill>
            <a:srgbClr val="FFFFFF"/>
          </a:solidFill>
          <a:ln w="6350">
            <a:solidFill>
              <a:srgbClr val="CCCCCC"/>
            </a:solidFill>
            <a:prstDash val="solid"/>
          </a:ln>
        </p:spPr>
      </p:sp>
      <p:sp>
        <p:nvSpPr>
          <p:cNvPr id="23" name="Shape 20"/>
          <p:cNvSpPr/>
          <p:nvPr/>
        </p:nvSpPr>
        <p:spPr>
          <a:xfrm>
            <a:off x="7205472" y="694944"/>
            <a:ext cx="1792224" cy="256032"/>
          </a:xfrm>
          <a:prstGeom prst="rect">
            <a:avLst/>
          </a:prstGeom>
          <a:solidFill>
            <a:srgbClr val="8E44AD"/>
          </a:solidFill>
          <a:ln w="12700">
            <a:solidFill>
              <a:srgbClr val="8E44AD"/>
            </a:solidFill>
            <a:prstDash val="solid"/>
          </a:ln>
        </p:spPr>
      </p:sp>
      <p:sp>
        <p:nvSpPr>
          <p:cNvPr id="24" name="Text 21"/>
          <p:cNvSpPr/>
          <p:nvPr/>
        </p:nvSpPr>
        <p:spPr>
          <a:xfrm>
            <a:off x="7269480" y="694944"/>
            <a:ext cx="1700784" cy="256032"/>
          </a:xfrm>
          <a:prstGeom prst="rect">
            <a:avLst/>
          </a:prstGeom>
          <a:noFill/>
        </p:spPr>
        <p:txBody>
          <a:bodyPr wrap="square" lIns="0" tIns="0" rIns="0" bIns="0" rtlCol="0" anchor="ctr"/>
          <a:lstStyle/>
          <a:p>
            <a:pPr marL="0" indent="0">
              <a:buNone/>
            </a:pPr>
            <a:r>
              <a:rPr lang="en-US" sz="850" b="1" dirty="0">
                <a:solidFill>
                  <a:srgbClr val="FFFFFF"/>
                </a:solidFill>
                <a:latin typeface="Calibri" panose="020F0502020204030204" pitchFamily="34" charset="0"/>
                <a:ea typeface="Calibri" panose="020F0502020204030204" pitchFamily="34" charset="-122"/>
                <a:cs typeface="Calibri" panose="020F0502020204030204" pitchFamily="34" charset="-120"/>
              </a:rPr>
              <a:t>Customer Segments</a:t>
            </a:r>
            <a:endParaRPr lang="en-US" sz="850" dirty="0"/>
          </a:p>
        </p:txBody>
      </p:sp>
      <p:sp>
        <p:nvSpPr>
          <p:cNvPr id="25" name="Text 22"/>
          <p:cNvSpPr/>
          <p:nvPr/>
        </p:nvSpPr>
        <p:spPr>
          <a:xfrm>
            <a:off x="7269480" y="969264"/>
            <a:ext cx="1682496" cy="1627632"/>
          </a:xfrm>
          <a:prstGeom prst="rect">
            <a:avLst/>
          </a:prstGeom>
          <a:noFill/>
        </p:spPr>
        <p:txBody>
          <a:bodyPr wrap="square" lIns="0" tIns="0" rIns="0" bIns="0" rtlCol="0" anchor="ctr"/>
          <a:lstStyle/>
          <a:p>
            <a:pPr marL="0" indent="0">
              <a:buNone/>
            </a:pPr>
            <a:r>
              <a:rPr lang="en-US" sz="750" dirty="0">
                <a:solidFill>
                  <a:srgbClr val="333333"/>
                </a:solidFill>
                <a:latin typeface="Calibri" panose="020F0502020204030204" pitchFamily="34" charset="0"/>
                <a:ea typeface="Calibri" panose="020F0502020204030204" pitchFamily="34" charset="-122"/>
                <a:cs typeface="Calibri" panose="020F0502020204030204" pitchFamily="34" charset="-120"/>
              </a:rPr>
              <a:t>• College women students</a:t>
            </a:r>
            <a:endParaRPr lang="en-US" sz="750" dirty="0"/>
          </a:p>
          <a:p>
            <a:pPr marL="0" indent="0">
              <a:buNone/>
            </a:pPr>
            <a:r>
              <a:rPr lang="en-US" sz="750" dirty="0">
                <a:solidFill>
                  <a:srgbClr val="333333"/>
                </a:solidFill>
                <a:latin typeface="Calibri" panose="020F0502020204030204" pitchFamily="34" charset="0"/>
                <a:ea typeface="Calibri" panose="020F0502020204030204" pitchFamily="34" charset="-122"/>
                <a:cs typeface="Calibri" panose="020F0502020204030204" pitchFamily="34" charset="-120"/>
              </a:rPr>
              <a:t>• Working professionals</a:t>
            </a:r>
            <a:endParaRPr lang="en-US" sz="750" dirty="0"/>
          </a:p>
          <a:p>
            <a:pPr marL="0" indent="0">
              <a:buNone/>
            </a:pPr>
            <a:r>
              <a:rPr lang="en-US" sz="750" dirty="0">
                <a:solidFill>
                  <a:srgbClr val="333333"/>
                </a:solidFill>
                <a:latin typeface="Calibri" panose="020F0502020204030204" pitchFamily="34" charset="0"/>
                <a:ea typeface="Calibri" panose="020F0502020204030204" pitchFamily="34" charset="-122"/>
                <a:cs typeface="Calibri" panose="020F0502020204030204" pitchFamily="34" charset="-120"/>
              </a:rPr>
              <a:t>• Daily commuters</a:t>
            </a:r>
            <a:endParaRPr lang="en-US" sz="750" dirty="0"/>
          </a:p>
          <a:p>
            <a:pPr marL="0" indent="0">
              <a:buNone/>
            </a:pPr>
            <a:r>
              <a:rPr lang="en-US" sz="750" dirty="0">
                <a:solidFill>
                  <a:srgbClr val="333333"/>
                </a:solidFill>
                <a:latin typeface="Calibri" panose="020F0502020204030204" pitchFamily="34" charset="0"/>
                <a:ea typeface="Calibri" panose="020F0502020204030204" pitchFamily="34" charset="-122"/>
                <a:cs typeface="Calibri" panose="020F0502020204030204" pitchFamily="34" charset="-120"/>
              </a:rPr>
              <a:t>• Parents of daughters</a:t>
            </a:r>
            <a:endParaRPr lang="en-US" sz="750" dirty="0"/>
          </a:p>
          <a:p>
            <a:pPr marL="0" indent="0">
              <a:buNone/>
            </a:pPr>
            <a:r>
              <a:rPr lang="en-US" sz="750" dirty="0">
                <a:solidFill>
                  <a:srgbClr val="333333"/>
                </a:solidFill>
                <a:latin typeface="Calibri" panose="020F0502020204030204" pitchFamily="34" charset="0"/>
                <a:ea typeface="Calibri" panose="020F0502020204030204" pitchFamily="34" charset="-122"/>
                <a:cs typeface="Calibri" panose="020F0502020204030204" pitchFamily="34" charset="-120"/>
              </a:rPr>
              <a:t>• Safety advocates</a:t>
            </a:r>
            <a:endParaRPr lang="en-US" sz="750" dirty="0"/>
          </a:p>
        </p:txBody>
      </p:sp>
      <p:sp>
        <p:nvSpPr>
          <p:cNvPr id="26" name="Shape 23"/>
          <p:cNvSpPr/>
          <p:nvPr/>
        </p:nvSpPr>
        <p:spPr>
          <a:xfrm>
            <a:off x="1865376" y="1664208"/>
            <a:ext cx="1719072" cy="969264"/>
          </a:xfrm>
          <a:prstGeom prst="rect">
            <a:avLst/>
          </a:prstGeom>
          <a:solidFill>
            <a:srgbClr val="FFFFFF"/>
          </a:solidFill>
          <a:ln w="6350">
            <a:solidFill>
              <a:srgbClr val="CCCCCC"/>
            </a:solidFill>
            <a:prstDash val="solid"/>
          </a:ln>
        </p:spPr>
      </p:sp>
      <p:sp>
        <p:nvSpPr>
          <p:cNvPr id="27" name="Shape 24"/>
          <p:cNvSpPr/>
          <p:nvPr/>
        </p:nvSpPr>
        <p:spPr>
          <a:xfrm>
            <a:off x="1865376" y="1664208"/>
            <a:ext cx="1719072" cy="256032"/>
          </a:xfrm>
          <a:prstGeom prst="rect">
            <a:avLst/>
          </a:prstGeom>
          <a:solidFill>
            <a:srgbClr val="0F9ED5"/>
          </a:solidFill>
          <a:ln w="12700">
            <a:solidFill>
              <a:srgbClr val="0F9ED5"/>
            </a:solidFill>
            <a:prstDash val="solid"/>
          </a:ln>
        </p:spPr>
      </p:sp>
      <p:sp>
        <p:nvSpPr>
          <p:cNvPr id="28" name="Text 25"/>
          <p:cNvSpPr/>
          <p:nvPr/>
        </p:nvSpPr>
        <p:spPr>
          <a:xfrm>
            <a:off x="1929384" y="1664208"/>
            <a:ext cx="1627632" cy="256032"/>
          </a:xfrm>
          <a:prstGeom prst="rect">
            <a:avLst/>
          </a:prstGeom>
          <a:noFill/>
        </p:spPr>
        <p:txBody>
          <a:bodyPr wrap="square" lIns="0" tIns="0" rIns="0" bIns="0" rtlCol="0" anchor="ctr"/>
          <a:lstStyle/>
          <a:p>
            <a:pPr marL="0" indent="0">
              <a:buNone/>
            </a:pPr>
            <a:r>
              <a:rPr lang="en-US" sz="850" b="1" dirty="0">
                <a:solidFill>
                  <a:srgbClr val="FFFFFF"/>
                </a:solidFill>
                <a:latin typeface="Calibri" panose="020F0502020204030204" pitchFamily="34" charset="0"/>
                <a:ea typeface="Calibri" panose="020F0502020204030204" pitchFamily="34" charset="-122"/>
                <a:cs typeface="Calibri" panose="020F0502020204030204" pitchFamily="34" charset="-120"/>
              </a:rPr>
              <a:t>Key Resources</a:t>
            </a:r>
            <a:endParaRPr lang="en-US" sz="850" dirty="0"/>
          </a:p>
        </p:txBody>
      </p:sp>
      <p:sp>
        <p:nvSpPr>
          <p:cNvPr id="29" name="Text 26"/>
          <p:cNvSpPr/>
          <p:nvPr/>
        </p:nvSpPr>
        <p:spPr>
          <a:xfrm>
            <a:off x="1929384" y="1938528"/>
            <a:ext cx="1609344" cy="658368"/>
          </a:xfrm>
          <a:prstGeom prst="rect">
            <a:avLst/>
          </a:prstGeom>
          <a:noFill/>
        </p:spPr>
        <p:txBody>
          <a:bodyPr wrap="square" lIns="0" tIns="0" rIns="0" bIns="0" rtlCol="0" anchor="ctr"/>
          <a:lstStyle/>
          <a:p>
            <a:pPr marL="0" indent="0">
              <a:buNone/>
            </a:pPr>
            <a:r>
              <a:rPr lang="en-US" sz="750" dirty="0">
                <a:solidFill>
                  <a:srgbClr val="333333"/>
                </a:solidFill>
                <a:latin typeface="Calibri" panose="020F0502020204030204" pitchFamily="34" charset="0"/>
                <a:ea typeface="Calibri" panose="020F0502020204030204" pitchFamily="34" charset="-122"/>
                <a:cs typeface="Calibri" panose="020F0502020204030204" pitchFamily="34" charset="-120"/>
              </a:rPr>
              <a:t>• Dev team &amp; tools</a:t>
            </a:r>
            <a:endParaRPr lang="en-US" sz="750" dirty="0"/>
          </a:p>
          <a:p>
            <a:pPr marL="0" indent="0">
              <a:buNone/>
            </a:pPr>
            <a:r>
              <a:rPr lang="en-US" sz="750" dirty="0">
                <a:solidFill>
                  <a:srgbClr val="333333"/>
                </a:solidFill>
                <a:latin typeface="Calibri" panose="020F0502020204030204" pitchFamily="34" charset="0"/>
                <a:ea typeface="Calibri" panose="020F0502020204030204" pitchFamily="34" charset="-122"/>
                <a:cs typeface="Calibri" panose="020F0502020204030204" pitchFamily="34" charset="-120"/>
              </a:rPr>
              <a:t>• Safety knowledge base</a:t>
            </a:r>
            <a:endParaRPr lang="en-US" sz="750" dirty="0"/>
          </a:p>
          <a:p>
            <a:pPr marL="0" indent="0">
              <a:buNone/>
            </a:pPr>
            <a:r>
              <a:rPr lang="en-US" sz="750" dirty="0">
                <a:solidFill>
                  <a:srgbClr val="333333"/>
                </a:solidFill>
                <a:latin typeface="Calibri" panose="020F0502020204030204" pitchFamily="34" charset="0"/>
                <a:ea typeface="Calibri" panose="020F0502020204030204" pitchFamily="34" charset="-122"/>
                <a:cs typeface="Calibri" panose="020F0502020204030204" pitchFamily="34" charset="-120"/>
              </a:rPr>
              <a:t>• University infra</a:t>
            </a:r>
            <a:endParaRPr lang="en-US" sz="750" dirty="0"/>
          </a:p>
          <a:p>
            <a:pPr marL="0" indent="0">
              <a:buNone/>
            </a:pPr>
            <a:r>
              <a:rPr lang="en-US" sz="750" dirty="0">
                <a:solidFill>
                  <a:srgbClr val="333333"/>
                </a:solidFill>
                <a:latin typeface="Calibri" panose="020F0502020204030204" pitchFamily="34" charset="0"/>
                <a:ea typeface="Calibri" panose="020F0502020204030204" pitchFamily="34" charset="-122"/>
                <a:cs typeface="Calibri" panose="020F0502020204030204" pitchFamily="34" charset="-120"/>
              </a:rPr>
              <a:t>• Open-source libs</a:t>
            </a:r>
            <a:endParaRPr lang="en-US" sz="750" dirty="0"/>
          </a:p>
        </p:txBody>
      </p:sp>
      <p:sp>
        <p:nvSpPr>
          <p:cNvPr id="30" name="Shape 27"/>
          <p:cNvSpPr/>
          <p:nvPr/>
        </p:nvSpPr>
        <p:spPr>
          <a:xfrm>
            <a:off x="5431536" y="1664208"/>
            <a:ext cx="1719072" cy="969264"/>
          </a:xfrm>
          <a:prstGeom prst="rect">
            <a:avLst/>
          </a:prstGeom>
          <a:solidFill>
            <a:srgbClr val="FFFFFF"/>
          </a:solidFill>
          <a:ln w="6350">
            <a:solidFill>
              <a:srgbClr val="CCCCCC"/>
            </a:solidFill>
            <a:prstDash val="solid"/>
          </a:ln>
        </p:spPr>
      </p:sp>
      <p:sp>
        <p:nvSpPr>
          <p:cNvPr id="31" name="Shape 28"/>
          <p:cNvSpPr/>
          <p:nvPr/>
        </p:nvSpPr>
        <p:spPr>
          <a:xfrm>
            <a:off x="5431536" y="1664208"/>
            <a:ext cx="1719072" cy="256032"/>
          </a:xfrm>
          <a:prstGeom prst="rect">
            <a:avLst/>
          </a:prstGeom>
          <a:solidFill>
            <a:srgbClr val="27AE60"/>
          </a:solidFill>
          <a:ln w="12700">
            <a:solidFill>
              <a:srgbClr val="27AE60"/>
            </a:solidFill>
            <a:prstDash val="solid"/>
          </a:ln>
        </p:spPr>
      </p:sp>
      <p:sp>
        <p:nvSpPr>
          <p:cNvPr id="32" name="Text 29"/>
          <p:cNvSpPr/>
          <p:nvPr/>
        </p:nvSpPr>
        <p:spPr>
          <a:xfrm>
            <a:off x="5495544" y="1664208"/>
            <a:ext cx="1627632" cy="256032"/>
          </a:xfrm>
          <a:prstGeom prst="rect">
            <a:avLst/>
          </a:prstGeom>
          <a:noFill/>
        </p:spPr>
        <p:txBody>
          <a:bodyPr wrap="square" lIns="0" tIns="0" rIns="0" bIns="0" rtlCol="0" anchor="ctr"/>
          <a:lstStyle/>
          <a:p>
            <a:pPr marL="0" indent="0">
              <a:buNone/>
            </a:pPr>
            <a:r>
              <a:rPr lang="en-US" sz="850" b="1" dirty="0">
                <a:solidFill>
                  <a:srgbClr val="FFFFFF"/>
                </a:solidFill>
                <a:latin typeface="Calibri" panose="020F0502020204030204" pitchFamily="34" charset="0"/>
                <a:ea typeface="Calibri" panose="020F0502020204030204" pitchFamily="34" charset="-122"/>
                <a:cs typeface="Calibri" panose="020F0502020204030204" pitchFamily="34" charset="-120"/>
              </a:rPr>
              <a:t>Channels</a:t>
            </a:r>
            <a:endParaRPr lang="en-US" sz="850" dirty="0"/>
          </a:p>
        </p:txBody>
      </p:sp>
      <p:sp>
        <p:nvSpPr>
          <p:cNvPr id="33" name="Text 30"/>
          <p:cNvSpPr/>
          <p:nvPr/>
        </p:nvSpPr>
        <p:spPr>
          <a:xfrm>
            <a:off x="5495544" y="1938528"/>
            <a:ext cx="1609344" cy="658368"/>
          </a:xfrm>
          <a:prstGeom prst="rect">
            <a:avLst/>
          </a:prstGeom>
          <a:noFill/>
        </p:spPr>
        <p:txBody>
          <a:bodyPr wrap="square" lIns="0" tIns="0" rIns="0" bIns="0" rtlCol="0" anchor="ctr"/>
          <a:lstStyle/>
          <a:p>
            <a:pPr marL="0" indent="0">
              <a:buNone/>
            </a:pPr>
            <a:r>
              <a:rPr lang="en-US" sz="750" dirty="0">
                <a:solidFill>
                  <a:srgbClr val="333333"/>
                </a:solidFill>
                <a:latin typeface="Calibri" panose="020F0502020204030204" pitchFamily="34" charset="0"/>
                <a:ea typeface="Calibri" panose="020F0502020204030204" pitchFamily="34" charset="-122"/>
                <a:cs typeface="Calibri" panose="020F0502020204030204" pitchFamily="34" charset="-120"/>
              </a:rPr>
              <a:t>• APK direct download</a:t>
            </a:r>
            <a:endParaRPr lang="en-US" sz="750" dirty="0"/>
          </a:p>
          <a:p>
            <a:pPr marL="0" indent="0">
              <a:buNone/>
            </a:pPr>
            <a:r>
              <a:rPr lang="en-US" sz="750" dirty="0">
                <a:solidFill>
                  <a:srgbClr val="333333"/>
                </a:solidFill>
                <a:latin typeface="Calibri" panose="020F0502020204030204" pitchFamily="34" charset="0"/>
                <a:ea typeface="Calibri" panose="020F0502020204030204" pitchFamily="34" charset="-122"/>
                <a:cs typeface="Calibri" panose="020F0502020204030204" pitchFamily="34" charset="-120"/>
              </a:rPr>
              <a:t>• Campus WhatsApp</a:t>
            </a:r>
            <a:endParaRPr lang="en-US" sz="750" dirty="0"/>
          </a:p>
          <a:p>
            <a:pPr marL="0" indent="0">
              <a:buNone/>
            </a:pPr>
            <a:r>
              <a:rPr lang="en-US" sz="750" dirty="0">
                <a:solidFill>
                  <a:srgbClr val="333333"/>
                </a:solidFill>
                <a:latin typeface="Calibri" panose="020F0502020204030204" pitchFamily="34" charset="0"/>
                <a:ea typeface="Calibri" panose="020F0502020204030204" pitchFamily="34" charset="-122"/>
                <a:cs typeface="Calibri" panose="020F0502020204030204" pitchFamily="34" charset="-120"/>
              </a:rPr>
              <a:t>• Social media</a:t>
            </a:r>
            <a:endParaRPr lang="en-US" sz="750" dirty="0"/>
          </a:p>
          <a:p>
            <a:pPr marL="0" indent="0">
              <a:buNone/>
            </a:pPr>
            <a:r>
              <a:rPr lang="en-US" sz="750" dirty="0">
                <a:solidFill>
                  <a:srgbClr val="333333"/>
                </a:solidFill>
                <a:latin typeface="Calibri" panose="020F0502020204030204" pitchFamily="34" charset="0"/>
                <a:ea typeface="Calibri" panose="020F0502020204030204" pitchFamily="34" charset="-122"/>
                <a:cs typeface="Calibri" panose="020F0502020204030204" pitchFamily="34" charset="-120"/>
              </a:rPr>
              <a:t>• Google Play Store</a:t>
            </a:r>
            <a:endParaRPr lang="en-US" sz="750" dirty="0"/>
          </a:p>
        </p:txBody>
      </p:sp>
      <p:sp>
        <p:nvSpPr>
          <p:cNvPr id="34" name="Shape 31"/>
          <p:cNvSpPr/>
          <p:nvPr/>
        </p:nvSpPr>
        <p:spPr>
          <a:xfrm>
            <a:off x="91440" y="2688336"/>
            <a:ext cx="4389120" cy="1042416"/>
          </a:xfrm>
          <a:prstGeom prst="rect">
            <a:avLst/>
          </a:prstGeom>
          <a:solidFill>
            <a:srgbClr val="FFFFFF"/>
          </a:solidFill>
          <a:ln w="6350">
            <a:solidFill>
              <a:srgbClr val="CCCCCC"/>
            </a:solidFill>
            <a:prstDash val="solid"/>
          </a:ln>
        </p:spPr>
      </p:sp>
      <p:sp>
        <p:nvSpPr>
          <p:cNvPr id="35" name="Shape 32"/>
          <p:cNvSpPr/>
          <p:nvPr/>
        </p:nvSpPr>
        <p:spPr>
          <a:xfrm>
            <a:off x="91440" y="2688336"/>
            <a:ext cx="4389120" cy="256032"/>
          </a:xfrm>
          <a:prstGeom prst="rect">
            <a:avLst/>
          </a:prstGeom>
          <a:solidFill>
            <a:srgbClr val="E74C3C"/>
          </a:solidFill>
          <a:ln w="12700">
            <a:solidFill>
              <a:srgbClr val="E74C3C"/>
            </a:solidFill>
            <a:prstDash val="solid"/>
          </a:ln>
        </p:spPr>
      </p:sp>
      <p:sp>
        <p:nvSpPr>
          <p:cNvPr id="36" name="Text 33"/>
          <p:cNvSpPr/>
          <p:nvPr/>
        </p:nvSpPr>
        <p:spPr>
          <a:xfrm>
            <a:off x="155448" y="2688336"/>
            <a:ext cx="4297680" cy="256032"/>
          </a:xfrm>
          <a:prstGeom prst="rect">
            <a:avLst/>
          </a:prstGeom>
          <a:noFill/>
        </p:spPr>
        <p:txBody>
          <a:bodyPr wrap="square" lIns="0" tIns="0" rIns="0" bIns="0" rtlCol="0" anchor="ctr"/>
          <a:lstStyle/>
          <a:p>
            <a:pPr marL="0" indent="0">
              <a:buNone/>
            </a:pPr>
            <a:r>
              <a:rPr lang="en-US" sz="850" b="1" dirty="0">
                <a:solidFill>
                  <a:srgbClr val="FFFFFF"/>
                </a:solidFill>
                <a:latin typeface="Calibri" panose="020F0502020204030204" pitchFamily="34" charset="0"/>
                <a:ea typeface="Calibri" panose="020F0502020204030204" pitchFamily="34" charset="-122"/>
                <a:cs typeface="Calibri" panose="020F0502020204030204" pitchFamily="34" charset="-120"/>
              </a:rPr>
              <a:t>Cost Structure</a:t>
            </a:r>
            <a:endParaRPr lang="en-US" sz="850" dirty="0"/>
          </a:p>
        </p:txBody>
      </p:sp>
      <p:sp>
        <p:nvSpPr>
          <p:cNvPr id="37" name="Text 34"/>
          <p:cNvSpPr/>
          <p:nvPr/>
        </p:nvSpPr>
        <p:spPr>
          <a:xfrm>
            <a:off x="155448" y="2962656"/>
            <a:ext cx="4279392" cy="731520"/>
          </a:xfrm>
          <a:prstGeom prst="rect">
            <a:avLst/>
          </a:prstGeom>
          <a:noFill/>
        </p:spPr>
        <p:txBody>
          <a:bodyPr wrap="square" lIns="0" tIns="0" rIns="0" bIns="0" rtlCol="0" anchor="ctr"/>
          <a:lstStyle/>
          <a:p>
            <a:pPr marL="0" indent="0">
              <a:buNone/>
            </a:pPr>
            <a:r>
              <a:rPr lang="en-US" sz="750" dirty="0">
                <a:solidFill>
                  <a:srgbClr val="333333"/>
                </a:solidFill>
                <a:latin typeface="Calibri" panose="020F0502020204030204" pitchFamily="34" charset="0"/>
                <a:ea typeface="Calibri" panose="020F0502020204030204" pitchFamily="34" charset="-122"/>
                <a:cs typeface="Calibri" panose="020F0502020204030204" pitchFamily="34" charset="-120"/>
              </a:rPr>
              <a:t>• Developer volunteer time &amp; tools</a:t>
            </a:r>
            <a:endParaRPr lang="en-US" sz="750" dirty="0"/>
          </a:p>
          <a:p>
            <a:pPr marL="0" indent="0">
              <a:buNone/>
            </a:pPr>
            <a:r>
              <a:rPr lang="en-US" sz="750" dirty="0">
                <a:solidFill>
                  <a:srgbClr val="333333"/>
                </a:solidFill>
                <a:latin typeface="Calibri" panose="020F0502020204030204" pitchFamily="34" charset="0"/>
                <a:ea typeface="Calibri" panose="020F0502020204030204" pitchFamily="34" charset="-122"/>
                <a:cs typeface="Calibri" panose="020F0502020204030204" pitchFamily="34" charset="-120"/>
              </a:rPr>
              <a:t>• University server hosting</a:t>
            </a:r>
            <a:endParaRPr lang="en-US" sz="750" dirty="0"/>
          </a:p>
          <a:p>
            <a:pPr marL="0" indent="0">
              <a:buNone/>
            </a:pPr>
            <a:r>
              <a:rPr lang="en-US" sz="750" dirty="0">
                <a:solidFill>
                  <a:srgbClr val="333333"/>
                </a:solidFill>
                <a:latin typeface="Calibri" panose="020F0502020204030204" pitchFamily="34" charset="0"/>
                <a:ea typeface="Calibri" panose="020F0502020204030204" pitchFamily="34" charset="-122"/>
                <a:cs typeface="Calibri" panose="020F0502020204030204" pitchFamily="34" charset="-120"/>
              </a:rPr>
              <a:t>• Marketing &amp; campus events</a:t>
            </a:r>
            <a:endParaRPr lang="en-US" sz="750" dirty="0"/>
          </a:p>
          <a:p>
            <a:pPr marL="0" indent="0">
              <a:buNone/>
            </a:pPr>
            <a:r>
              <a:rPr lang="en-US" sz="750" dirty="0">
                <a:solidFill>
                  <a:srgbClr val="333333"/>
                </a:solidFill>
                <a:latin typeface="Calibri" panose="020F0502020204030204" pitchFamily="34" charset="0"/>
                <a:ea typeface="Calibri" panose="020F0502020204030204" pitchFamily="34" charset="-122"/>
                <a:cs typeface="Calibri" panose="020F0502020204030204" pitchFamily="34" charset="-120"/>
              </a:rPr>
              <a:t>• Minimal SMS gateway costs</a:t>
            </a:r>
            <a:endParaRPr lang="en-US" sz="750" dirty="0"/>
          </a:p>
        </p:txBody>
      </p:sp>
      <p:sp>
        <p:nvSpPr>
          <p:cNvPr id="38" name="Shape 35"/>
          <p:cNvSpPr/>
          <p:nvPr/>
        </p:nvSpPr>
        <p:spPr>
          <a:xfrm>
            <a:off x="4535424" y="2688336"/>
            <a:ext cx="4462272" cy="1042416"/>
          </a:xfrm>
          <a:prstGeom prst="rect">
            <a:avLst/>
          </a:prstGeom>
          <a:solidFill>
            <a:srgbClr val="FFFFFF"/>
          </a:solidFill>
          <a:ln w="6350">
            <a:solidFill>
              <a:srgbClr val="CCCCCC"/>
            </a:solidFill>
            <a:prstDash val="solid"/>
          </a:ln>
        </p:spPr>
      </p:sp>
      <p:sp>
        <p:nvSpPr>
          <p:cNvPr id="39" name="Shape 36"/>
          <p:cNvSpPr/>
          <p:nvPr/>
        </p:nvSpPr>
        <p:spPr>
          <a:xfrm>
            <a:off x="4535424" y="2688336"/>
            <a:ext cx="4462272" cy="256032"/>
          </a:xfrm>
          <a:prstGeom prst="rect">
            <a:avLst/>
          </a:prstGeom>
          <a:solidFill>
            <a:srgbClr val="D68910"/>
          </a:solidFill>
          <a:ln w="12700">
            <a:solidFill>
              <a:srgbClr val="D68910"/>
            </a:solidFill>
            <a:prstDash val="solid"/>
          </a:ln>
        </p:spPr>
      </p:sp>
      <p:sp>
        <p:nvSpPr>
          <p:cNvPr id="40" name="Text 37"/>
          <p:cNvSpPr/>
          <p:nvPr/>
        </p:nvSpPr>
        <p:spPr>
          <a:xfrm>
            <a:off x="4599432" y="2688336"/>
            <a:ext cx="4370832" cy="256032"/>
          </a:xfrm>
          <a:prstGeom prst="rect">
            <a:avLst/>
          </a:prstGeom>
          <a:noFill/>
        </p:spPr>
        <p:txBody>
          <a:bodyPr wrap="square" lIns="0" tIns="0" rIns="0" bIns="0" rtlCol="0" anchor="ctr"/>
          <a:lstStyle/>
          <a:p>
            <a:pPr marL="0" indent="0">
              <a:buNone/>
            </a:pPr>
            <a:r>
              <a:rPr lang="en-US" sz="850" b="1" dirty="0">
                <a:solidFill>
                  <a:srgbClr val="FFFFFF"/>
                </a:solidFill>
                <a:latin typeface="Calibri" panose="020F0502020204030204" pitchFamily="34" charset="0"/>
                <a:ea typeface="Calibri" panose="020F0502020204030204" pitchFamily="34" charset="-122"/>
                <a:cs typeface="Calibri" panose="020F0502020204030204" pitchFamily="34" charset="-120"/>
              </a:rPr>
              <a:t>Revenue Streams</a:t>
            </a:r>
            <a:endParaRPr lang="en-US" sz="850" dirty="0"/>
          </a:p>
        </p:txBody>
      </p:sp>
      <p:sp>
        <p:nvSpPr>
          <p:cNvPr id="41" name="Text 38"/>
          <p:cNvSpPr/>
          <p:nvPr/>
        </p:nvSpPr>
        <p:spPr>
          <a:xfrm>
            <a:off x="4599432" y="2962656"/>
            <a:ext cx="4352544" cy="731520"/>
          </a:xfrm>
          <a:prstGeom prst="rect">
            <a:avLst/>
          </a:prstGeom>
          <a:noFill/>
        </p:spPr>
        <p:txBody>
          <a:bodyPr wrap="square" lIns="0" tIns="0" rIns="0" bIns="0" rtlCol="0" anchor="ctr"/>
          <a:lstStyle/>
          <a:p>
            <a:pPr marL="0" indent="0">
              <a:buNone/>
            </a:pPr>
            <a:r>
              <a:rPr lang="en-US" sz="750" dirty="0">
                <a:solidFill>
                  <a:srgbClr val="333333"/>
                </a:solidFill>
                <a:latin typeface="Calibri" panose="020F0502020204030204" pitchFamily="34" charset="0"/>
                <a:ea typeface="Calibri" panose="020F0502020204030204" pitchFamily="34" charset="-122"/>
                <a:cs typeface="Calibri" panose="020F0502020204030204" pitchFamily="34" charset="-120"/>
              </a:rPr>
              <a:t>• Free core app (zero revenue initially)</a:t>
            </a:r>
            <a:endParaRPr lang="en-US" sz="750" dirty="0"/>
          </a:p>
          <a:p>
            <a:pPr marL="0" indent="0">
              <a:buNone/>
            </a:pPr>
            <a:r>
              <a:rPr lang="en-US" sz="750" dirty="0">
                <a:solidFill>
                  <a:srgbClr val="333333"/>
                </a:solidFill>
                <a:latin typeface="Calibri" panose="020F0502020204030204" pitchFamily="34" charset="0"/>
                <a:ea typeface="Calibri" panose="020F0502020204030204" pitchFamily="34" charset="-122"/>
                <a:cs typeface="Calibri" panose="020F0502020204030204" pitchFamily="34" charset="-120"/>
              </a:rPr>
              <a:t>• Future: Premium Safe Walk+ (₹99/month)</a:t>
            </a:r>
            <a:endParaRPr lang="en-US" sz="750" dirty="0"/>
          </a:p>
          <a:p>
            <a:pPr marL="0" indent="0">
              <a:buNone/>
            </a:pPr>
            <a:r>
              <a:rPr lang="en-US" sz="750" dirty="0">
                <a:solidFill>
                  <a:srgbClr val="333333"/>
                </a:solidFill>
                <a:latin typeface="Calibri" panose="020F0502020204030204" pitchFamily="34" charset="0"/>
                <a:ea typeface="Calibri" panose="020F0502020204030204" pitchFamily="34" charset="-122"/>
                <a:cs typeface="Calibri" panose="020F0502020204030204" pitchFamily="34" charset="-120"/>
              </a:rPr>
              <a:t>• Institutional licensing to colleges</a:t>
            </a:r>
            <a:endParaRPr lang="en-US" sz="750" dirty="0"/>
          </a:p>
          <a:p>
            <a:pPr marL="0" indent="0">
              <a:buNone/>
            </a:pPr>
            <a:r>
              <a:rPr lang="en-US" sz="750" dirty="0">
                <a:solidFill>
                  <a:srgbClr val="333333"/>
                </a:solidFill>
                <a:latin typeface="Calibri" panose="020F0502020204030204" pitchFamily="34" charset="0"/>
                <a:ea typeface="Calibri" panose="020F0502020204030204" pitchFamily="34" charset="-122"/>
                <a:cs typeface="Calibri" panose="020F0502020204030204" pitchFamily="34" charset="-120"/>
              </a:rPr>
              <a:t>• Government &amp; NGO grant funding</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59436" cy="4773168"/>
          </a:xfrm>
          <a:prstGeom prst="rect">
            <a:avLst/>
          </a:prstGeom>
          <a:solidFill>
            <a:srgbClr val="6062FF"/>
          </a:solidFill>
          <a:ln w="12700">
            <a:solidFill>
              <a:srgbClr val="6062FF"/>
            </a:solidFill>
            <a:prstDash val="solid"/>
          </a:ln>
        </p:spPr>
      </p:sp>
      <p:pic>
        <p:nvPicPr>
          <p:cNvPr id="3" name="Image 0" descr="preencoded.png"/>
          <p:cNvPicPr>
            <a:picLocks noChangeAspect="1"/>
          </p:cNvPicPr>
          <p:nvPr/>
        </p:nvPicPr>
        <p:blipFill>
          <a:blip r:embed="rId3"/>
          <a:stretch>
            <a:fillRect/>
          </a:stretch>
        </p:blipFill>
        <p:spPr>
          <a:xfrm>
            <a:off x="8321040" y="45720"/>
            <a:ext cx="658368" cy="658368"/>
          </a:xfrm>
          <a:prstGeom prst="rect">
            <a:avLst/>
          </a:prstGeom>
        </p:spPr>
      </p:pic>
      <p:sp>
        <p:nvSpPr>
          <p:cNvPr id="4" name="Shape 1"/>
          <p:cNvSpPr/>
          <p:nvPr/>
        </p:nvSpPr>
        <p:spPr>
          <a:xfrm>
            <a:off x="0" y="4773168"/>
            <a:ext cx="9144000" cy="370332"/>
          </a:xfrm>
          <a:prstGeom prst="rect">
            <a:avLst/>
          </a:prstGeom>
          <a:solidFill>
            <a:srgbClr val="FFFFFF"/>
          </a:solidFill>
          <a:ln w="12700">
            <a:solidFill>
              <a:srgbClr val="FFFFFF"/>
            </a:solidFill>
            <a:prstDash val="solid"/>
          </a:ln>
        </p:spPr>
      </p:sp>
      <p:sp>
        <p:nvSpPr>
          <p:cNvPr id="5" name="Shape 2"/>
          <p:cNvSpPr/>
          <p:nvPr/>
        </p:nvSpPr>
        <p:spPr>
          <a:xfrm>
            <a:off x="0" y="4773168"/>
            <a:ext cx="59436" cy="370332"/>
          </a:xfrm>
          <a:prstGeom prst="rect">
            <a:avLst/>
          </a:prstGeom>
          <a:solidFill>
            <a:srgbClr val="0F9ED5"/>
          </a:solidFill>
          <a:ln w="12700">
            <a:solidFill>
              <a:srgbClr val="0F9ED5"/>
            </a:solidFill>
            <a:prstDash val="solid"/>
          </a:ln>
        </p:spPr>
      </p:sp>
      <p:sp>
        <p:nvSpPr>
          <p:cNvPr id="6" name="Text 3"/>
          <p:cNvSpPr/>
          <p:nvPr/>
        </p:nvSpPr>
        <p:spPr>
          <a:xfrm>
            <a:off x="109728" y="4823460"/>
            <a:ext cx="5029200" cy="146304"/>
          </a:xfrm>
          <a:prstGeom prst="rect">
            <a:avLst/>
          </a:prstGeom>
          <a:noFill/>
        </p:spPr>
        <p:txBody>
          <a:bodyPr wrap="square" lIns="0" tIns="0" rIns="0" bIns="0" rtlCol="0" anchor="ctr"/>
          <a:lstStyle/>
          <a:p>
            <a:pPr marL="0" indent="0">
              <a:buNone/>
            </a:pPr>
            <a:r>
              <a:rPr lang="en-US" sz="650" dirty="0">
                <a:solidFill>
                  <a:srgbClr val="767676"/>
                </a:solidFill>
                <a:latin typeface="Calibri" panose="020F0502020204030204" pitchFamily="34" charset="0"/>
                <a:ea typeface="Calibri" panose="020F0502020204030204" pitchFamily="34" charset="-122"/>
                <a:cs typeface="Calibri" panose="020F0502020204030204" pitchFamily="34" charset="-120"/>
              </a:rPr>
              <a:t>HackNovation 2.0  |  R&amp;D Cell, GIET University, Gunupur</a:t>
            </a:r>
            <a:endParaRPr lang="en-US" sz="650" dirty="0"/>
          </a:p>
        </p:txBody>
      </p:sp>
      <p:sp>
        <p:nvSpPr>
          <p:cNvPr id="7" name="Text 4"/>
          <p:cNvSpPr/>
          <p:nvPr/>
        </p:nvSpPr>
        <p:spPr>
          <a:xfrm>
            <a:off x="4389120" y="4823460"/>
            <a:ext cx="365760" cy="146304"/>
          </a:xfrm>
          <a:prstGeom prst="rect">
            <a:avLst/>
          </a:prstGeom>
          <a:noFill/>
        </p:spPr>
        <p:txBody>
          <a:bodyPr wrap="square" lIns="0" tIns="0" rIns="0" bIns="0" rtlCol="0" anchor="ctr"/>
          <a:lstStyle/>
          <a:p>
            <a:pPr marL="0" indent="0" algn="ctr">
              <a:buNone/>
            </a:pPr>
            <a:r>
              <a:rPr lang="en-US" sz="650" dirty="0">
                <a:solidFill>
                  <a:srgbClr val="767676"/>
                </a:solidFill>
                <a:latin typeface="Calibri" panose="020F0502020204030204" pitchFamily="34" charset="0"/>
                <a:ea typeface="Calibri" panose="020F0502020204030204" pitchFamily="34" charset="-122"/>
                <a:cs typeface="Calibri" panose="020F0502020204030204" pitchFamily="34" charset="-120"/>
              </a:rPr>
              <a:t>7</a:t>
            </a:r>
            <a:endParaRPr lang="en-US" sz="650" dirty="0"/>
          </a:p>
        </p:txBody>
      </p:sp>
      <p:sp>
        <p:nvSpPr>
          <p:cNvPr id="8" name="Text 5"/>
          <p:cNvSpPr/>
          <p:nvPr/>
        </p:nvSpPr>
        <p:spPr>
          <a:xfrm>
            <a:off x="7223760" y="4823460"/>
            <a:ext cx="1828800" cy="146304"/>
          </a:xfrm>
          <a:prstGeom prst="rect">
            <a:avLst/>
          </a:prstGeom>
          <a:noFill/>
        </p:spPr>
        <p:txBody>
          <a:bodyPr wrap="square" lIns="0" tIns="0" rIns="0" bIns="0" rtlCol="0" anchor="ctr"/>
          <a:lstStyle/>
          <a:p>
            <a:pPr marL="0" indent="0" algn="r">
              <a:buNone/>
            </a:pPr>
            <a:r>
              <a:rPr lang="en-US" sz="650" dirty="0">
                <a:solidFill>
                  <a:srgbClr val="767676"/>
                </a:solidFill>
                <a:latin typeface="Calibri" panose="020F0502020204030204" pitchFamily="34" charset="0"/>
                <a:ea typeface="Calibri" panose="020F0502020204030204" pitchFamily="34" charset="-122"/>
                <a:cs typeface="Calibri" panose="020F0502020204030204" pitchFamily="34" charset="-120"/>
              </a:rPr>
              <a:t>COD-THREE</a:t>
            </a:r>
            <a:endParaRPr lang="en-US" sz="650" dirty="0"/>
          </a:p>
        </p:txBody>
      </p:sp>
      <p:sp>
        <p:nvSpPr>
          <p:cNvPr id="9" name="Text 6"/>
          <p:cNvSpPr/>
          <p:nvPr/>
        </p:nvSpPr>
        <p:spPr>
          <a:xfrm>
            <a:off x="256032" y="219456"/>
            <a:ext cx="7863840" cy="530352"/>
          </a:xfrm>
          <a:prstGeom prst="rect">
            <a:avLst/>
          </a:prstGeom>
          <a:noFill/>
        </p:spPr>
        <p:txBody>
          <a:bodyPr wrap="square" lIns="0" tIns="0" rIns="0" bIns="0" rtlCol="0" anchor="ctr"/>
          <a:lstStyle/>
          <a:p>
            <a:pPr marL="0" indent="0">
              <a:buNone/>
            </a:pPr>
            <a:r>
              <a:rPr lang="en-US" sz="2600" b="1" dirty="0">
                <a:solidFill>
                  <a:srgbClr val="000000"/>
                </a:solidFill>
                <a:latin typeface="Calibri" panose="020F0502020204030204" pitchFamily="34" charset="0"/>
                <a:ea typeface="Calibri" panose="020F0502020204030204" pitchFamily="34" charset="-122"/>
                <a:cs typeface="Calibri" panose="020F0502020204030204" pitchFamily="34" charset="-120"/>
              </a:rPr>
              <a:t>Go-To-Market Strategy</a:t>
            </a:r>
            <a:endParaRPr lang="en-US" sz="2600" dirty="0"/>
          </a:p>
        </p:txBody>
      </p:sp>
      <p:sp>
        <p:nvSpPr>
          <p:cNvPr id="10" name="Shape 7"/>
          <p:cNvSpPr/>
          <p:nvPr/>
        </p:nvSpPr>
        <p:spPr>
          <a:xfrm>
            <a:off x="256032" y="768096"/>
            <a:ext cx="777240" cy="38405"/>
          </a:xfrm>
          <a:prstGeom prst="rect">
            <a:avLst/>
          </a:prstGeom>
          <a:solidFill>
            <a:srgbClr val="0F9ED5"/>
          </a:solidFill>
          <a:ln w="12700">
            <a:solidFill>
              <a:srgbClr val="0F9ED5"/>
            </a:solidFill>
            <a:prstDash val="solid"/>
          </a:ln>
        </p:spPr>
      </p:sp>
      <p:sp>
        <p:nvSpPr>
          <p:cNvPr id="11" name="Text 8"/>
          <p:cNvSpPr/>
          <p:nvPr/>
        </p:nvSpPr>
        <p:spPr>
          <a:xfrm>
            <a:off x="237744" y="896112"/>
            <a:ext cx="8668512" cy="219456"/>
          </a:xfrm>
          <a:prstGeom prst="rect">
            <a:avLst/>
          </a:prstGeom>
          <a:noFill/>
        </p:spPr>
        <p:txBody>
          <a:bodyPr wrap="square" lIns="0" tIns="0" rIns="0" bIns="0" rtlCol="0" anchor="ctr"/>
          <a:lstStyle/>
          <a:p>
            <a:pPr marL="0" indent="0">
              <a:buNone/>
            </a:pPr>
            <a:r>
              <a:rPr lang="en-US" sz="1100" b="1" dirty="0">
                <a:solidFill>
                  <a:srgbClr val="000000"/>
                </a:solidFill>
                <a:latin typeface="Calibri" panose="020F0502020204030204" pitchFamily="34" charset="0"/>
                <a:ea typeface="Calibri" panose="020F0502020204030204" pitchFamily="34" charset="-122"/>
                <a:cs typeface="Calibri" panose="020F0502020204030204" pitchFamily="34" charset="-120"/>
              </a:rPr>
              <a:t>3-Phase Launch Approach</a:t>
            </a:r>
            <a:endParaRPr lang="en-US" sz="1100" dirty="0"/>
          </a:p>
        </p:txBody>
      </p:sp>
      <p:sp>
        <p:nvSpPr>
          <p:cNvPr id="12" name="Shape 9"/>
          <p:cNvSpPr/>
          <p:nvPr/>
        </p:nvSpPr>
        <p:spPr>
          <a:xfrm>
            <a:off x="237744" y="1188720"/>
            <a:ext cx="8668512" cy="1042416"/>
          </a:xfrm>
          <a:prstGeom prst="rect">
            <a:avLst/>
          </a:prstGeom>
          <a:solidFill>
            <a:srgbClr val="F6F9FF"/>
          </a:solidFill>
          <a:ln w="15240">
            <a:solidFill>
              <a:srgbClr val="6062FF"/>
            </a:solidFill>
            <a:prstDash val="solid"/>
          </a:ln>
        </p:spPr>
      </p:sp>
      <p:sp>
        <p:nvSpPr>
          <p:cNvPr id="13" name="Shape 10"/>
          <p:cNvSpPr/>
          <p:nvPr/>
        </p:nvSpPr>
        <p:spPr>
          <a:xfrm>
            <a:off x="237744" y="1188720"/>
            <a:ext cx="43891" cy="1042416"/>
          </a:xfrm>
          <a:prstGeom prst="rect">
            <a:avLst/>
          </a:prstGeom>
          <a:solidFill>
            <a:srgbClr val="6062FF"/>
          </a:solidFill>
          <a:ln w="12700">
            <a:solidFill>
              <a:srgbClr val="6062FF"/>
            </a:solidFill>
            <a:prstDash val="solid"/>
          </a:ln>
        </p:spPr>
      </p:sp>
      <p:sp>
        <p:nvSpPr>
          <p:cNvPr id="14" name="Shape 11"/>
          <p:cNvSpPr/>
          <p:nvPr/>
        </p:nvSpPr>
        <p:spPr>
          <a:xfrm>
            <a:off x="347472" y="1298448"/>
            <a:ext cx="402336" cy="402336"/>
          </a:xfrm>
          <a:prstGeom prst="ellipse">
            <a:avLst/>
          </a:prstGeom>
          <a:solidFill>
            <a:srgbClr val="6062FF"/>
          </a:solidFill>
          <a:ln w="12700">
            <a:solidFill>
              <a:srgbClr val="6062FF"/>
            </a:solidFill>
            <a:prstDash val="solid"/>
          </a:ln>
        </p:spPr>
      </p:sp>
      <p:sp>
        <p:nvSpPr>
          <p:cNvPr id="15" name="Text 12"/>
          <p:cNvSpPr/>
          <p:nvPr/>
        </p:nvSpPr>
        <p:spPr>
          <a:xfrm>
            <a:off x="347472" y="1298448"/>
            <a:ext cx="402336" cy="402336"/>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400" dirty="0"/>
          </a:p>
        </p:txBody>
      </p:sp>
      <p:sp>
        <p:nvSpPr>
          <p:cNvPr id="16" name="Text 13"/>
          <p:cNvSpPr/>
          <p:nvPr/>
        </p:nvSpPr>
        <p:spPr>
          <a:xfrm>
            <a:off x="859536" y="1280160"/>
            <a:ext cx="7936992" cy="256032"/>
          </a:xfrm>
          <a:prstGeom prst="rect">
            <a:avLst/>
          </a:prstGeom>
          <a:noFill/>
        </p:spPr>
        <p:txBody>
          <a:bodyPr wrap="square" lIns="0" tIns="0" rIns="0" bIns="0" rtlCol="0" anchor="ctr"/>
          <a:lstStyle/>
          <a:p>
            <a:pPr marL="0" indent="0">
              <a:buNone/>
            </a:pPr>
            <a:r>
              <a:rPr lang="en-US" sz="1050" b="1" dirty="0">
                <a:solidFill>
                  <a:srgbClr val="6062FF"/>
                </a:solidFill>
                <a:latin typeface="Calibri" panose="020F0502020204030204" pitchFamily="34" charset="0"/>
                <a:ea typeface="Calibri" panose="020F0502020204030204" pitchFamily="34" charset="-122"/>
                <a:cs typeface="Calibri" panose="020F0502020204030204" pitchFamily="34" charset="-120"/>
              </a:rPr>
              <a:t>Phase 1 — Campus Launch (Month 0–3)</a:t>
            </a:r>
            <a:endParaRPr lang="en-US" sz="1050" dirty="0"/>
          </a:p>
        </p:txBody>
      </p:sp>
      <p:sp>
        <p:nvSpPr>
          <p:cNvPr id="17" name="Text 14"/>
          <p:cNvSpPr/>
          <p:nvPr/>
        </p:nvSpPr>
        <p:spPr>
          <a:xfrm>
            <a:off x="859536" y="1572768"/>
            <a:ext cx="7936992" cy="603504"/>
          </a:xfrm>
          <a:prstGeom prst="rect">
            <a:avLst/>
          </a:prstGeom>
          <a:noFill/>
        </p:spPr>
        <p:txBody>
          <a:bodyPr wrap="square" lIns="0" tIns="0" rIns="0" bIns="0" rtlCol="0" anchor="ctr"/>
          <a:lstStyle/>
          <a:p>
            <a:pPr marL="0" indent="0">
              <a:buNone/>
            </a:pPr>
            <a:r>
              <a:rPr lang="en-US" sz="850" dirty="0">
                <a:solidFill>
                  <a:srgbClr val="333333"/>
                </a:solidFill>
                <a:latin typeface="Calibri" panose="020F0502020204030204" pitchFamily="34" charset="0"/>
                <a:ea typeface="Calibri" panose="020F0502020204030204" pitchFamily="34" charset="-122"/>
                <a:cs typeface="Calibri" panose="020F0502020204030204" pitchFamily="34" charset="-120"/>
              </a:rPr>
              <a:t>• Free APK distribution via GIET University Wi-Fi &amp; WhatsApp groups</a:t>
            </a:r>
            <a:endParaRPr lang="en-US" sz="850" dirty="0"/>
          </a:p>
          <a:p>
            <a:pPr marL="0" indent="0">
              <a:buNone/>
            </a:pPr>
            <a:r>
              <a:rPr lang="en-US" sz="850" dirty="0">
                <a:solidFill>
                  <a:srgbClr val="333333"/>
                </a:solidFill>
                <a:latin typeface="Calibri" panose="020F0502020204030204" pitchFamily="34" charset="0"/>
                <a:ea typeface="Calibri" panose="020F0502020204030204" pitchFamily="34" charset="-122"/>
                <a:cs typeface="Calibri" panose="020F0502020204030204" pitchFamily="34" charset="-120"/>
              </a:rPr>
              <a:t>• Ambassador program: 20 student volunteers per campus to demo &amp; onboard</a:t>
            </a:r>
            <a:endParaRPr lang="en-US" sz="850" dirty="0"/>
          </a:p>
          <a:p>
            <a:pPr marL="0" indent="0">
              <a:buNone/>
            </a:pPr>
            <a:r>
              <a:rPr lang="en-US" sz="850" dirty="0">
                <a:solidFill>
                  <a:srgbClr val="333333"/>
                </a:solidFill>
                <a:latin typeface="Calibri" panose="020F0502020204030204" pitchFamily="34" charset="0"/>
                <a:ea typeface="Calibri" panose="020F0502020204030204" pitchFamily="34" charset="-122"/>
                <a:cs typeface="Calibri" panose="020F0502020204030204" pitchFamily="34" charset="-120"/>
              </a:rPr>
              <a:t>• Safety awareness workshops + hackathon demo events on campus</a:t>
            </a:r>
            <a:endParaRPr lang="en-US" sz="850" dirty="0"/>
          </a:p>
          <a:p>
            <a:pPr marL="0" indent="0">
              <a:buNone/>
            </a:pPr>
            <a:r>
              <a:rPr lang="en-US" sz="850" dirty="0">
                <a:solidFill>
                  <a:srgbClr val="333333"/>
                </a:solidFill>
                <a:latin typeface="Calibri" panose="020F0502020204030204" pitchFamily="34" charset="0"/>
                <a:ea typeface="Calibri" panose="020F0502020204030204" pitchFamily="34" charset="-122"/>
                <a:cs typeface="Calibri" panose="020F0502020204030204" pitchFamily="34" charset="-120"/>
              </a:rPr>
              <a:t>• Target: 5,000 installs in Odisha college network</a:t>
            </a:r>
            <a:endParaRPr lang="en-US" sz="850" dirty="0"/>
          </a:p>
        </p:txBody>
      </p:sp>
      <p:sp>
        <p:nvSpPr>
          <p:cNvPr id="18" name="Shape 15"/>
          <p:cNvSpPr/>
          <p:nvPr/>
        </p:nvSpPr>
        <p:spPr>
          <a:xfrm>
            <a:off x="237744" y="2331720"/>
            <a:ext cx="8668512" cy="1042416"/>
          </a:xfrm>
          <a:prstGeom prst="rect">
            <a:avLst/>
          </a:prstGeom>
          <a:solidFill>
            <a:srgbClr val="F0FAFF"/>
          </a:solidFill>
          <a:ln w="15240">
            <a:solidFill>
              <a:srgbClr val="0F9ED5"/>
            </a:solidFill>
            <a:prstDash val="solid"/>
          </a:ln>
        </p:spPr>
      </p:sp>
      <p:sp>
        <p:nvSpPr>
          <p:cNvPr id="19" name="Shape 16"/>
          <p:cNvSpPr/>
          <p:nvPr/>
        </p:nvSpPr>
        <p:spPr>
          <a:xfrm>
            <a:off x="237744" y="2331720"/>
            <a:ext cx="43891" cy="1042416"/>
          </a:xfrm>
          <a:prstGeom prst="rect">
            <a:avLst/>
          </a:prstGeom>
          <a:solidFill>
            <a:srgbClr val="0F9ED5"/>
          </a:solidFill>
          <a:ln w="12700">
            <a:solidFill>
              <a:srgbClr val="0F9ED5"/>
            </a:solidFill>
            <a:prstDash val="solid"/>
          </a:ln>
        </p:spPr>
      </p:sp>
      <p:sp>
        <p:nvSpPr>
          <p:cNvPr id="20" name="Shape 17"/>
          <p:cNvSpPr/>
          <p:nvPr/>
        </p:nvSpPr>
        <p:spPr>
          <a:xfrm>
            <a:off x="347472" y="2441448"/>
            <a:ext cx="402336" cy="402336"/>
          </a:xfrm>
          <a:prstGeom prst="ellipse">
            <a:avLst/>
          </a:prstGeom>
          <a:solidFill>
            <a:srgbClr val="0F9ED5"/>
          </a:solidFill>
          <a:ln w="12700">
            <a:solidFill>
              <a:srgbClr val="0F9ED5"/>
            </a:solidFill>
            <a:prstDash val="solid"/>
          </a:ln>
        </p:spPr>
      </p:sp>
      <p:sp>
        <p:nvSpPr>
          <p:cNvPr id="21" name="Text 18"/>
          <p:cNvSpPr/>
          <p:nvPr/>
        </p:nvSpPr>
        <p:spPr>
          <a:xfrm>
            <a:off x="347472" y="2441448"/>
            <a:ext cx="402336" cy="402336"/>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400" dirty="0"/>
          </a:p>
        </p:txBody>
      </p:sp>
      <p:sp>
        <p:nvSpPr>
          <p:cNvPr id="22" name="Text 19"/>
          <p:cNvSpPr/>
          <p:nvPr/>
        </p:nvSpPr>
        <p:spPr>
          <a:xfrm>
            <a:off x="859536" y="2423160"/>
            <a:ext cx="7936992" cy="256032"/>
          </a:xfrm>
          <a:prstGeom prst="rect">
            <a:avLst/>
          </a:prstGeom>
          <a:noFill/>
        </p:spPr>
        <p:txBody>
          <a:bodyPr wrap="square" lIns="0" tIns="0" rIns="0" bIns="0" rtlCol="0" anchor="ctr"/>
          <a:lstStyle/>
          <a:p>
            <a:pPr marL="0" indent="0">
              <a:buNone/>
            </a:pPr>
            <a:r>
              <a:rPr lang="en-US" sz="1050" b="1" dirty="0">
                <a:solidFill>
                  <a:srgbClr val="0F9ED5"/>
                </a:solidFill>
                <a:latin typeface="Calibri" panose="020F0502020204030204" pitchFamily="34" charset="0"/>
                <a:ea typeface="Calibri" panose="020F0502020204030204" pitchFamily="34" charset="-122"/>
                <a:cs typeface="Calibri" panose="020F0502020204030204" pitchFamily="34" charset="-120"/>
              </a:rPr>
              <a:t>Phase 2 — Regional Expansion (Month 4–9)</a:t>
            </a:r>
            <a:endParaRPr lang="en-US" sz="1050" dirty="0"/>
          </a:p>
        </p:txBody>
      </p:sp>
      <p:sp>
        <p:nvSpPr>
          <p:cNvPr id="23" name="Text 20"/>
          <p:cNvSpPr/>
          <p:nvPr/>
        </p:nvSpPr>
        <p:spPr>
          <a:xfrm>
            <a:off x="859536" y="2715768"/>
            <a:ext cx="7936992" cy="603504"/>
          </a:xfrm>
          <a:prstGeom prst="rect">
            <a:avLst/>
          </a:prstGeom>
          <a:noFill/>
        </p:spPr>
        <p:txBody>
          <a:bodyPr wrap="square" lIns="0" tIns="0" rIns="0" bIns="0" rtlCol="0" anchor="ctr"/>
          <a:lstStyle/>
          <a:p>
            <a:pPr marL="0" indent="0">
              <a:buNone/>
            </a:pPr>
            <a:r>
              <a:rPr lang="en-US" sz="850" dirty="0">
                <a:solidFill>
                  <a:srgbClr val="333333"/>
                </a:solidFill>
                <a:latin typeface="Calibri" panose="020F0502020204030204" pitchFamily="34" charset="0"/>
                <a:ea typeface="Calibri" panose="020F0502020204030204" pitchFamily="34" charset="-122"/>
                <a:cs typeface="Calibri" panose="020F0502020204030204" pitchFamily="34" charset="-120"/>
              </a:rPr>
              <a:t>• Google Play Store listing (free, open download)</a:t>
            </a:r>
            <a:endParaRPr lang="en-US" sz="850" dirty="0"/>
          </a:p>
          <a:p>
            <a:pPr marL="0" indent="0">
              <a:buNone/>
            </a:pPr>
            <a:r>
              <a:rPr lang="en-US" sz="850" dirty="0">
                <a:solidFill>
                  <a:srgbClr val="333333"/>
                </a:solidFill>
                <a:latin typeface="Calibri" panose="020F0502020204030204" pitchFamily="34" charset="0"/>
                <a:ea typeface="Calibri" panose="020F0502020204030204" pitchFamily="34" charset="-122"/>
                <a:cs typeface="Calibri" panose="020F0502020204030204" pitchFamily="34" charset="-120"/>
              </a:rPr>
              <a:t>• Social media campaign: #SafeHerApp on Instagram, YouTube &amp; Twitter</a:t>
            </a:r>
            <a:endParaRPr lang="en-US" sz="850" dirty="0"/>
          </a:p>
          <a:p>
            <a:pPr marL="0" indent="0">
              <a:buNone/>
            </a:pPr>
            <a:r>
              <a:rPr lang="en-US" sz="850" dirty="0">
                <a:solidFill>
                  <a:srgbClr val="333333"/>
                </a:solidFill>
                <a:latin typeface="Calibri" panose="020F0502020204030204" pitchFamily="34" charset="0"/>
                <a:ea typeface="Calibri" panose="020F0502020204030204" pitchFamily="34" charset="-122"/>
                <a:cs typeface="Calibri" panose="020F0502020204030204" pitchFamily="34" charset="-120"/>
              </a:rPr>
              <a:t>• Partner with Women's Helpline NGOs in Odisha, Andhra Pradesh &amp; Telangana</a:t>
            </a:r>
            <a:endParaRPr lang="en-US" sz="850" dirty="0"/>
          </a:p>
          <a:p>
            <a:pPr marL="0" indent="0">
              <a:buNone/>
            </a:pPr>
            <a:r>
              <a:rPr lang="en-US" sz="850" dirty="0">
                <a:solidFill>
                  <a:srgbClr val="333333"/>
                </a:solidFill>
                <a:latin typeface="Calibri" panose="020F0502020204030204" pitchFamily="34" charset="0"/>
                <a:ea typeface="Calibri" panose="020F0502020204030204" pitchFamily="34" charset="-122"/>
                <a:cs typeface="Calibri" panose="020F0502020204030204" pitchFamily="34" charset="-120"/>
              </a:rPr>
              <a:t>• Target: 50,000 active users across 3 states</a:t>
            </a:r>
            <a:endParaRPr lang="en-US" sz="850" dirty="0"/>
          </a:p>
        </p:txBody>
      </p:sp>
      <p:sp>
        <p:nvSpPr>
          <p:cNvPr id="24" name="Shape 21"/>
          <p:cNvSpPr/>
          <p:nvPr/>
        </p:nvSpPr>
        <p:spPr>
          <a:xfrm>
            <a:off x="237744" y="3474720"/>
            <a:ext cx="8668512" cy="1042416"/>
          </a:xfrm>
          <a:prstGeom prst="rect">
            <a:avLst/>
          </a:prstGeom>
          <a:solidFill>
            <a:srgbClr val="F6F9FF"/>
          </a:solidFill>
          <a:ln w="15240">
            <a:solidFill>
              <a:srgbClr val="27AE60"/>
            </a:solidFill>
            <a:prstDash val="solid"/>
          </a:ln>
        </p:spPr>
      </p:sp>
      <p:sp>
        <p:nvSpPr>
          <p:cNvPr id="25" name="Shape 22"/>
          <p:cNvSpPr/>
          <p:nvPr/>
        </p:nvSpPr>
        <p:spPr>
          <a:xfrm>
            <a:off x="237744" y="3474720"/>
            <a:ext cx="43891" cy="1042416"/>
          </a:xfrm>
          <a:prstGeom prst="rect">
            <a:avLst/>
          </a:prstGeom>
          <a:solidFill>
            <a:srgbClr val="27AE60"/>
          </a:solidFill>
          <a:ln w="12700">
            <a:solidFill>
              <a:srgbClr val="27AE60"/>
            </a:solidFill>
            <a:prstDash val="solid"/>
          </a:ln>
        </p:spPr>
      </p:sp>
      <p:sp>
        <p:nvSpPr>
          <p:cNvPr id="26" name="Shape 23"/>
          <p:cNvSpPr/>
          <p:nvPr/>
        </p:nvSpPr>
        <p:spPr>
          <a:xfrm>
            <a:off x="347472" y="3584448"/>
            <a:ext cx="402336" cy="402336"/>
          </a:xfrm>
          <a:prstGeom prst="ellipse">
            <a:avLst/>
          </a:prstGeom>
          <a:solidFill>
            <a:srgbClr val="27AE60"/>
          </a:solidFill>
          <a:ln w="12700">
            <a:solidFill>
              <a:srgbClr val="27AE60"/>
            </a:solidFill>
            <a:prstDash val="solid"/>
          </a:ln>
        </p:spPr>
      </p:sp>
      <p:sp>
        <p:nvSpPr>
          <p:cNvPr id="27" name="Text 24"/>
          <p:cNvSpPr/>
          <p:nvPr/>
        </p:nvSpPr>
        <p:spPr>
          <a:xfrm>
            <a:off x="347472" y="3584448"/>
            <a:ext cx="402336" cy="402336"/>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400" dirty="0"/>
          </a:p>
        </p:txBody>
      </p:sp>
      <p:sp>
        <p:nvSpPr>
          <p:cNvPr id="28" name="Text 25"/>
          <p:cNvSpPr/>
          <p:nvPr/>
        </p:nvSpPr>
        <p:spPr>
          <a:xfrm>
            <a:off x="859536" y="3566160"/>
            <a:ext cx="7936992" cy="256032"/>
          </a:xfrm>
          <a:prstGeom prst="rect">
            <a:avLst/>
          </a:prstGeom>
          <a:noFill/>
        </p:spPr>
        <p:txBody>
          <a:bodyPr wrap="square" lIns="0" tIns="0" rIns="0" bIns="0" rtlCol="0" anchor="ctr"/>
          <a:lstStyle/>
          <a:p>
            <a:pPr marL="0" indent="0">
              <a:buNone/>
            </a:pPr>
            <a:r>
              <a:rPr lang="en-US" sz="1050" b="1" dirty="0">
                <a:solidFill>
                  <a:srgbClr val="27AE60"/>
                </a:solidFill>
                <a:latin typeface="Calibri" panose="020F0502020204030204" pitchFamily="34" charset="0"/>
                <a:ea typeface="Calibri" panose="020F0502020204030204" pitchFamily="34" charset="-122"/>
                <a:cs typeface="Calibri" panose="020F0502020204030204" pitchFamily="34" charset="-120"/>
              </a:rPr>
              <a:t>Phase 3 — National Scale (Month 10–18)</a:t>
            </a:r>
            <a:endParaRPr lang="en-US" sz="1050" dirty="0"/>
          </a:p>
        </p:txBody>
      </p:sp>
      <p:sp>
        <p:nvSpPr>
          <p:cNvPr id="29" name="Text 26"/>
          <p:cNvSpPr/>
          <p:nvPr/>
        </p:nvSpPr>
        <p:spPr>
          <a:xfrm>
            <a:off x="859536" y="3858768"/>
            <a:ext cx="7936992" cy="603504"/>
          </a:xfrm>
          <a:prstGeom prst="rect">
            <a:avLst/>
          </a:prstGeom>
          <a:noFill/>
        </p:spPr>
        <p:txBody>
          <a:bodyPr wrap="square" lIns="0" tIns="0" rIns="0" bIns="0" rtlCol="0" anchor="ctr"/>
          <a:lstStyle/>
          <a:p>
            <a:pPr marL="0" indent="0">
              <a:buNone/>
            </a:pPr>
            <a:r>
              <a:rPr lang="en-US" sz="850" dirty="0">
                <a:solidFill>
                  <a:srgbClr val="333333"/>
                </a:solidFill>
                <a:latin typeface="Calibri" panose="020F0502020204030204" pitchFamily="34" charset="0"/>
                <a:ea typeface="Calibri" panose="020F0502020204030204" pitchFamily="34" charset="-122"/>
                <a:cs typeface="Calibri" panose="020F0502020204030204" pitchFamily="34" charset="-120"/>
              </a:rPr>
              <a:t>• Institutional licensing to colleges, corporates &amp; government bodies</a:t>
            </a:r>
            <a:endParaRPr lang="en-US" sz="850" dirty="0"/>
          </a:p>
          <a:p>
            <a:pPr marL="0" indent="0">
              <a:buNone/>
            </a:pPr>
            <a:r>
              <a:rPr lang="en-US" sz="850" dirty="0">
                <a:solidFill>
                  <a:srgbClr val="333333"/>
                </a:solidFill>
                <a:latin typeface="Calibri" panose="020F0502020204030204" pitchFamily="34" charset="0"/>
                <a:ea typeface="Calibri" panose="020F0502020204030204" pitchFamily="34" charset="-122"/>
                <a:cs typeface="Calibri" panose="020F0502020204030204" pitchFamily="34" charset="-120"/>
              </a:rPr>
              <a:t>• Media coverage via tech blogs, safety app review channels &amp; press releases</a:t>
            </a:r>
            <a:endParaRPr lang="en-US" sz="850" dirty="0"/>
          </a:p>
          <a:p>
            <a:pPr marL="0" indent="0">
              <a:buNone/>
            </a:pPr>
            <a:r>
              <a:rPr lang="en-US" sz="850" dirty="0">
                <a:solidFill>
                  <a:srgbClr val="333333"/>
                </a:solidFill>
                <a:latin typeface="Calibri" panose="020F0502020204030204" pitchFamily="34" charset="0"/>
                <a:ea typeface="Calibri" panose="020F0502020204030204" pitchFamily="34" charset="-122"/>
                <a:cs typeface="Calibri" panose="020F0502020204030204" pitchFamily="34" charset="-120"/>
              </a:rPr>
              <a:t>• Language localisation: Hindi, Telugu, Odia, Tamil, Bengali</a:t>
            </a:r>
            <a:endParaRPr lang="en-US" sz="850" dirty="0"/>
          </a:p>
          <a:p>
            <a:pPr marL="0" indent="0">
              <a:buNone/>
            </a:pPr>
            <a:r>
              <a:rPr lang="en-US" sz="850" dirty="0">
                <a:solidFill>
                  <a:srgbClr val="333333"/>
                </a:solidFill>
                <a:latin typeface="Calibri" panose="020F0502020204030204" pitchFamily="34" charset="0"/>
                <a:ea typeface="Calibri" panose="020F0502020204030204" pitchFamily="34" charset="-122"/>
                <a:cs typeface="Calibri" panose="020F0502020204030204" pitchFamily="34" charset="-120"/>
              </a:rPr>
              <a:t>• Target: 500,000 users | Launch Premium Safe Walk+ tier</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59436" cy="4773168"/>
          </a:xfrm>
          <a:prstGeom prst="rect">
            <a:avLst/>
          </a:prstGeom>
          <a:solidFill>
            <a:srgbClr val="6062FF"/>
          </a:solidFill>
          <a:ln w="12700">
            <a:solidFill>
              <a:srgbClr val="6062FF"/>
            </a:solidFill>
            <a:prstDash val="solid"/>
          </a:ln>
        </p:spPr>
      </p:sp>
      <p:pic>
        <p:nvPicPr>
          <p:cNvPr id="3" name="Image 0" descr="preencoded.png"/>
          <p:cNvPicPr>
            <a:picLocks noChangeAspect="1"/>
          </p:cNvPicPr>
          <p:nvPr/>
        </p:nvPicPr>
        <p:blipFill>
          <a:blip r:embed="rId34"/>
          <a:stretch>
            <a:fillRect/>
          </a:stretch>
        </p:blipFill>
        <p:spPr>
          <a:xfrm>
            <a:off x="8321040" y="45720"/>
            <a:ext cx="658368" cy="658368"/>
          </a:xfrm>
          <a:prstGeom prst="rect">
            <a:avLst/>
          </a:prstGeom>
        </p:spPr>
      </p:pic>
      <p:sp>
        <p:nvSpPr>
          <p:cNvPr id="4" name="Shape 1"/>
          <p:cNvSpPr/>
          <p:nvPr/>
        </p:nvSpPr>
        <p:spPr>
          <a:xfrm>
            <a:off x="0" y="4773168"/>
            <a:ext cx="9144000" cy="370332"/>
          </a:xfrm>
          <a:prstGeom prst="rect">
            <a:avLst/>
          </a:prstGeom>
          <a:solidFill>
            <a:srgbClr val="FFFFFF"/>
          </a:solidFill>
          <a:ln w="12700">
            <a:solidFill>
              <a:srgbClr val="FFFFFF"/>
            </a:solidFill>
            <a:prstDash val="solid"/>
          </a:ln>
        </p:spPr>
      </p:sp>
      <p:sp>
        <p:nvSpPr>
          <p:cNvPr id="5" name="Shape 2"/>
          <p:cNvSpPr/>
          <p:nvPr/>
        </p:nvSpPr>
        <p:spPr>
          <a:xfrm>
            <a:off x="0" y="4773168"/>
            <a:ext cx="59436" cy="370332"/>
          </a:xfrm>
          <a:prstGeom prst="rect">
            <a:avLst/>
          </a:prstGeom>
          <a:solidFill>
            <a:srgbClr val="0F9ED5"/>
          </a:solidFill>
          <a:ln w="12700">
            <a:solidFill>
              <a:srgbClr val="0F9ED5"/>
            </a:solidFill>
            <a:prstDash val="solid"/>
          </a:ln>
        </p:spPr>
      </p:sp>
      <p:sp>
        <p:nvSpPr>
          <p:cNvPr id="6" name="Text 3"/>
          <p:cNvSpPr/>
          <p:nvPr/>
        </p:nvSpPr>
        <p:spPr>
          <a:xfrm>
            <a:off x="109728" y="4823460"/>
            <a:ext cx="5029200" cy="146304"/>
          </a:xfrm>
          <a:prstGeom prst="rect">
            <a:avLst/>
          </a:prstGeom>
          <a:noFill/>
        </p:spPr>
        <p:txBody>
          <a:bodyPr wrap="square" lIns="0" tIns="0" rIns="0" bIns="0" rtlCol="0" anchor="ctr"/>
          <a:lstStyle/>
          <a:p>
            <a:pPr marL="0" indent="0">
              <a:buNone/>
            </a:pPr>
            <a:r>
              <a:rPr lang="en-US" sz="650" dirty="0">
                <a:solidFill>
                  <a:srgbClr val="767676"/>
                </a:solidFill>
                <a:latin typeface="Calibri" panose="020F0502020204030204" pitchFamily="34" charset="0"/>
                <a:ea typeface="Calibri" panose="020F0502020204030204" pitchFamily="34" charset="-122"/>
                <a:cs typeface="Calibri" panose="020F0502020204030204" pitchFamily="34" charset="-120"/>
              </a:rPr>
              <a:t>HackNovation 2.0  |  R&amp;D Cell, GIET University, Gunupur</a:t>
            </a:r>
            <a:endParaRPr lang="en-US" sz="650" dirty="0"/>
          </a:p>
        </p:txBody>
      </p:sp>
      <p:sp>
        <p:nvSpPr>
          <p:cNvPr id="7" name="Text 4"/>
          <p:cNvSpPr/>
          <p:nvPr/>
        </p:nvSpPr>
        <p:spPr>
          <a:xfrm>
            <a:off x="4389120" y="4823460"/>
            <a:ext cx="365760" cy="146304"/>
          </a:xfrm>
          <a:prstGeom prst="rect">
            <a:avLst/>
          </a:prstGeom>
          <a:noFill/>
        </p:spPr>
        <p:txBody>
          <a:bodyPr wrap="square" lIns="0" tIns="0" rIns="0" bIns="0" rtlCol="0" anchor="ctr"/>
          <a:lstStyle/>
          <a:p>
            <a:pPr marL="0" indent="0" algn="ctr">
              <a:buNone/>
            </a:pPr>
            <a:r>
              <a:rPr lang="en-US" sz="650" dirty="0">
                <a:solidFill>
                  <a:srgbClr val="767676"/>
                </a:solidFill>
                <a:latin typeface="Calibri" panose="020F0502020204030204" pitchFamily="34" charset="0"/>
                <a:ea typeface="Calibri" panose="020F0502020204030204" pitchFamily="34" charset="-122"/>
                <a:cs typeface="Calibri" panose="020F0502020204030204" pitchFamily="34" charset="-120"/>
              </a:rPr>
              <a:t>8</a:t>
            </a:r>
            <a:endParaRPr lang="en-US" sz="650" dirty="0"/>
          </a:p>
        </p:txBody>
      </p:sp>
      <p:sp>
        <p:nvSpPr>
          <p:cNvPr id="8" name="Text 5"/>
          <p:cNvSpPr/>
          <p:nvPr/>
        </p:nvSpPr>
        <p:spPr>
          <a:xfrm>
            <a:off x="7223760" y="4823460"/>
            <a:ext cx="1828800" cy="146304"/>
          </a:xfrm>
          <a:prstGeom prst="rect">
            <a:avLst/>
          </a:prstGeom>
          <a:noFill/>
        </p:spPr>
        <p:txBody>
          <a:bodyPr wrap="square" lIns="0" tIns="0" rIns="0" bIns="0" rtlCol="0" anchor="ctr"/>
          <a:lstStyle/>
          <a:p>
            <a:pPr marL="0" indent="0" algn="r">
              <a:buNone/>
            </a:pPr>
            <a:r>
              <a:rPr lang="en-US" sz="650" dirty="0">
                <a:solidFill>
                  <a:srgbClr val="767676"/>
                </a:solidFill>
                <a:latin typeface="Calibri" panose="020F0502020204030204" pitchFamily="34" charset="0"/>
                <a:ea typeface="Calibri" panose="020F0502020204030204" pitchFamily="34" charset="-122"/>
                <a:cs typeface="Calibri" panose="020F0502020204030204" pitchFamily="34" charset="-120"/>
              </a:rPr>
              <a:t>COD-THREE</a:t>
            </a:r>
            <a:endParaRPr lang="en-US" sz="650" dirty="0"/>
          </a:p>
        </p:txBody>
      </p:sp>
      <p:sp>
        <p:nvSpPr>
          <p:cNvPr id="9" name="Text 6"/>
          <p:cNvSpPr/>
          <p:nvPr/>
        </p:nvSpPr>
        <p:spPr>
          <a:xfrm>
            <a:off x="256032" y="219456"/>
            <a:ext cx="7863840" cy="530352"/>
          </a:xfrm>
          <a:prstGeom prst="rect">
            <a:avLst/>
          </a:prstGeom>
          <a:noFill/>
        </p:spPr>
        <p:txBody>
          <a:bodyPr wrap="square" lIns="0" tIns="0" rIns="0" bIns="0" rtlCol="0" anchor="ctr"/>
          <a:lstStyle/>
          <a:p>
            <a:pPr marL="0" indent="0">
              <a:buNone/>
            </a:pPr>
            <a:r>
              <a:rPr lang="en-US" sz="2600" b="1" dirty="0">
                <a:solidFill>
                  <a:srgbClr val="000000"/>
                </a:solidFill>
                <a:latin typeface="Calibri" panose="020F0502020204030204" pitchFamily="34" charset="0"/>
                <a:ea typeface="Calibri" panose="020F0502020204030204" pitchFamily="34" charset="-122"/>
                <a:cs typeface="Calibri" panose="020F0502020204030204" pitchFamily="34" charset="-120"/>
              </a:rPr>
              <a:t>Future Roadmap</a:t>
            </a:r>
            <a:endParaRPr lang="en-US" sz="2600" dirty="0"/>
          </a:p>
        </p:txBody>
      </p:sp>
      <p:sp>
        <p:nvSpPr>
          <p:cNvPr id="10" name="Shape 7"/>
          <p:cNvSpPr/>
          <p:nvPr/>
        </p:nvSpPr>
        <p:spPr>
          <a:xfrm>
            <a:off x="256032" y="768096"/>
            <a:ext cx="777240" cy="38405"/>
          </a:xfrm>
          <a:prstGeom prst="rect">
            <a:avLst/>
          </a:prstGeom>
          <a:solidFill>
            <a:srgbClr val="0F9ED5"/>
          </a:solidFill>
          <a:ln w="12700">
            <a:solidFill>
              <a:srgbClr val="0F9ED5"/>
            </a:solidFill>
            <a:prstDash val="solid"/>
          </a:ln>
        </p:spPr>
      </p:sp>
      <p:sp>
        <p:nvSpPr>
          <p:cNvPr id="11" name="Text 8"/>
          <p:cNvSpPr/>
          <p:nvPr/>
        </p:nvSpPr>
        <p:spPr>
          <a:xfrm>
            <a:off x="237744" y="896112"/>
            <a:ext cx="8668512" cy="219456"/>
          </a:xfrm>
          <a:prstGeom prst="rect">
            <a:avLst/>
          </a:prstGeom>
          <a:noFill/>
        </p:spPr>
        <p:txBody>
          <a:bodyPr wrap="square" lIns="0" tIns="0" rIns="0" bIns="0" rtlCol="0" anchor="ctr"/>
          <a:lstStyle/>
          <a:p>
            <a:pPr marL="0" indent="0">
              <a:buNone/>
            </a:pPr>
            <a:r>
              <a:rPr lang="en-US" sz="1100" b="1" dirty="0">
                <a:solidFill>
                  <a:srgbClr val="000000"/>
                </a:solidFill>
                <a:latin typeface="Calibri" panose="020F0502020204030204" pitchFamily="34" charset="0"/>
                <a:ea typeface="Calibri" panose="020F0502020204030204" pitchFamily="34" charset="-122"/>
                <a:cs typeface="Calibri" panose="020F0502020204030204" pitchFamily="34" charset="-120"/>
              </a:rPr>
              <a:t>Development Timeline &amp; Milestones</a:t>
            </a:r>
            <a:endParaRPr lang="en-US" sz="1100" dirty="0"/>
          </a:p>
        </p:txBody>
      </p:sp>
      <p:sp>
        <p:nvSpPr>
          <p:cNvPr id="12" name="Shape 9"/>
          <p:cNvSpPr/>
          <p:nvPr>
            <p:custDataLst>
              <p:tags r:id="rId1"/>
            </p:custDataLst>
          </p:nvPr>
        </p:nvSpPr>
        <p:spPr>
          <a:xfrm>
            <a:off x="640080" y="1865376"/>
            <a:ext cx="8193024" cy="50292"/>
          </a:xfrm>
          <a:prstGeom prst="rect">
            <a:avLst/>
          </a:prstGeom>
          <a:solidFill>
            <a:srgbClr val="DDDDDD"/>
          </a:solidFill>
          <a:ln w="12700">
            <a:solidFill>
              <a:srgbClr val="DDDDDD"/>
            </a:solidFill>
            <a:prstDash val="solid"/>
          </a:ln>
        </p:spPr>
      </p:sp>
      <p:sp>
        <p:nvSpPr>
          <p:cNvPr id="13" name="Text 10"/>
          <p:cNvSpPr/>
          <p:nvPr>
            <p:custDataLst>
              <p:tags r:id="rId2"/>
            </p:custDataLst>
          </p:nvPr>
        </p:nvSpPr>
        <p:spPr>
          <a:xfrm>
            <a:off x="640080" y="1517904"/>
            <a:ext cx="1508760" cy="228600"/>
          </a:xfrm>
          <a:prstGeom prst="rect">
            <a:avLst/>
          </a:prstGeom>
          <a:noFill/>
        </p:spPr>
        <p:txBody>
          <a:bodyPr wrap="square" lIns="0" tIns="0" rIns="0" bIns="0" rtlCol="0" anchor="ctr"/>
          <a:lstStyle/>
          <a:p>
            <a:pPr marL="0" indent="0" algn="ctr">
              <a:buNone/>
            </a:pPr>
            <a:r>
              <a:rPr lang="en-US" sz="850" b="1" dirty="0">
                <a:solidFill>
                  <a:srgbClr val="6062FF"/>
                </a:solidFill>
                <a:latin typeface="Calibri" panose="020F0502020204030204" pitchFamily="34" charset="0"/>
                <a:ea typeface="Calibri" panose="020F0502020204030204" pitchFamily="34" charset="-122"/>
                <a:cs typeface="Calibri" panose="020F0502020204030204" pitchFamily="34" charset="-120"/>
              </a:rPr>
              <a:t>Q1 202</a:t>
            </a:r>
            <a:r>
              <a:rPr lang="en-IN" altLang="en-US" sz="850" b="1" dirty="0">
                <a:solidFill>
                  <a:srgbClr val="6062FF"/>
                </a:solidFill>
                <a:latin typeface="Calibri" panose="020F0502020204030204" pitchFamily="34" charset="0"/>
                <a:ea typeface="Calibri" panose="020F0502020204030204" pitchFamily="34" charset="-122"/>
                <a:cs typeface="Calibri" panose="020F0502020204030204" pitchFamily="34" charset="-120"/>
              </a:rPr>
              <a:t>6</a:t>
            </a:r>
          </a:p>
        </p:txBody>
      </p:sp>
      <p:sp>
        <p:nvSpPr>
          <p:cNvPr id="14" name="Shape 11"/>
          <p:cNvSpPr/>
          <p:nvPr>
            <p:custDataLst>
              <p:tags r:id="rId3"/>
            </p:custDataLst>
          </p:nvPr>
        </p:nvSpPr>
        <p:spPr>
          <a:xfrm>
            <a:off x="1152144" y="1764792"/>
            <a:ext cx="310896" cy="310896"/>
          </a:xfrm>
          <a:prstGeom prst="ellipse">
            <a:avLst/>
          </a:prstGeom>
          <a:solidFill>
            <a:srgbClr val="6062FF"/>
          </a:solidFill>
          <a:ln w="12700">
            <a:solidFill>
              <a:srgbClr val="6062FF"/>
            </a:solidFill>
            <a:prstDash val="solid"/>
          </a:ln>
        </p:spPr>
      </p:sp>
      <p:sp>
        <p:nvSpPr>
          <p:cNvPr id="15" name="Shape 12"/>
          <p:cNvSpPr/>
          <p:nvPr>
            <p:custDataLst>
              <p:tags r:id="rId4"/>
            </p:custDataLst>
          </p:nvPr>
        </p:nvSpPr>
        <p:spPr>
          <a:xfrm>
            <a:off x="548640" y="2176272"/>
            <a:ext cx="1536192" cy="1426464"/>
          </a:xfrm>
          <a:prstGeom prst="rect">
            <a:avLst/>
          </a:prstGeom>
          <a:solidFill>
            <a:srgbClr val="F4F6FF"/>
          </a:solidFill>
          <a:ln w="15240">
            <a:solidFill>
              <a:srgbClr val="6062FF"/>
            </a:solidFill>
            <a:prstDash val="solid"/>
          </a:ln>
        </p:spPr>
      </p:sp>
      <p:sp>
        <p:nvSpPr>
          <p:cNvPr id="16" name="Shape 13"/>
          <p:cNvSpPr/>
          <p:nvPr>
            <p:custDataLst>
              <p:tags r:id="rId5"/>
            </p:custDataLst>
          </p:nvPr>
        </p:nvSpPr>
        <p:spPr>
          <a:xfrm>
            <a:off x="548640" y="2176272"/>
            <a:ext cx="1536192" cy="47549"/>
          </a:xfrm>
          <a:prstGeom prst="rect">
            <a:avLst/>
          </a:prstGeom>
          <a:solidFill>
            <a:srgbClr val="6062FF"/>
          </a:solidFill>
          <a:ln w="12700">
            <a:solidFill>
              <a:srgbClr val="6062FF"/>
            </a:solidFill>
            <a:prstDash val="solid"/>
          </a:ln>
        </p:spPr>
      </p:sp>
      <p:sp>
        <p:nvSpPr>
          <p:cNvPr id="17" name="Text 14"/>
          <p:cNvSpPr/>
          <p:nvPr>
            <p:custDataLst>
              <p:tags r:id="rId6"/>
            </p:custDataLst>
          </p:nvPr>
        </p:nvSpPr>
        <p:spPr>
          <a:xfrm>
            <a:off x="603504" y="2231136"/>
            <a:ext cx="1426464" cy="256032"/>
          </a:xfrm>
          <a:prstGeom prst="rect">
            <a:avLst/>
          </a:prstGeom>
          <a:noFill/>
        </p:spPr>
        <p:txBody>
          <a:bodyPr wrap="square" lIns="0" tIns="0" rIns="0" bIns="0" rtlCol="0" anchor="ctr"/>
          <a:lstStyle/>
          <a:p>
            <a:pPr marL="0" indent="0" algn="ctr">
              <a:buNone/>
            </a:pPr>
            <a:r>
              <a:rPr lang="en-US" sz="1000" b="1" dirty="0">
                <a:solidFill>
                  <a:srgbClr val="6062FF"/>
                </a:solidFill>
                <a:latin typeface="Calibri" panose="020F0502020204030204" pitchFamily="34" charset="0"/>
                <a:ea typeface="Calibri" panose="020F0502020204030204" pitchFamily="34" charset="-122"/>
                <a:cs typeface="Calibri" panose="020F0502020204030204" pitchFamily="34" charset="-120"/>
              </a:rPr>
              <a:t>MVP Launch</a:t>
            </a:r>
            <a:endParaRPr lang="en-US" sz="1000" dirty="0"/>
          </a:p>
        </p:txBody>
      </p:sp>
      <p:sp>
        <p:nvSpPr>
          <p:cNvPr id="18" name="Text 15"/>
          <p:cNvSpPr/>
          <p:nvPr>
            <p:custDataLst>
              <p:tags r:id="rId7"/>
            </p:custDataLst>
          </p:nvPr>
        </p:nvSpPr>
        <p:spPr>
          <a:xfrm>
            <a:off x="603504" y="2514600"/>
            <a:ext cx="1426464" cy="1005840"/>
          </a:xfrm>
          <a:prstGeom prst="rect">
            <a:avLst/>
          </a:prstGeom>
          <a:noFill/>
        </p:spPr>
        <p:txBody>
          <a:bodyPr wrap="square" lIns="0" tIns="0" rIns="0" bIns="0" rtlCol="0" anchor="ctr"/>
          <a:lstStyle/>
          <a:p>
            <a:pPr marL="0" indent="0" algn="ctr">
              <a:buNone/>
            </a:pPr>
            <a:r>
              <a:rPr lang="en-US" sz="800" dirty="0">
                <a:solidFill>
                  <a:srgbClr val="444444"/>
                </a:solidFill>
                <a:latin typeface="Calibri" panose="020F0502020204030204" pitchFamily="34" charset="0"/>
                <a:ea typeface="Calibri" panose="020F0502020204030204" pitchFamily="34" charset="-122"/>
                <a:cs typeface="Calibri" panose="020F0502020204030204" pitchFamily="34" charset="-120"/>
              </a:rPr>
              <a:t>Core SOS:</a:t>
            </a:r>
            <a:endParaRPr lang="en-US" sz="800" dirty="0"/>
          </a:p>
          <a:p>
            <a:pPr marL="0" indent="0" algn="ctr">
              <a:buNone/>
            </a:pPr>
            <a:r>
              <a:rPr lang="en-US" sz="800" dirty="0">
                <a:solidFill>
                  <a:srgbClr val="444444"/>
                </a:solidFill>
                <a:latin typeface="Calibri" panose="020F0502020204030204" pitchFamily="34" charset="0"/>
                <a:ea typeface="Calibri" panose="020F0502020204030204" pitchFamily="34" charset="-122"/>
                <a:cs typeface="Calibri" panose="020F0502020204030204" pitchFamily="34" charset="-120"/>
              </a:rPr>
              <a:t>Vol×4, Shake</a:t>
            </a:r>
            <a:endParaRPr lang="en-US" sz="800" dirty="0"/>
          </a:p>
          <a:p>
            <a:pPr marL="0" indent="0" algn="ctr">
              <a:buNone/>
            </a:pPr>
            <a:r>
              <a:rPr lang="en-US" sz="800" dirty="0">
                <a:solidFill>
                  <a:srgbClr val="444444"/>
                </a:solidFill>
                <a:latin typeface="Calibri" panose="020F0502020204030204" pitchFamily="34" charset="0"/>
                <a:ea typeface="Calibri" panose="020F0502020204030204" pitchFamily="34" charset="-122"/>
                <a:cs typeface="Calibri" panose="020F0502020204030204" pitchFamily="34" charset="-120"/>
              </a:rPr>
              <a:t>SMS + GPS alerts</a:t>
            </a:r>
            <a:endParaRPr lang="en-US" sz="800" dirty="0"/>
          </a:p>
        </p:txBody>
      </p:sp>
      <p:sp>
        <p:nvSpPr>
          <p:cNvPr id="19" name="Text 16"/>
          <p:cNvSpPr/>
          <p:nvPr>
            <p:custDataLst>
              <p:tags r:id="rId8"/>
            </p:custDataLst>
          </p:nvPr>
        </p:nvSpPr>
        <p:spPr>
          <a:xfrm>
            <a:off x="2267712" y="1517904"/>
            <a:ext cx="1508760" cy="228600"/>
          </a:xfrm>
          <a:prstGeom prst="rect">
            <a:avLst/>
          </a:prstGeom>
          <a:noFill/>
        </p:spPr>
        <p:txBody>
          <a:bodyPr wrap="square" lIns="0" tIns="0" rIns="0" bIns="0" rtlCol="0" anchor="ctr"/>
          <a:lstStyle/>
          <a:p>
            <a:pPr marL="0" indent="0" algn="ctr">
              <a:buNone/>
            </a:pPr>
            <a:r>
              <a:rPr lang="en-US" sz="850" b="1" dirty="0">
                <a:solidFill>
                  <a:srgbClr val="0F9ED5"/>
                </a:solidFill>
                <a:latin typeface="Calibri" panose="020F0502020204030204" pitchFamily="34" charset="0"/>
                <a:ea typeface="Calibri" panose="020F0502020204030204" pitchFamily="34" charset="-122"/>
                <a:cs typeface="Calibri" panose="020F0502020204030204" pitchFamily="34" charset="-120"/>
              </a:rPr>
              <a:t>Q2 202</a:t>
            </a:r>
            <a:r>
              <a:rPr lang="en-IN" altLang="en-US" sz="850" b="1" dirty="0">
                <a:solidFill>
                  <a:srgbClr val="0F9ED5"/>
                </a:solidFill>
                <a:latin typeface="Calibri" panose="020F0502020204030204" pitchFamily="34" charset="0"/>
                <a:ea typeface="Calibri" panose="020F0502020204030204" pitchFamily="34" charset="-122"/>
                <a:cs typeface="Calibri" panose="020F0502020204030204" pitchFamily="34" charset="-120"/>
              </a:rPr>
              <a:t>6</a:t>
            </a:r>
          </a:p>
        </p:txBody>
      </p:sp>
      <p:sp>
        <p:nvSpPr>
          <p:cNvPr id="20" name="Shape 17"/>
          <p:cNvSpPr/>
          <p:nvPr>
            <p:custDataLst>
              <p:tags r:id="rId9"/>
            </p:custDataLst>
          </p:nvPr>
        </p:nvSpPr>
        <p:spPr>
          <a:xfrm>
            <a:off x="2779776" y="1764792"/>
            <a:ext cx="310896" cy="310896"/>
          </a:xfrm>
          <a:prstGeom prst="ellipse">
            <a:avLst/>
          </a:prstGeom>
          <a:solidFill>
            <a:srgbClr val="0F9ED5"/>
          </a:solidFill>
          <a:ln w="12700">
            <a:solidFill>
              <a:srgbClr val="0F9ED5"/>
            </a:solidFill>
            <a:prstDash val="solid"/>
          </a:ln>
        </p:spPr>
      </p:sp>
      <p:sp>
        <p:nvSpPr>
          <p:cNvPr id="21" name="Shape 18"/>
          <p:cNvSpPr/>
          <p:nvPr>
            <p:custDataLst>
              <p:tags r:id="rId10"/>
            </p:custDataLst>
          </p:nvPr>
        </p:nvSpPr>
        <p:spPr>
          <a:xfrm>
            <a:off x="2176272" y="2176272"/>
            <a:ext cx="1536192" cy="1426464"/>
          </a:xfrm>
          <a:prstGeom prst="rect">
            <a:avLst/>
          </a:prstGeom>
          <a:solidFill>
            <a:srgbClr val="F4F6FF"/>
          </a:solidFill>
          <a:ln w="15240">
            <a:solidFill>
              <a:srgbClr val="0F9ED5"/>
            </a:solidFill>
            <a:prstDash val="solid"/>
          </a:ln>
        </p:spPr>
      </p:sp>
      <p:sp>
        <p:nvSpPr>
          <p:cNvPr id="22" name="Shape 19"/>
          <p:cNvSpPr/>
          <p:nvPr>
            <p:custDataLst>
              <p:tags r:id="rId11"/>
            </p:custDataLst>
          </p:nvPr>
        </p:nvSpPr>
        <p:spPr>
          <a:xfrm>
            <a:off x="2176272" y="2176272"/>
            <a:ext cx="1536192" cy="47549"/>
          </a:xfrm>
          <a:prstGeom prst="rect">
            <a:avLst/>
          </a:prstGeom>
          <a:solidFill>
            <a:srgbClr val="0F9ED5"/>
          </a:solidFill>
          <a:ln w="12700">
            <a:solidFill>
              <a:srgbClr val="0F9ED5"/>
            </a:solidFill>
            <a:prstDash val="solid"/>
          </a:ln>
        </p:spPr>
      </p:sp>
      <p:sp>
        <p:nvSpPr>
          <p:cNvPr id="23" name="Text 20"/>
          <p:cNvSpPr/>
          <p:nvPr>
            <p:custDataLst>
              <p:tags r:id="rId12"/>
            </p:custDataLst>
          </p:nvPr>
        </p:nvSpPr>
        <p:spPr>
          <a:xfrm>
            <a:off x="2231136" y="2231136"/>
            <a:ext cx="1426464" cy="256032"/>
          </a:xfrm>
          <a:prstGeom prst="rect">
            <a:avLst/>
          </a:prstGeom>
          <a:noFill/>
        </p:spPr>
        <p:txBody>
          <a:bodyPr wrap="square" lIns="0" tIns="0" rIns="0" bIns="0" rtlCol="0" anchor="ctr"/>
          <a:lstStyle/>
          <a:p>
            <a:pPr marL="0" indent="0" algn="ctr">
              <a:buNone/>
            </a:pPr>
            <a:r>
              <a:rPr lang="en-US" sz="1000" b="1" dirty="0">
                <a:solidFill>
                  <a:srgbClr val="0F9ED5"/>
                </a:solidFill>
                <a:latin typeface="Calibri" panose="020F0502020204030204" pitchFamily="34" charset="0"/>
                <a:ea typeface="Calibri" panose="020F0502020204030204" pitchFamily="34" charset="-122"/>
                <a:cs typeface="Calibri" panose="020F0502020204030204" pitchFamily="34" charset="-120"/>
              </a:rPr>
              <a:t>AI &amp; Walk</a:t>
            </a:r>
            <a:endParaRPr lang="en-US" sz="1000" dirty="0"/>
          </a:p>
        </p:txBody>
      </p:sp>
      <p:sp>
        <p:nvSpPr>
          <p:cNvPr id="24" name="Text 21"/>
          <p:cNvSpPr/>
          <p:nvPr>
            <p:custDataLst>
              <p:tags r:id="rId13"/>
            </p:custDataLst>
          </p:nvPr>
        </p:nvSpPr>
        <p:spPr>
          <a:xfrm>
            <a:off x="2231136" y="2514600"/>
            <a:ext cx="1426464" cy="1005840"/>
          </a:xfrm>
          <a:prstGeom prst="rect">
            <a:avLst/>
          </a:prstGeom>
          <a:noFill/>
        </p:spPr>
        <p:txBody>
          <a:bodyPr wrap="square" lIns="0" tIns="0" rIns="0" bIns="0" rtlCol="0" anchor="ctr"/>
          <a:lstStyle/>
          <a:p>
            <a:pPr marL="0" indent="0" algn="ctr">
              <a:buNone/>
            </a:pPr>
            <a:r>
              <a:rPr lang="en-US" sz="800" dirty="0">
                <a:solidFill>
                  <a:srgbClr val="444444"/>
                </a:solidFill>
                <a:latin typeface="Calibri" panose="020F0502020204030204" pitchFamily="34" charset="0"/>
                <a:ea typeface="Calibri" panose="020F0502020204030204" pitchFamily="34" charset="-122"/>
                <a:cs typeface="Calibri" panose="020F0502020204030204" pitchFamily="34" charset="-120"/>
              </a:rPr>
              <a:t>Offline ChatAI</a:t>
            </a:r>
            <a:endParaRPr lang="en-US" sz="800" dirty="0"/>
          </a:p>
          <a:p>
            <a:pPr marL="0" indent="0" algn="ctr">
              <a:buNone/>
            </a:pPr>
            <a:r>
              <a:rPr lang="en-US" sz="800" dirty="0">
                <a:solidFill>
                  <a:srgbClr val="444444"/>
                </a:solidFill>
                <a:latin typeface="Calibri" panose="020F0502020204030204" pitchFamily="34" charset="0"/>
                <a:ea typeface="Calibri" panose="020F0502020204030204" pitchFamily="34" charset="-122"/>
                <a:cs typeface="Calibri" panose="020F0502020204030204" pitchFamily="34" charset="-120"/>
              </a:rPr>
              <a:t>Safe Walk timer</a:t>
            </a:r>
            <a:endParaRPr lang="en-US" sz="800" dirty="0"/>
          </a:p>
          <a:p>
            <a:pPr marL="0" indent="0" algn="ctr">
              <a:buNone/>
            </a:pPr>
            <a:r>
              <a:rPr lang="en-US" sz="800" dirty="0">
                <a:solidFill>
                  <a:srgbClr val="444444"/>
                </a:solidFill>
                <a:latin typeface="Calibri" panose="020F0502020204030204" pitchFamily="34" charset="0"/>
                <a:ea typeface="Calibri" panose="020F0502020204030204" pitchFamily="34" charset="-122"/>
                <a:cs typeface="Calibri" panose="020F0502020204030204" pitchFamily="34" charset="-120"/>
              </a:rPr>
              <a:t>Fake Call screen</a:t>
            </a:r>
            <a:endParaRPr lang="en-US" sz="800" dirty="0"/>
          </a:p>
        </p:txBody>
      </p:sp>
      <p:sp>
        <p:nvSpPr>
          <p:cNvPr id="25" name="Text 22"/>
          <p:cNvSpPr/>
          <p:nvPr>
            <p:custDataLst>
              <p:tags r:id="rId14"/>
            </p:custDataLst>
          </p:nvPr>
        </p:nvSpPr>
        <p:spPr>
          <a:xfrm>
            <a:off x="3895344" y="1517904"/>
            <a:ext cx="1508760" cy="228600"/>
          </a:xfrm>
          <a:prstGeom prst="rect">
            <a:avLst/>
          </a:prstGeom>
          <a:noFill/>
        </p:spPr>
        <p:txBody>
          <a:bodyPr wrap="square" lIns="0" tIns="0" rIns="0" bIns="0" rtlCol="0" anchor="ctr"/>
          <a:lstStyle/>
          <a:p>
            <a:pPr marL="0" indent="0" algn="ctr">
              <a:buNone/>
            </a:pPr>
            <a:r>
              <a:rPr lang="en-US" sz="850" b="1" dirty="0">
                <a:solidFill>
                  <a:srgbClr val="27AE60"/>
                </a:solidFill>
                <a:latin typeface="Calibri" panose="020F0502020204030204" pitchFamily="34" charset="0"/>
                <a:ea typeface="Calibri" panose="020F0502020204030204" pitchFamily="34" charset="-122"/>
                <a:cs typeface="Calibri" panose="020F0502020204030204" pitchFamily="34" charset="-120"/>
              </a:rPr>
              <a:t>Q3 202</a:t>
            </a:r>
            <a:r>
              <a:rPr lang="en-IN" altLang="en-US" sz="850" b="1" dirty="0">
                <a:solidFill>
                  <a:srgbClr val="27AE60"/>
                </a:solidFill>
                <a:latin typeface="Calibri" panose="020F0502020204030204" pitchFamily="34" charset="0"/>
                <a:ea typeface="Calibri" panose="020F0502020204030204" pitchFamily="34" charset="-122"/>
                <a:cs typeface="Calibri" panose="020F0502020204030204" pitchFamily="34" charset="-120"/>
              </a:rPr>
              <a:t>6</a:t>
            </a:r>
          </a:p>
        </p:txBody>
      </p:sp>
      <p:sp>
        <p:nvSpPr>
          <p:cNvPr id="26" name="Shape 23"/>
          <p:cNvSpPr/>
          <p:nvPr>
            <p:custDataLst>
              <p:tags r:id="rId15"/>
            </p:custDataLst>
          </p:nvPr>
        </p:nvSpPr>
        <p:spPr>
          <a:xfrm>
            <a:off x="4407408" y="1764792"/>
            <a:ext cx="310896" cy="310896"/>
          </a:xfrm>
          <a:prstGeom prst="ellipse">
            <a:avLst/>
          </a:prstGeom>
          <a:solidFill>
            <a:srgbClr val="27AE60"/>
          </a:solidFill>
          <a:ln w="12700">
            <a:solidFill>
              <a:srgbClr val="27AE60"/>
            </a:solidFill>
            <a:prstDash val="solid"/>
          </a:ln>
        </p:spPr>
      </p:sp>
      <p:sp>
        <p:nvSpPr>
          <p:cNvPr id="27" name="Shape 24"/>
          <p:cNvSpPr/>
          <p:nvPr>
            <p:custDataLst>
              <p:tags r:id="rId16"/>
            </p:custDataLst>
          </p:nvPr>
        </p:nvSpPr>
        <p:spPr>
          <a:xfrm>
            <a:off x="3803904" y="2176272"/>
            <a:ext cx="1536192" cy="1426464"/>
          </a:xfrm>
          <a:prstGeom prst="rect">
            <a:avLst/>
          </a:prstGeom>
          <a:solidFill>
            <a:srgbClr val="F4F6FF"/>
          </a:solidFill>
          <a:ln w="15240">
            <a:solidFill>
              <a:srgbClr val="27AE60"/>
            </a:solidFill>
            <a:prstDash val="solid"/>
          </a:ln>
        </p:spPr>
      </p:sp>
      <p:sp>
        <p:nvSpPr>
          <p:cNvPr id="28" name="Shape 25"/>
          <p:cNvSpPr/>
          <p:nvPr>
            <p:custDataLst>
              <p:tags r:id="rId17"/>
            </p:custDataLst>
          </p:nvPr>
        </p:nvSpPr>
        <p:spPr>
          <a:xfrm>
            <a:off x="3803904" y="2176272"/>
            <a:ext cx="1536192" cy="47549"/>
          </a:xfrm>
          <a:prstGeom prst="rect">
            <a:avLst/>
          </a:prstGeom>
          <a:solidFill>
            <a:srgbClr val="27AE60"/>
          </a:solidFill>
          <a:ln w="12700">
            <a:solidFill>
              <a:srgbClr val="27AE60"/>
            </a:solidFill>
            <a:prstDash val="solid"/>
          </a:ln>
        </p:spPr>
      </p:sp>
      <p:sp>
        <p:nvSpPr>
          <p:cNvPr id="29" name="Text 26"/>
          <p:cNvSpPr/>
          <p:nvPr>
            <p:custDataLst>
              <p:tags r:id="rId18"/>
            </p:custDataLst>
          </p:nvPr>
        </p:nvSpPr>
        <p:spPr>
          <a:xfrm>
            <a:off x="3858768" y="2231136"/>
            <a:ext cx="1426464" cy="256032"/>
          </a:xfrm>
          <a:prstGeom prst="rect">
            <a:avLst/>
          </a:prstGeom>
          <a:noFill/>
        </p:spPr>
        <p:txBody>
          <a:bodyPr wrap="square" lIns="0" tIns="0" rIns="0" bIns="0" rtlCol="0" anchor="ctr"/>
          <a:lstStyle/>
          <a:p>
            <a:pPr marL="0" indent="0" algn="ctr">
              <a:buNone/>
            </a:pPr>
            <a:r>
              <a:rPr lang="en-US" sz="1000" b="1" dirty="0">
                <a:solidFill>
                  <a:srgbClr val="27AE60"/>
                </a:solidFill>
                <a:latin typeface="Calibri" panose="020F0502020204030204" pitchFamily="34" charset="0"/>
                <a:ea typeface="Calibri" panose="020F0502020204030204" pitchFamily="34" charset="-122"/>
                <a:cs typeface="Calibri" panose="020F0502020204030204" pitchFamily="34" charset="-120"/>
              </a:rPr>
              <a:t>Play Store</a:t>
            </a:r>
            <a:endParaRPr lang="en-US" sz="1000" dirty="0"/>
          </a:p>
        </p:txBody>
      </p:sp>
      <p:sp>
        <p:nvSpPr>
          <p:cNvPr id="30" name="Text 27"/>
          <p:cNvSpPr/>
          <p:nvPr>
            <p:custDataLst>
              <p:tags r:id="rId19"/>
            </p:custDataLst>
          </p:nvPr>
        </p:nvSpPr>
        <p:spPr>
          <a:xfrm>
            <a:off x="3858768" y="2514600"/>
            <a:ext cx="1426464" cy="1005840"/>
          </a:xfrm>
          <a:prstGeom prst="rect">
            <a:avLst/>
          </a:prstGeom>
          <a:noFill/>
        </p:spPr>
        <p:txBody>
          <a:bodyPr wrap="square" lIns="0" tIns="0" rIns="0" bIns="0" rtlCol="0" anchor="ctr"/>
          <a:lstStyle/>
          <a:p>
            <a:pPr marL="0" indent="0" algn="ctr">
              <a:buNone/>
            </a:pPr>
            <a:r>
              <a:rPr lang="en-US" sz="800" dirty="0">
                <a:solidFill>
                  <a:srgbClr val="444444"/>
                </a:solidFill>
                <a:latin typeface="Calibri" panose="020F0502020204030204" pitchFamily="34" charset="0"/>
                <a:ea typeface="Calibri" panose="020F0502020204030204" pitchFamily="34" charset="-122"/>
                <a:cs typeface="Calibri" panose="020F0502020204030204" pitchFamily="34" charset="-120"/>
              </a:rPr>
              <a:t>Google Play listing</a:t>
            </a:r>
            <a:endParaRPr lang="en-US" sz="800" dirty="0"/>
          </a:p>
          <a:p>
            <a:pPr marL="0" indent="0" algn="ctr">
              <a:buNone/>
            </a:pPr>
            <a:r>
              <a:rPr lang="en-US" sz="800" dirty="0">
                <a:solidFill>
                  <a:srgbClr val="444444"/>
                </a:solidFill>
                <a:latin typeface="Calibri" panose="020F0502020204030204" pitchFamily="34" charset="0"/>
                <a:ea typeface="Calibri" panose="020F0502020204030204" pitchFamily="34" charset="-122"/>
                <a:cs typeface="Calibri" panose="020F0502020204030204" pitchFamily="34" charset="-120"/>
              </a:rPr>
              <a:t>UI overhaul</a:t>
            </a:r>
            <a:endParaRPr lang="en-US" sz="800" dirty="0"/>
          </a:p>
          <a:p>
            <a:pPr marL="0" indent="0" algn="ctr">
              <a:buNone/>
            </a:pPr>
            <a:r>
              <a:rPr lang="en-US" sz="800" dirty="0">
                <a:solidFill>
                  <a:srgbClr val="444444"/>
                </a:solidFill>
                <a:latin typeface="Calibri" panose="020F0502020204030204" pitchFamily="34" charset="0"/>
                <a:ea typeface="Calibri" panose="020F0502020204030204" pitchFamily="34" charset="-122"/>
                <a:cs typeface="Calibri" panose="020F0502020204030204" pitchFamily="34" charset="-120"/>
              </a:rPr>
              <a:t>50K users</a:t>
            </a:r>
            <a:endParaRPr lang="en-US" sz="800" dirty="0"/>
          </a:p>
        </p:txBody>
      </p:sp>
      <p:sp>
        <p:nvSpPr>
          <p:cNvPr id="31" name="Text 28"/>
          <p:cNvSpPr/>
          <p:nvPr>
            <p:custDataLst>
              <p:tags r:id="rId20"/>
            </p:custDataLst>
          </p:nvPr>
        </p:nvSpPr>
        <p:spPr>
          <a:xfrm>
            <a:off x="5522976" y="1517904"/>
            <a:ext cx="1508760" cy="228600"/>
          </a:xfrm>
          <a:prstGeom prst="rect">
            <a:avLst/>
          </a:prstGeom>
          <a:noFill/>
        </p:spPr>
        <p:txBody>
          <a:bodyPr wrap="square" lIns="0" tIns="0" rIns="0" bIns="0" rtlCol="0" anchor="ctr"/>
          <a:lstStyle/>
          <a:p>
            <a:pPr marL="0" indent="0" algn="ctr">
              <a:buNone/>
            </a:pPr>
            <a:r>
              <a:rPr lang="en-US" sz="850" b="1" dirty="0">
                <a:solidFill>
                  <a:srgbClr val="D68910"/>
                </a:solidFill>
                <a:latin typeface="Calibri" panose="020F0502020204030204" pitchFamily="34" charset="0"/>
                <a:ea typeface="Calibri" panose="020F0502020204030204" pitchFamily="34" charset="-122"/>
                <a:cs typeface="Calibri" panose="020F0502020204030204" pitchFamily="34" charset="-120"/>
              </a:rPr>
              <a:t>Q4 202</a:t>
            </a:r>
            <a:r>
              <a:rPr lang="en-IN" altLang="en-US" sz="850" b="1" dirty="0">
                <a:solidFill>
                  <a:srgbClr val="D68910"/>
                </a:solidFill>
                <a:latin typeface="Calibri" panose="020F0502020204030204" pitchFamily="34" charset="0"/>
                <a:ea typeface="Calibri" panose="020F0502020204030204" pitchFamily="34" charset="-122"/>
                <a:cs typeface="Calibri" panose="020F0502020204030204" pitchFamily="34" charset="-120"/>
              </a:rPr>
              <a:t>7</a:t>
            </a:r>
          </a:p>
        </p:txBody>
      </p:sp>
      <p:sp>
        <p:nvSpPr>
          <p:cNvPr id="32" name="Shape 29"/>
          <p:cNvSpPr/>
          <p:nvPr>
            <p:custDataLst>
              <p:tags r:id="rId21"/>
            </p:custDataLst>
          </p:nvPr>
        </p:nvSpPr>
        <p:spPr>
          <a:xfrm>
            <a:off x="6035040" y="1764792"/>
            <a:ext cx="310896" cy="310896"/>
          </a:xfrm>
          <a:prstGeom prst="ellipse">
            <a:avLst/>
          </a:prstGeom>
          <a:solidFill>
            <a:srgbClr val="D68910"/>
          </a:solidFill>
          <a:ln w="12700">
            <a:solidFill>
              <a:srgbClr val="D68910"/>
            </a:solidFill>
            <a:prstDash val="solid"/>
          </a:ln>
        </p:spPr>
      </p:sp>
      <p:sp>
        <p:nvSpPr>
          <p:cNvPr id="33" name="Shape 30"/>
          <p:cNvSpPr/>
          <p:nvPr>
            <p:custDataLst>
              <p:tags r:id="rId22"/>
            </p:custDataLst>
          </p:nvPr>
        </p:nvSpPr>
        <p:spPr>
          <a:xfrm>
            <a:off x="5431536" y="2176272"/>
            <a:ext cx="1536192" cy="1426464"/>
          </a:xfrm>
          <a:prstGeom prst="rect">
            <a:avLst/>
          </a:prstGeom>
          <a:solidFill>
            <a:srgbClr val="F4F6FF"/>
          </a:solidFill>
          <a:ln w="15240">
            <a:solidFill>
              <a:srgbClr val="D68910"/>
            </a:solidFill>
            <a:prstDash val="solid"/>
          </a:ln>
        </p:spPr>
      </p:sp>
      <p:sp>
        <p:nvSpPr>
          <p:cNvPr id="34" name="Shape 31"/>
          <p:cNvSpPr/>
          <p:nvPr>
            <p:custDataLst>
              <p:tags r:id="rId23"/>
            </p:custDataLst>
          </p:nvPr>
        </p:nvSpPr>
        <p:spPr>
          <a:xfrm>
            <a:off x="5431536" y="2176272"/>
            <a:ext cx="1536192" cy="47549"/>
          </a:xfrm>
          <a:prstGeom prst="rect">
            <a:avLst/>
          </a:prstGeom>
          <a:solidFill>
            <a:srgbClr val="D68910"/>
          </a:solidFill>
          <a:ln w="12700">
            <a:solidFill>
              <a:srgbClr val="D68910"/>
            </a:solidFill>
            <a:prstDash val="solid"/>
          </a:ln>
        </p:spPr>
      </p:sp>
      <p:sp>
        <p:nvSpPr>
          <p:cNvPr id="35" name="Text 32"/>
          <p:cNvSpPr/>
          <p:nvPr>
            <p:custDataLst>
              <p:tags r:id="rId24"/>
            </p:custDataLst>
          </p:nvPr>
        </p:nvSpPr>
        <p:spPr>
          <a:xfrm>
            <a:off x="5486400" y="2231136"/>
            <a:ext cx="1426464" cy="256032"/>
          </a:xfrm>
          <a:prstGeom prst="rect">
            <a:avLst/>
          </a:prstGeom>
          <a:noFill/>
        </p:spPr>
        <p:txBody>
          <a:bodyPr wrap="square" lIns="0" tIns="0" rIns="0" bIns="0" rtlCol="0" anchor="ctr"/>
          <a:lstStyle/>
          <a:p>
            <a:pPr marL="0" indent="0" algn="ctr">
              <a:buNone/>
            </a:pPr>
            <a:r>
              <a:rPr lang="en-US" sz="1000" b="1" dirty="0">
                <a:solidFill>
                  <a:srgbClr val="D68910"/>
                </a:solidFill>
                <a:latin typeface="Calibri" panose="020F0502020204030204" pitchFamily="34" charset="0"/>
                <a:ea typeface="Calibri" panose="020F0502020204030204" pitchFamily="34" charset="-122"/>
                <a:cs typeface="Calibri" panose="020F0502020204030204" pitchFamily="34" charset="-120"/>
              </a:rPr>
              <a:t>Premium Tier</a:t>
            </a:r>
            <a:endParaRPr lang="en-US" sz="1000" dirty="0"/>
          </a:p>
        </p:txBody>
      </p:sp>
      <p:sp>
        <p:nvSpPr>
          <p:cNvPr id="36" name="Text 33"/>
          <p:cNvSpPr/>
          <p:nvPr>
            <p:custDataLst>
              <p:tags r:id="rId25"/>
            </p:custDataLst>
          </p:nvPr>
        </p:nvSpPr>
        <p:spPr>
          <a:xfrm>
            <a:off x="5486400" y="2514600"/>
            <a:ext cx="1426464" cy="1005840"/>
          </a:xfrm>
          <a:prstGeom prst="rect">
            <a:avLst/>
          </a:prstGeom>
          <a:noFill/>
        </p:spPr>
        <p:txBody>
          <a:bodyPr wrap="square" lIns="0" tIns="0" rIns="0" bIns="0" rtlCol="0" anchor="ctr"/>
          <a:lstStyle/>
          <a:p>
            <a:pPr marL="0" indent="0" algn="ctr">
              <a:buNone/>
            </a:pPr>
            <a:r>
              <a:rPr lang="en-US" sz="800" dirty="0">
                <a:solidFill>
                  <a:srgbClr val="444444"/>
                </a:solidFill>
                <a:latin typeface="Calibri" panose="020F0502020204030204" pitchFamily="34" charset="0"/>
                <a:ea typeface="Calibri" panose="020F0502020204030204" pitchFamily="34" charset="-122"/>
                <a:cs typeface="Calibri" panose="020F0502020204030204" pitchFamily="34" charset="-120"/>
              </a:rPr>
              <a:t>Premium launch</a:t>
            </a:r>
            <a:endParaRPr lang="en-US" sz="800" dirty="0"/>
          </a:p>
          <a:p>
            <a:pPr marL="0" indent="0" algn="ctr">
              <a:buNone/>
            </a:pPr>
            <a:r>
              <a:rPr lang="en-US" sz="800" dirty="0">
                <a:solidFill>
                  <a:srgbClr val="444444"/>
                </a:solidFill>
                <a:latin typeface="Calibri" panose="020F0502020204030204" pitchFamily="34" charset="0"/>
                <a:ea typeface="Calibri" panose="020F0502020204030204" pitchFamily="34" charset="-122"/>
                <a:cs typeface="Calibri" panose="020F0502020204030204" pitchFamily="34" charset="-120"/>
              </a:rPr>
              <a:t>Enterprise deals</a:t>
            </a:r>
            <a:endParaRPr lang="en-US" sz="800" dirty="0"/>
          </a:p>
          <a:p>
            <a:pPr marL="0" indent="0" algn="ctr">
              <a:buNone/>
            </a:pPr>
            <a:r>
              <a:rPr lang="en-US" sz="800" dirty="0">
                <a:solidFill>
                  <a:srgbClr val="444444"/>
                </a:solidFill>
                <a:latin typeface="Calibri" panose="020F0502020204030204" pitchFamily="34" charset="0"/>
                <a:ea typeface="Calibri" panose="020F0502020204030204" pitchFamily="34" charset="-122"/>
                <a:cs typeface="Calibri" panose="020F0502020204030204" pitchFamily="34" charset="-120"/>
              </a:rPr>
              <a:t>Multilingual</a:t>
            </a:r>
            <a:endParaRPr lang="en-US" sz="800" dirty="0"/>
          </a:p>
        </p:txBody>
      </p:sp>
      <p:sp>
        <p:nvSpPr>
          <p:cNvPr id="37" name="Text 34"/>
          <p:cNvSpPr/>
          <p:nvPr>
            <p:custDataLst>
              <p:tags r:id="rId26"/>
            </p:custDataLst>
          </p:nvPr>
        </p:nvSpPr>
        <p:spPr>
          <a:xfrm>
            <a:off x="7150608" y="1517904"/>
            <a:ext cx="1508760" cy="228600"/>
          </a:xfrm>
          <a:prstGeom prst="rect">
            <a:avLst/>
          </a:prstGeom>
          <a:noFill/>
        </p:spPr>
        <p:txBody>
          <a:bodyPr wrap="square" lIns="0" tIns="0" rIns="0" bIns="0" rtlCol="0" anchor="ctr"/>
          <a:lstStyle/>
          <a:p>
            <a:pPr marL="0" indent="0" algn="ctr">
              <a:buNone/>
            </a:pPr>
            <a:r>
              <a:rPr lang="en-US" sz="850" b="1" dirty="0">
                <a:solidFill>
                  <a:srgbClr val="E74C3C"/>
                </a:solidFill>
                <a:latin typeface="Calibri" panose="020F0502020204030204" pitchFamily="34" charset="0"/>
                <a:ea typeface="Calibri" panose="020F0502020204030204" pitchFamily="34" charset="-122"/>
                <a:cs typeface="Calibri" panose="020F0502020204030204" pitchFamily="34" charset="-120"/>
              </a:rPr>
              <a:t>202</a:t>
            </a:r>
            <a:r>
              <a:rPr lang="en-IN" altLang="en-US" sz="850" b="1" dirty="0">
                <a:solidFill>
                  <a:srgbClr val="E74C3C"/>
                </a:solidFill>
                <a:latin typeface="Calibri" panose="020F0502020204030204" pitchFamily="34" charset="0"/>
                <a:ea typeface="Calibri" panose="020F0502020204030204" pitchFamily="34" charset="-122"/>
                <a:cs typeface="Calibri" panose="020F0502020204030204" pitchFamily="34" charset="-120"/>
              </a:rPr>
              <a:t>7</a:t>
            </a:r>
            <a:r>
              <a:rPr lang="en-US" sz="850" b="1" dirty="0">
                <a:solidFill>
                  <a:srgbClr val="E74C3C"/>
                </a:solidFill>
                <a:latin typeface="Calibri" panose="020F0502020204030204" pitchFamily="34" charset="0"/>
                <a:ea typeface="Calibri" panose="020F0502020204030204" pitchFamily="34" charset="-122"/>
                <a:cs typeface="Calibri" panose="020F0502020204030204" pitchFamily="34" charset="-120"/>
              </a:rPr>
              <a:t>+</a:t>
            </a:r>
            <a:endParaRPr lang="en-US" sz="850" dirty="0"/>
          </a:p>
        </p:txBody>
      </p:sp>
      <p:sp>
        <p:nvSpPr>
          <p:cNvPr id="38" name="Shape 35"/>
          <p:cNvSpPr/>
          <p:nvPr>
            <p:custDataLst>
              <p:tags r:id="rId27"/>
            </p:custDataLst>
          </p:nvPr>
        </p:nvSpPr>
        <p:spPr>
          <a:xfrm>
            <a:off x="7662672" y="1764792"/>
            <a:ext cx="310896" cy="310896"/>
          </a:xfrm>
          <a:prstGeom prst="ellipse">
            <a:avLst/>
          </a:prstGeom>
          <a:solidFill>
            <a:srgbClr val="E74C3C"/>
          </a:solidFill>
          <a:ln w="12700">
            <a:solidFill>
              <a:srgbClr val="E74C3C"/>
            </a:solidFill>
            <a:prstDash val="solid"/>
          </a:ln>
        </p:spPr>
      </p:sp>
      <p:sp>
        <p:nvSpPr>
          <p:cNvPr id="39" name="Shape 36"/>
          <p:cNvSpPr/>
          <p:nvPr>
            <p:custDataLst>
              <p:tags r:id="rId28"/>
            </p:custDataLst>
          </p:nvPr>
        </p:nvSpPr>
        <p:spPr>
          <a:xfrm>
            <a:off x="7059168" y="2176272"/>
            <a:ext cx="1536192" cy="1426464"/>
          </a:xfrm>
          <a:prstGeom prst="rect">
            <a:avLst/>
          </a:prstGeom>
          <a:solidFill>
            <a:srgbClr val="F4F6FF"/>
          </a:solidFill>
          <a:ln w="15240">
            <a:solidFill>
              <a:srgbClr val="E74C3C"/>
            </a:solidFill>
            <a:prstDash val="solid"/>
          </a:ln>
        </p:spPr>
      </p:sp>
      <p:sp>
        <p:nvSpPr>
          <p:cNvPr id="40" name="Shape 37"/>
          <p:cNvSpPr/>
          <p:nvPr>
            <p:custDataLst>
              <p:tags r:id="rId29"/>
            </p:custDataLst>
          </p:nvPr>
        </p:nvSpPr>
        <p:spPr>
          <a:xfrm>
            <a:off x="7059168" y="2176272"/>
            <a:ext cx="1536192" cy="47549"/>
          </a:xfrm>
          <a:prstGeom prst="rect">
            <a:avLst/>
          </a:prstGeom>
          <a:solidFill>
            <a:srgbClr val="E74C3C"/>
          </a:solidFill>
          <a:ln w="12700">
            <a:solidFill>
              <a:srgbClr val="E74C3C"/>
            </a:solidFill>
            <a:prstDash val="solid"/>
          </a:ln>
        </p:spPr>
      </p:sp>
      <p:sp>
        <p:nvSpPr>
          <p:cNvPr id="41" name="Text 38"/>
          <p:cNvSpPr/>
          <p:nvPr>
            <p:custDataLst>
              <p:tags r:id="rId30"/>
            </p:custDataLst>
          </p:nvPr>
        </p:nvSpPr>
        <p:spPr>
          <a:xfrm>
            <a:off x="7114032" y="2231136"/>
            <a:ext cx="1426464" cy="256032"/>
          </a:xfrm>
          <a:prstGeom prst="rect">
            <a:avLst/>
          </a:prstGeom>
          <a:noFill/>
        </p:spPr>
        <p:txBody>
          <a:bodyPr wrap="square" lIns="0" tIns="0" rIns="0" bIns="0" rtlCol="0" anchor="ctr"/>
          <a:lstStyle/>
          <a:p>
            <a:pPr marL="0" indent="0" algn="ctr">
              <a:buNone/>
            </a:pPr>
            <a:r>
              <a:rPr lang="en-US" sz="1000" b="1" dirty="0">
                <a:solidFill>
                  <a:srgbClr val="E74C3C"/>
                </a:solidFill>
                <a:latin typeface="Calibri" panose="020F0502020204030204" pitchFamily="34" charset="0"/>
                <a:ea typeface="Calibri" panose="020F0502020204030204" pitchFamily="34" charset="-122"/>
                <a:cs typeface="Calibri" panose="020F0502020204030204" pitchFamily="34" charset="-120"/>
              </a:rPr>
              <a:t>National Scale</a:t>
            </a:r>
            <a:endParaRPr lang="en-US" sz="1000" dirty="0"/>
          </a:p>
        </p:txBody>
      </p:sp>
      <p:sp>
        <p:nvSpPr>
          <p:cNvPr id="42" name="Text 39"/>
          <p:cNvSpPr/>
          <p:nvPr>
            <p:custDataLst>
              <p:tags r:id="rId31"/>
            </p:custDataLst>
          </p:nvPr>
        </p:nvSpPr>
        <p:spPr>
          <a:xfrm>
            <a:off x="7114032" y="2514600"/>
            <a:ext cx="1426464" cy="1005840"/>
          </a:xfrm>
          <a:prstGeom prst="rect">
            <a:avLst/>
          </a:prstGeom>
          <a:noFill/>
        </p:spPr>
        <p:txBody>
          <a:bodyPr wrap="square" lIns="0" tIns="0" rIns="0" bIns="0" rtlCol="0" anchor="ctr"/>
          <a:lstStyle/>
          <a:p>
            <a:pPr marL="0" indent="0" algn="ctr">
              <a:buNone/>
            </a:pPr>
            <a:r>
              <a:rPr lang="en-US" sz="800" dirty="0">
                <a:solidFill>
                  <a:srgbClr val="444444"/>
                </a:solidFill>
                <a:latin typeface="Calibri" panose="020F0502020204030204" pitchFamily="34" charset="0"/>
                <a:ea typeface="Calibri" panose="020F0502020204030204" pitchFamily="34" charset="-122"/>
                <a:cs typeface="Calibri" panose="020F0502020204030204" pitchFamily="34" charset="-120"/>
              </a:rPr>
              <a:t>500K users</a:t>
            </a:r>
            <a:endParaRPr lang="en-US" sz="800" dirty="0"/>
          </a:p>
          <a:p>
            <a:pPr marL="0" indent="0" algn="ctr">
              <a:buNone/>
            </a:pPr>
            <a:r>
              <a:rPr lang="en-US" sz="800" dirty="0">
                <a:solidFill>
                  <a:srgbClr val="444444"/>
                </a:solidFill>
                <a:latin typeface="Calibri" panose="020F0502020204030204" pitchFamily="34" charset="0"/>
                <a:ea typeface="Calibri" panose="020F0502020204030204" pitchFamily="34" charset="-122"/>
                <a:cs typeface="Calibri" panose="020F0502020204030204" pitchFamily="34" charset="-120"/>
              </a:rPr>
              <a:t>Govt partnerships</a:t>
            </a:r>
            <a:endParaRPr lang="en-US" sz="800" dirty="0"/>
          </a:p>
          <a:p>
            <a:pPr marL="0" indent="0" algn="ctr">
              <a:buNone/>
            </a:pPr>
            <a:r>
              <a:rPr lang="en-US" sz="800" dirty="0">
                <a:solidFill>
                  <a:srgbClr val="444444"/>
                </a:solidFill>
                <a:latin typeface="Calibri" panose="020F0502020204030204" pitchFamily="34" charset="0"/>
                <a:ea typeface="Calibri" panose="020F0502020204030204" pitchFamily="34" charset="-122"/>
                <a:cs typeface="Calibri" panose="020F0502020204030204" pitchFamily="34" charset="-120"/>
              </a:rPr>
              <a:t>IoT wearable</a:t>
            </a:r>
            <a:endParaRPr lang="en-US" sz="800" dirty="0"/>
          </a:p>
        </p:txBody>
      </p:sp>
      <p:sp>
        <p:nvSpPr>
          <p:cNvPr id="43" name="Shape 40"/>
          <p:cNvSpPr/>
          <p:nvPr/>
        </p:nvSpPr>
        <p:spPr>
          <a:xfrm>
            <a:off x="237744" y="3712464"/>
            <a:ext cx="8668512" cy="676656"/>
          </a:xfrm>
          <a:prstGeom prst="rect">
            <a:avLst/>
          </a:prstGeom>
          <a:solidFill>
            <a:srgbClr val="F6F9FF"/>
          </a:solidFill>
          <a:ln w="6350">
            <a:solidFill>
              <a:srgbClr val="D5DAFF"/>
            </a:solidFill>
            <a:prstDash val="solid"/>
          </a:ln>
        </p:spPr>
      </p:sp>
      <p:sp>
        <p:nvSpPr>
          <p:cNvPr id="44" name="Text 41"/>
          <p:cNvSpPr/>
          <p:nvPr/>
        </p:nvSpPr>
        <p:spPr>
          <a:xfrm>
            <a:off x="365760" y="3749040"/>
            <a:ext cx="7315200" cy="201168"/>
          </a:xfrm>
          <a:prstGeom prst="rect">
            <a:avLst/>
          </a:prstGeom>
          <a:noFill/>
        </p:spPr>
        <p:txBody>
          <a:bodyPr wrap="square" lIns="0" tIns="0" rIns="0" bIns="0" rtlCol="0" anchor="ctr"/>
          <a:lstStyle/>
          <a:p>
            <a:pPr marL="0" indent="0">
              <a:buNone/>
            </a:pPr>
            <a:r>
              <a:rPr lang="en-US" sz="950" b="1" dirty="0">
                <a:solidFill>
                  <a:srgbClr val="6062FF"/>
                </a:solidFill>
                <a:latin typeface="Calibri" panose="020F0502020204030204" pitchFamily="34" charset="0"/>
                <a:ea typeface="Calibri" panose="020F0502020204030204" pitchFamily="34" charset="-122"/>
                <a:cs typeface="Calibri" panose="020F0502020204030204" pitchFamily="34" charset="-120"/>
              </a:rPr>
              <a:t>Additional Supporting Information</a:t>
            </a:r>
            <a:endParaRPr lang="en-US" sz="950" dirty="0"/>
          </a:p>
        </p:txBody>
      </p:sp>
      <p:sp>
        <p:nvSpPr>
          <p:cNvPr id="45" name="Text 42"/>
          <p:cNvSpPr/>
          <p:nvPr/>
        </p:nvSpPr>
        <p:spPr>
          <a:xfrm>
            <a:off x="365760" y="3968496"/>
            <a:ext cx="8412480" cy="384048"/>
          </a:xfrm>
          <a:prstGeom prst="rect">
            <a:avLst/>
          </a:prstGeom>
          <a:noFill/>
        </p:spPr>
        <p:txBody>
          <a:bodyPr wrap="square" lIns="0" tIns="0" rIns="0" bIns="0" rtlCol="0" anchor="ctr"/>
          <a:lstStyle/>
          <a:p>
            <a:pPr marL="0" indent="0">
              <a:buNone/>
            </a:pPr>
            <a:r>
              <a:rPr lang="en-US" sz="750" dirty="0">
                <a:solidFill>
                  <a:srgbClr val="333333"/>
                </a:solidFill>
                <a:latin typeface="Calibri" panose="020F0502020204030204" pitchFamily="34" charset="0"/>
                <a:ea typeface="Calibri" panose="020F0502020204030204" pitchFamily="34" charset="-122"/>
                <a:cs typeface="Calibri" panose="020F0502020204030204" pitchFamily="34" charset="-120"/>
              </a:rPr>
              <a:t>Tech Stack: Java (Android) • MediaRecorder API • ContentObserver • SensorManager • SharedPreferences • CountDownTimer • Google Play Location Services • OkHttp • Material Design 3   |   Platform: Android 8.0+ (API 26+)   |   Permissions: RECORD_AUDIO • SEND_SMS • ACCESS_FINE_LOCATION • RECEIVE_BOOT_COMPLETED</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59436" cy="4773168"/>
          </a:xfrm>
          <a:prstGeom prst="rect">
            <a:avLst/>
          </a:prstGeom>
          <a:solidFill>
            <a:srgbClr val="6062FF"/>
          </a:solidFill>
          <a:ln w="12700">
            <a:solidFill>
              <a:srgbClr val="6062FF"/>
            </a:solidFill>
            <a:prstDash val="solid"/>
          </a:ln>
        </p:spPr>
      </p:sp>
      <p:pic>
        <p:nvPicPr>
          <p:cNvPr id="3" name="Image 0" descr="preencoded.png"/>
          <p:cNvPicPr>
            <a:picLocks noChangeAspect="1"/>
          </p:cNvPicPr>
          <p:nvPr/>
        </p:nvPicPr>
        <p:blipFill>
          <a:blip r:embed="rId3"/>
          <a:stretch>
            <a:fillRect/>
          </a:stretch>
        </p:blipFill>
        <p:spPr>
          <a:xfrm>
            <a:off x="8321040" y="45720"/>
            <a:ext cx="658368" cy="658368"/>
          </a:xfrm>
          <a:prstGeom prst="rect">
            <a:avLst/>
          </a:prstGeom>
        </p:spPr>
      </p:pic>
      <p:sp>
        <p:nvSpPr>
          <p:cNvPr id="4" name="Shape 1"/>
          <p:cNvSpPr/>
          <p:nvPr/>
        </p:nvSpPr>
        <p:spPr>
          <a:xfrm>
            <a:off x="0" y="4773168"/>
            <a:ext cx="9144000" cy="370332"/>
          </a:xfrm>
          <a:prstGeom prst="rect">
            <a:avLst/>
          </a:prstGeom>
          <a:solidFill>
            <a:srgbClr val="FFFFFF"/>
          </a:solidFill>
          <a:ln w="12700">
            <a:solidFill>
              <a:srgbClr val="FFFFFF"/>
            </a:solidFill>
            <a:prstDash val="solid"/>
          </a:ln>
        </p:spPr>
      </p:sp>
      <p:sp>
        <p:nvSpPr>
          <p:cNvPr id="5" name="Shape 2"/>
          <p:cNvSpPr/>
          <p:nvPr/>
        </p:nvSpPr>
        <p:spPr>
          <a:xfrm>
            <a:off x="0" y="4773168"/>
            <a:ext cx="59436" cy="370332"/>
          </a:xfrm>
          <a:prstGeom prst="rect">
            <a:avLst/>
          </a:prstGeom>
          <a:solidFill>
            <a:srgbClr val="0F9ED5"/>
          </a:solidFill>
          <a:ln w="12700">
            <a:solidFill>
              <a:srgbClr val="0F9ED5"/>
            </a:solidFill>
            <a:prstDash val="solid"/>
          </a:ln>
        </p:spPr>
      </p:sp>
      <p:sp>
        <p:nvSpPr>
          <p:cNvPr id="6" name="Text 3"/>
          <p:cNvSpPr/>
          <p:nvPr/>
        </p:nvSpPr>
        <p:spPr>
          <a:xfrm>
            <a:off x="109728" y="4823460"/>
            <a:ext cx="5029200" cy="146304"/>
          </a:xfrm>
          <a:prstGeom prst="rect">
            <a:avLst/>
          </a:prstGeom>
          <a:noFill/>
        </p:spPr>
        <p:txBody>
          <a:bodyPr wrap="square" lIns="0" tIns="0" rIns="0" bIns="0" rtlCol="0" anchor="ctr"/>
          <a:lstStyle/>
          <a:p>
            <a:pPr marL="0" indent="0">
              <a:buNone/>
            </a:pPr>
            <a:r>
              <a:rPr lang="en-US" sz="650" dirty="0">
                <a:solidFill>
                  <a:srgbClr val="767676"/>
                </a:solidFill>
                <a:latin typeface="Calibri" panose="020F0502020204030204" pitchFamily="34" charset="0"/>
                <a:ea typeface="Calibri" panose="020F0502020204030204" pitchFamily="34" charset="-122"/>
                <a:cs typeface="Calibri" panose="020F0502020204030204" pitchFamily="34" charset="-120"/>
              </a:rPr>
              <a:t>HackNovation 2.0  |  R&amp;D Cell, GIET University, Gunupur</a:t>
            </a:r>
            <a:endParaRPr lang="en-US" sz="650" dirty="0"/>
          </a:p>
        </p:txBody>
      </p:sp>
      <p:sp>
        <p:nvSpPr>
          <p:cNvPr id="7" name="Text 4"/>
          <p:cNvSpPr/>
          <p:nvPr/>
        </p:nvSpPr>
        <p:spPr>
          <a:xfrm>
            <a:off x="4389120" y="4823460"/>
            <a:ext cx="365760" cy="146304"/>
          </a:xfrm>
          <a:prstGeom prst="rect">
            <a:avLst/>
          </a:prstGeom>
          <a:noFill/>
        </p:spPr>
        <p:txBody>
          <a:bodyPr wrap="square" lIns="0" tIns="0" rIns="0" bIns="0" rtlCol="0" anchor="ctr"/>
          <a:lstStyle/>
          <a:p>
            <a:pPr marL="0" indent="0" algn="ctr">
              <a:buNone/>
            </a:pPr>
            <a:r>
              <a:rPr lang="en-US" sz="650" dirty="0">
                <a:solidFill>
                  <a:srgbClr val="767676"/>
                </a:solidFill>
                <a:latin typeface="Calibri" panose="020F0502020204030204" pitchFamily="34" charset="0"/>
                <a:ea typeface="Calibri" panose="020F0502020204030204" pitchFamily="34" charset="-122"/>
                <a:cs typeface="Calibri" panose="020F0502020204030204" pitchFamily="34" charset="-120"/>
              </a:rPr>
              <a:t>9</a:t>
            </a:r>
            <a:endParaRPr lang="en-US" sz="650" dirty="0"/>
          </a:p>
        </p:txBody>
      </p:sp>
      <p:sp>
        <p:nvSpPr>
          <p:cNvPr id="8" name="Text 5"/>
          <p:cNvSpPr/>
          <p:nvPr/>
        </p:nvSpPr>
        <p:spPr>
          <a:xfrm>
            <a:off x="7223760" y="4823460"/>
            <a:ext cx="1828800" cy="146304"/>
          </a:xfrm>
          <a:prstGeom prst="rect">
            <a:avLst/>
          </a:prstGeom>
          <a:noFill/>
        </p:spPr>
        <p:txBody>
          <a:bodyPr wrap="square" lIns="0" tIns="0" rIns="0" bIns="0" rtlCol="0" anchor="ctr"/>
          <a:lstStyle/>
          <a:p>
            <a:pPr marL="0" indent="0" algn="r">
              <a:buNone/>
            </a:pPr>
            <a:r>
              <a:rPr lang="en-US" sz="650" dirty="0">
                <a:solidFill>
                  <a:srgbClr val="767676"/>
                </a:solidFill>
                <a:latin typeface="Calibri" panose="020F0502020204030204" pitchFamily="34" charset="0"/>
                <a:ea typeface="Calibri" panose="020F0502020204030204" pitchFamily="34" charset="-122"/>
                <a:cs typeface="Calibri" panose="020F0502020204030204" pitchFamily="34" charset="-120"/>
              </a:rPr>
              <a:t>COD-THREE</a:t>
            </a:r>
            <a:endParaRPr lang="en-US" sz="650" dirty="0"/>
          </a:p>
        </p:txBody>
      </p:sp>
      <p:sp>
        <p:nvSpPr>
          <p:cNvPr id="9" name="Text 6"/>
          <p:cNvSpPr/>
          <p:nvPr/>
        </p:nvSpPr>
        <p:spPr>
          <a:xfrm>
            <a:off x="256032" y="219456"/>
            <a:ext cx="7863840" cy="530352"/>
          </a:xfrm>
          <a:prstGeom prst="rect">
            <a:avLst/>
          </a:prstGeom>
          <a:noFill/>
        </p:spPr>
        <p:txBody>
          <a:bodyPr wrap="square" lIns="0" tIns="0" rIns="0" bIns="0" rtlCol="0" anchor="ctr"/>
          <a:lstStyle/>
          <a:p>
            <a:pPr marL="0" indent="0">
              <a:buNone/>
            </a:pPr>
            <a:r>
              <a:rPr lang="en-US" sz="2600" b="1" dirty="0">
                <a:solidFill>
                  <a:srgbClr val="000000"/>
                </a:solidFill>
                <a:latin typeface="Calibri" panose="020F0502020204030204" pitchFamily="34" charset="0"/>
                <a:ea typeface="Calibri" panose="020F0502020204030204" pitchFamily="34" charset="-122"/>
                <a:cs typeface="Calibri" panose="020F0502020204030204" pitchFamily="34" charset="-120"/>
              </a:rPr>
              <a:t>Team Profile</a:t>
            </a:r>
            <a:endParaRPr lang="en-US" sz="2600" dirty="0"/>
          </a:p>
        </p:txBody>
      </p:sp>
      <p:sp>
        <p:nvSpPr>
          <p:cNvPr id="10" name="Shape 7"/>
          <p:cNvSpPr/>
          <p:nvPr/>
        </p:nvSpPr>
        <p:spPr>
          <a:xfrm>
            <a:off x="256032" y="768096"/>
            <a:ext cx="777240" cy="38405"/>
          </a:xfrm>
          <a:prstGeom prst="rect">
            <a:avLst/>
          </a:prstGeom>
          <a:solidFill>
            <a:srgbClr val="0F9ED5"/>
          </a:solidFill>
          <a:ln w="12700">
            <a:solidFill>
              <a:srgbClr val="0F9ED5"/>
            </a:solidFill>
            <a:prstDash val="solid"/>
          </a:ln>
        </p:spPr>
      </p:sp>
      <p:sp>
        <p:nvSpPr>
          <p:cNvPr id="11" name="Shape 8"/>
          <p:cNvSpPr/>
          <p:nvPr/>
        </p:nvSpPr>
        <p:spPr>
          <a:xfrm>
            <a:off x="694944" y="914400"/>
            <a:ext cx="1298448" cy="1298448"/>
          </a:xfrm>
          <a:prstGeom prst="ellipse">
            <a:avLst/>
          </a:prstGeom>
          <a:solidFill>
            <a:srgbClr val="F6F9FF"/>
          </a:solidFill>
          <a:ln w="25400">
            <a:solidFill>
              <a:srgbClr val="6062FF"/>
            </a:solidFill>
            <a:prstDash val="solid"/>
          </a:ln>
        </p:spPr>
      </p:sp>
      <p:sp>
        <p:nvSpPr>
          <p:cNvPr id="12" name="Text 9"/>
          <p:cNvSpPr/>
          <p:nvPr/>
        </p:nvSpPr>
        <p:spPr>
          <a:xfrm>
            <a:off x="694944" y="914400"/>
            <a:ext cx="1298448" cy="1298448"/>
          </a:xfrm>
          <a:prstGeom prst="rect">
            <a:avLst/>
          </a:prstGeom>
          <a:noFill/>
        </p:spPr>
        <p:txBody>
          <a:bodyPr wrap="square" lIns="0" tIns="0" rIns="0" bIns="0" rtlCol="0" anchor="ctr"/>
          <a:lstStyle/>
          <a:p>
            <a:pPr marL="0" indent="0" algn="ctr">
              <a:buNone/>
            </a:pPr>
            <a:r>
              <a:rPr lang="en-US" sz="1000" dirty="0">
                <a:solidFill>
                  <a:srgbClr val="6062FF"/>
                </a:solidFill>
                <a:latin typeface="Calibri" panose="020F0502020204030204" pitchFamily="34" charset="0"/>
                <a:ea typeface="Calibri" panose="020F0502020204030204" pitchFamily="34" charset="-122"/>
                <a:cs typeface="Calibri" panose="020F0502020204030204" pitchFamily="34" charset="-120"/>
              </a:rPr>
              <a:t>Photo</a:t>
            </a:r>
            <a:endParaRPr lang="en-US" sz="1000" dirty="0"/>
          </a:p>
        </p:txBody>
      </p:sp>
      <p:sp>
        <p:nvSpPr>
          <p:cNvPr id="13" name="Shape 10"/>
          <p:cNvSpPr/>
          <p:nvPr/>
        </p:nvSpPr>
        <p:spPr>
          <a:xfrm>
            <a:off x="237744" y="2322576"/>
            <a:ext cx="2066544" cy="1554480"/>
          </a:xfrm>
          <a:prstGeom prst="rect">
            <a:avLst/>
          </a:prstGeom>
          <a:solidFill>
            <a:srgbClr val="F4F6FF"/>
          </a:solidFill>
          <a:ln w="6350">
            <a:solidFill>
              <a:srgbClr val="6062FF"/>
            </a:solidFill>
            <a:prstDash val="solid"/>
          </a:ln>
        </p:spPr>
      </p:sp>
      <p:sp>
        <p:nvSpPr>
          <p:cNvPr id="14" name="Shape 11"/>
          <p:cNvSpPr/>
          <p:nvPr/>
        </p:nvSpPr>
        <p:spPr>
          <a:xfrm>
            <a:off x="237744" y="2286000"/>
            <a:ext cx="2066544" cy="47549"/>
          </a:xfrm>
          <a:prstGeom prst="rect">
            <a:avLst/>
          </a:prstGeom>
          <a:solidFill>
            <a:srgbClr val="6062FF"/>
          </a:solidFill>
          <a:ln w="12700">
            <a:solidFill>
              <a:srgbClr val="6062FF"/>
            </a:solidFill>
            <a:prstDash val="solid"/>
          </a:ln>
        </p:spPr>
      </p:sp>
      <p:sp>
        <p:nvSpPr>
          <p:cNvPr id="15" name="Text 12"/>
          <p:cNvSpPr/>
          <p:nvPr/>
        </p:nvSpPr>
        <p:spPr>
          <a:xfrm>
            <a:off x="310896" y="2340864"/>
            <a:ext cx="1920240" cy="237744"/>
          </a:xfrm>
          <a:prstGeom prst="rect">
            <a:avLst/>
          </a:prstGeom>
          <a:noFill/>
        </p:spPr>
        <p:txBody>
          <a:bodyPr wrap="square" lIns="0" tIns="0" rIns="0" bIns="0" rtlCol="0" anchor="ctr"/>
          <a:lstStyle/>
          <a:p>
            <a:pPr marL="0" indent="0" algn="ctr">
              <a:buNone/>
            </a:pPr>
            <a:r>
              <a:rPr lang="en-US" sz="1100" b="1" dirty="0">
                <a:solidFill>
                  <a:srgbClr val="6062FF"/>
                </a:solidFill>
                <a:latin typeface="Calibri" panose="020F0502020204030204" pitchFamily="34" charset="0"/>
                <a:ea typeface="Calibri" panose="020F0502020204030204" pitchFamily="34" charset="-122"/>
                <a:cs typeface="Calibri" panose="020F0502020204030204" pitchFamily="34" charset="-120"/>
              </a:rPr>
              <a:t>Member 1</a:t>
            </a:r>
            <a:endParaRPr lang="en-US" sz="1100" dirty="0"/>
          </a:p>
        </p:txBody>
      </p:sp>
      <p:sp>
        <p:nvSpPr>
          <p:cNvPr id="16" name="Text 13"/>
          <p:cNvSpPr/>
          <p:nvPr/>
        </p:nvSpPr>
        <p:spPr>
          <a:xfrm>
            <a:off x="310896" y="2596896"/>
            <a:ext cx="1920240" cy="182880"/>
          </a:xfrm>
          <a:prstGeom prst="rect">
            <a:avLst/>
          </a:prstGeom>
          <a:noFill/>
        </p:spPr>
        <p:txBody>
          <a:bodyPr wrap="square" lIns="0" tIns="0" rIns="0" bIns="0" rtlCol="0" anchor="ctr"/>
          <a:lstStyle/>
          <a:p>
            <a:pPr marL="0" indent="0" algn="ctr">
              <a:buNone/>
            </a:pPr>
            <a:r>
              <a:rPr lang="en-US" sz="850" dirty="0">
                <a:solidFill>
                  <a:srgbClr val="767676"/>
                </a:solidFill>
                <a:latin typeface="Calibri" panose="020F0502020204030204" pitchFamily="34" charset="0"/>
                <a:ea typeface="Calibri" panose="020F0502020204030204" pitchFamily="34" charset="-122"/>
                <a:cs typeface="Calibri" panose="020F0502020204030204" pitchFamily="34" charset="-120"/>
              </a:rPr>
              <a:t>NAME : PRITISH MUND </a:t>
            </a:r>
          </a:p>
          <a:p>
            <a:pPr marL="0" indent="0" algn="ctr">
              <a:buNone/>
            </a:pPr>
            <a:r>
              <a:rPr lang="en-US" sz="850" dirty="0">
                <a:solidFill>
                  <a:srgbClr val="767676"/>
                </a:solidFill>
                <a:latin typeface="Calibri" panose="020F0502020204030204" pitchFamily="34" charset="0"/>
                <a:ea typeface="Calibri" panose="020F0502020204030204" pitchFamily="34" charset="-122"/>
                <a:cs typeface="Calibri" panose="020F0502020204030204" pitchFamily="34" charset="-120"/>
              </a:rPr>
              <a:t>Roll No: 25CSE072</a:t>
            </a:r>
            <a:endParaRPr lang="en-US" sz="850" dirty="0"/>
          </a:p>
        </p:txBody>
      </p:sp>
      <p:sp>
        <p:nvSpPr>
          <p:cNvPr id="17" name="Text 14"/>
          <p:cNvSpPr/>
          <p:nvPr/>
        </p:nvSpPr>
        <p:spPr>
          <a:xfrm>
            <a:off x="310896" y="2798064"/>
            <a:ext cx="1920240" cy="182880"/>
          </a:xfrm>
          <a:prstGeom prst="rect">
            <a:avLst/>
          </a:prstGeom>
          <a:noFill/>
        </p:spPr>
        <p:txBody>
          <a:bodyPr wrap="square" lIns="0" tIns="0" rIns="0" bIns="0" rtlCol="0" anchor="ctr"/>
          <a:lstStyle/>
          <a:p>
            <a:pPr marL="0" indent="0" algn="ctr">
              <a:buNone/>
            </a:pPr>
            <a:r>
              <a:rPr lang="en-US" sz="850" dirty="0">
                <a:solidFill>
                  <a:srgbClr val="767676"/>
                </a:solidFill>
                <a:latin typeface="Calibri" panose="020F0502020204030204" pitchFamily="34" charset="0"/>
                <a:ea typeface="Calibri" panose="020F0502020204030204" pitchFamily="34" charset="-122"/>
                <a:cs typeface="Calibri" panose="020F0502020204030204" pitchFamily="34" charset="-120"/>
              </a:rPr>
              <a:t>Sem 2nd · Dept: BSH</a:t>
            </a:r>
            <a:endParaRPr lang="en-US" sz="850" dirty="0"/>
          </a:p>
        </p:txBody>
      </p:sp>
      <p:sp>
        <p:nvSpPr>
          <p:cNvPr id="18" name="Text 15"/>
          <p:cNvSpPr/>
          <p:nvPr/>
        </p:nvSpPr>
        <p:spPr>
          <a:xfrm>
            <a:off x="329184" y="3329715"/>
            <a:ext cx="1883664" cy="164592"/>
          </a:xfrm>
          <a:prstGeom prst="rect">
            <a:avLst/>
          </a:prstGeom>
          <a:noFill/>
        </p:spPr>
        <p:txBody>
          <a:bodyPr wrap="square" lIns="0" tIns="0" rIns="0" bIns="0" rtlCol="0" anchor="ctr"/>
          <a:lstStyle/>
          <a:p>
            <a:pPr marL="0" indent="0">
              <a:buNone/>
            </a:pPr>
            <a:r>
              <a:rPr lang="en-US" sz="800" b="1" dirty="0">
                <a:solidFill>
                  <a:srgbClr val="6062FF"/>
                </a:solidFill>
                <a:latin typeface="Calibri" panose="020F0502020204030204" pitchFamily="34" charset="0"/>
                <a:ea typeface="Calibri" panose="020F0502020204030204" pitchFamily="34" charset="-122"/>
                <a:cs typeface="Calibri" panose="020F0502020204030204" pitchFamily="34" charset="-120"/>
              </a:rPr>
              <a:t>TEAM:</a:t>
            </a:r>
          </a:p>
          <a:p>
            <a:pPr marL="0" indent="0">
              <a:buNone/>
            </a:pPr>
            <a:endParaRPr lang="en-US" sz="800" b="1" dirty="0">
              <a:solidFill>
                <a:srgbClr val="6062FF"/>
              </a:solidFill>
              <a:latin typeface="Calibri" panose="020F0502020204030204" pitchFamily="34" charset="0"/>
              <a:ea typeface="Calibri" panose="020F0502020204030204" pitchFamily="34" charset="-122"/>
              <a:cs typeface="Calibri" panose="020F0502020204030204" pitchFamily="34" charset="-120"/>
            </a:endParaRPr>
          </a:p>
          <a:p>
            <a:pPr marL="0" indent="0">
              <a:buNone/>
            </a:pPr>
            <a:r>
              <a:rPr lang="en-US" sz="800" b="1" dirty="0">
                <a:solidFill>
                  <a:srgbClr val="6062FF"/>
                </a:solidFill>
                <a:latin typeface="Calibri" panose="020F0502020204030204" pitchFamily="34" charset="0"/>
                <a:ea typeface="Calibri" panose="020F0502020204030204" pitchFamily="34" charset="-122"/>
                <a:cs typeface="Calibri" panose="020F0502020204030204" pitchFamily="34" charset="-120"/>
              </a:rPr>
              <a:t>COD-THREE</a:t>
            </a:r>
            <a:endParaRPr lang="en-US" sz="800" dirty="0"/>
          </a:p>
        </p:txBody>
      </p:sp>
      <p:sp>
        <p:nvSpPr>
          <p:cNvPr id="19" name="Text 16"/>
          <p:cNvSpPr/>
          <p:nvPr/>
        </p:nvSpPr>
        <p:spPr>
          <a:xfrm>
            <a:off x="329184" y="3218688"/>
            <a:ext cx="1883664" cy="603504"/>
          </a:xfrm>
          <a:prstGeom prst="rect">
            <a:avLst/>
          </a:prstGeom>
          <a:noFill/>
        </p:spPr>
        <p:txBody>
          <a:bodyPr wrap="square" lIns="0" tIns="0" rIns="0" bIns="0" rtlCol="0" anchor="ctr"/>
          <a:lstStyle/>
          <a:p>
            <a:pPr marL="0" indent="0">
              <a:buNone/>
            </a:pPr>
            <a:endParaRPr lang="en-US" sz="800" dirty="0"/>
          </a:p>
        </p:txBody>
      </p:sp>
      <p:sp>
        <p:nvSpPr>
          <p:cNvPr id="20" name="Shape 17"/>
          <p:cNvSpPr/>
          <p:nvPr/>
        </p:nvSpPr>
        <p:spPr>
          <a:xfrm>
            <a:off x="3992007" y="914400"/>
            <a:ext cx="1298448" cy="1298448"/>
          </a:xfrm>
          <a:prstGeom prst="ellipse">
            <a:avLst/>
          </a:prstGeom>
          <a:solidFill>
            <a:srgbClr val="F6F9FF"/>
          </a:solidFill>
          <a:ln w="25400">
            <a:solidFill>
              <a:srgbClr val="0F9ED5"/>
            </a:solidFill>
            <a:prstDash val="solid"/>
          </a:ln>
        </p:spPr>
      </p:sp>
      <p:sp>
        <p:nvSpPr>
          <p:cNvPr id="21" name="Text 18"/>
          <p:cNvSpPr/>
          <p:nvPr/>
        </p:nvSpPr>
        <p:spPr>
          <a:xfrm>
            <a:off x="3982873" y="960120"/>
            <a:ext cx="1298448" cy="1298448"/>
          </a:xfrm>
          <a:prstGeom prst="rect">
            <a:avLst/>
          </a:prstGeom>
          <a:noFill/>
        </p:spPr>
        <p:txBody>
          <a:bodyPr wrap="square" lIns="0" tIns="0" rIns="0" bIns="0" rtlCol="0" anchor="ctr"/>
          <a:lstStyle/>
          <a:p>
            <a:pPr marL="0" indent="0" algn="ctr">
              <a:buNone/>
            </a:pPr>
            <a:r>
              <a:rPr lang="en-US" sz="1000" dirty="0">
                <a:solidFill>
                  <a:srgbClr val="0F9ED5"/>
                </a:solidFill>
                <a:latin typeface="Calibri" panose="020F0502020204030204" pitchFamily="34" charset="0"/>
                <a:ea typeface="Calibri" panose="020F0502020204030204" pitchFamily="34" charset="-122"/>
                <a:cs typeface="Calibri" panose="020F0502020204030204" pitchFamily="34" charset="-120"/>
              </a:rPr>
              <a:t>Photo</a:t>
            </a:r>
            <a:endParaRPr lang="en-US" sz="1000" dirty="0"/>
          </a:p>
        </p:txBody>
      </p:sp>
      <p:sp>
        <p:nvSpPr>
          <p:cNvPr id="22" name="Shape 19"/>
          <p:cNvSpPr/>
          <p:nvPr/>
        </p:nvSpPr>
        <p:spPr>
          <a:xfrm>
            <a:off x="3560940" y="2286000"/>
            <a:ext cx="2066544" cy="1591056"/>
          </a:xfrm>
          <a:prstGeom prst="rect">
            <a:avLst/>
          </a:prstGeom>
          <a:solidFill>
            <a:srgbClr val="F4F6FF"/>
          </a:solidFill>
          <a:ln w="6350">
            <a:solidFill>
              <a:srgbClr val="0F9ED5"/>
            </a:solidFill>
            <a:prstDash val="solid"/>
          </a:ln>
        </p:spPr>
      </p:sp>
      <p:sp>
        <p:nvSpPr>
          <p:cNvPr id="23" name="Shape 20"/>
          <p:cNvSpPr/>
          <p:nvPr/>
        </p:nvSpPr>
        <p:spPr>
          <a:xfrm>
            <a:off x="3560940" y="2286000"/>
            <a:ext cx="2066544" cy="47549"/>
          </a:xfrm>
          <a:prstGeom prst="rect">
            <a:avLst/>
          </a:prstGeom>
          <a:solidFill>
            <a:srgbClr val="0F9ED5"/>
          </a:solidFill>
          <a:ln w="12700">
            <a:solidFill>
              <a:srgbClr val="0F9ED5"/>
            </a:solidFill>
            <a:prstDash val="solid"/>
          </a:ln>
        </p:spPr>
      </p:sp>
      <p:sp>
        <p:nvSpPr>
          <p:cNvPr id="24" name="Text 21"/>
          <p:cNvSpPr/>
          <p:nvPr/>
        </p:nvSpPr>
        <p:spPr>
          <a:xfrm>
            <a:off x="3634092" y="2340864"/>
            <a:ext cx="1920240" cy="237744"/>
          </a:xfrm>
          <a:prstGeom prst="rect">
            <a:avLst/>
          </a:prstGeom>
          <a:noFill/>
        </p:spPr>
        <p:txBody>
          <a:bodyPr wrap="square" lIns="0" tIns="0" rIns="0" bIns="0" rtlCol="0" anchor="ctr"/>
          <a:lstStyle/>
          <a:p>
            <a:pPr marL="0" indent="0" algn="ctr">
              <a:buNone/>
            </a:pPr>
            <a:r>
              <a:rPr lang="en-US" sz="1100" b="1" dirty="0">
                <a:solidFill>
                  <a:srgbClr val="0F9ED5"/>
                </a:solidFill>
                <a:latin typeface="Calibri" panose="020F0502020204030204" pitchFamily="34" charset="0"/>
                <a:ea typeface="Calibri" panose="020F0502020204030204" pitchFamily="34" charset="-122"/>
                <a:cs typeface="Calibri" panose="020F0502020204030204" pitchFamily="34" charset="-120"/>
              </a:rPr>
              <a:t>Member 2</a:t>
            </a:r>
            <a:endParaRPr lang="en-US" sz="1100" dirty="0"/>
          </a:p>
        </p:txBody>
      </p:sp>
      <p:sp>
        <p:nvSpPr>
          <p:cNvPr id="25" name="Text 22"/>
          <p:cNvSpPr/>
          <p:nvPr/>
        </p:nvSpPr>
        <p:spPr>
          <a:xfrm>
            <a:off x="3634092" y="2596896"/>
            <a:ext cx="1920240" cy="182880"/>
          </a:xfrm>
          <a:prstGeom prst="rect">
            <a:avLst/>
          </a:prstGeom>
          <a:noFill/>
        </p:spPr>
        <p:txBody>
          <a:bodyPr wrap="square" lIns="0" tIns="0" rIns="0" bIns="0" rtlCol="0" anchor="ctr"/>
          <a:lstStyle/>
          <a:p>
            <a:pPr marL="0" indent="0" algn="ctr">
              <a:buNone/>
            </a:pPr>
            <a:r>
              <a:rPr lang="en-US" sz="850" dirty="0">
                <a:solidFill>
                  <a:srgbClr val="767676"/>
                </a:solidFill>
                <a:latin typeface="Calibri" panose="020F0502020204030204" pitchFamily="34" charset="0"/>
                <a:ea typeface="Calibri" panose="020F0502020204030204" pitchFamily="34" charset="-122"/>
                <a:cs typeface="Calibri" panose="020F0502020204030204" pitchFamily="34" charset="-120"/>
              </a:rPr>
              <a:t>NAME : SUVAM SUGYAN SAHOO</a:t>
            </a:r>
          </a:p>
          <a:p>
            <a:pPr marL="0" indent="0" algn="ctr">
              <a:buNone/>
            </a:pPr>
            <a:r>
              <a:rPr lang="en-US" sz="850" dirty="0">
                <a:solidFill>
                  <a:srgbClr val="767676"/>
                </a:solidFill>
                <a:latin typeface="Calibri" panose="020F0502020204030204" pitchFamily="34" charset="0"/>
                <a:ea typeface="Calibri" panose="020F0502020204030204" pitchFamily="34" charset="-122"/>
                <a:cs typeface="Calibri" panose="020F0502020204030204" pitchFamily="34" charset="-120"/>
              </a:rPr>
              <a:t>Roll No: 25CSE048</a:t>
            </a:r>
            <a:endParaRPr lang="en-US" sz="850" dirty="0"/>
          </a:p>
        </p:txBody>
      </p:sp>
      <p:sp>
        <p:nvSpPr>
          <p:cNvPr id="26" name="Text 23"/>
          <p:cNvSpPr/>
          <p:nvPr/>
        </p:nvSpPr>
        <p:spPr>
          <a:xfrm>
            <a:off x="3634092" y="2798064"/>
            <a:ext cx="1920240" cy="182880"/>
          </a:xfrm>
          <a:prstGeom prst="rect">
            <a:avLst/>
          </a:prstGeom>
          <a:noFill/>
        </p:spPr>
        <p:txBody>
          <a:bodyPr wrap="square" lIns="0" tIns="0" rIns="0" bIns="0" rtlCol="0" anchor="ctr"/>
          <a:lstStyle/>
          <a:p>
            <a:pPr marL="0" indent="0" algn="ctr">
              <a:buNone/>
            </a:pPr>
            <a:r>
              <a:rPr lang="en-US" sz="850" dirty="0">
                <a:solidFill>
                  <a:srgbClr val="767676"/>
                </a:solidFill>
                <a:latin typeface="Calibri" panose="020F0502020204030204" pitchFamily="34" charset="0"/>
                <a:ea typeface="Calibri" panose="020F0502020204030204" pitchFamily="34" charset="-122"/>
                <a:cs typeface="Calibri" panose="020F0502020204030204" pitchFamily="34" charset="-120"/>
              </a:rPr>
              <a:t>Sem 2nd · Dept: BSH</a:t>
            </a:r>
            <a:endParaRPr lang="en-US" sz="850" dirty="0"/>
          </a:p>
        </p:txBody>
      </p:sp>
      <p:sp>
        <p:nvSpPr>
          <p:cNvPr id="27" name="Text 24"/>
          <p:cNvSpPr/>
          <p:nvPr/>
        </p:nvSpPr>
        <p:spPr>
          <a:xfrm>
            <a:off x="3652380" y="3035808"/>
            <a:ext cx="1883664" cy="164592"/>
          </a:xfrm>
          <a:prstGeom prst="rect">
            <a:avLst/>
          </a:prstGeom>
          <a:noFill/>
        </p:spPr>
        <p:txBody>
          <a:bodyPr wrap="square" lIns="0" tIns="0" rIns="0" bIns="0" rtlCol="0" anchor="ctr"/>
          <a:lstStyle/>
          <a:p>
            <a:pPr marL="0" indent="0">
              <a:buNone/>
            </a:pPr>
            <a:endParaRPr lang="en-US" sz="800" dirty="0"/>
          </a:p>
        </p:txBody>
      </p:sp>
      <p:sp>
        <p:nvSpPr>
          <p:cNvPr id="28" name="Text 25"/>
          <p:cNvSpPr/>
          <p:nvPr/>
        </p:nvSpPr>
        <p:spPr>
          <a:xfrm>
            <a:off x="3652380" y="3218688"/>
            <a:ext cx="1883664" cy="603504"/>
          </a:xfrm>
          <a:prstGeom prst="rect">
            <a:avLst/>
          </a:prstGeom>
          <a:noFill/>
        </p:spPr>
        <p:txBody>
          <a:bodyPr wrap="square" lIns="0" tIns="0" rIns="0" bIns="0" rtlCol="0" anchor="ctr"/>
          <a:lstStyle/>
          <a:p>
            <a:r>
              <a:rPr lang="en-US" sz="800" b="1" dirty="0">
                <a:solidFill>
                  <a:srgbClr val="6062FF"/>
                </a:solidFill>
                <a:latin typeface="Calibri" panose="020F0502020204030204" pitchFamily="34" charset="0"/>
                <a:ea typeface="Calibri" panose="020F0502020204030204" pitchFamily="34" charset="-122"/>
                <a:cs typeface="Calibri" panose="020F0502020204030204" pitchFamily="34" charset="-120"/>
              </a:rPr>
              <a:t>TEAM:</a:t>
            </a:r>
          </a:p>
          <a:p>
            <a:endParaRPr lang="en-US" sz="800" b="1" dirty="0">
              <a:solidFill>
                <a:srgbClr val="6062FF"/>
              </a:solidFill>
              <a:latin typeface="Calibri" panose="020F0502020204030204" pitchFamily="34" charset="0"/>
              <a:ea typeface="Calibri" panose="020F0502020204030204" pitchFamily="34" charset="-122"/>
              <a:cs typeface="Calibri" panose="020F0502020204030204" pitchFamily="34" charset="-120"/>
            </a:endParaRPr>
          </a:p>
          <a:p>
            <a:r>
              <a:rPr lang="en-US" sz="800" b="1" dirty="0">
                <a:solidFill>
                  <a:srgbClr val="6062FF"/>
                </a:solidFill>
                <a:latin typeface="Calibri" panose="020F0502020204030204" pitchFamily="34" charset="0"/>
                <a:ea typeface="Calibri" panose="020F0502020204030204" pitchFamily="34" charset="-122"/>
                <a:cs typeface="Calibri" panose="020F0502020204030204" pitchFamily="34" charset="-120"/>
              </a:rPr>
              <a:t>COD-THREE</a:t>
            </a:r>
            <a:endParaRPr lang="en-US" sz="800" dirty="0"/>
          </a:p>
          <a:p>
            <a:pPr marL="0" indent="0">
              <a:buNone/>
            </a:pPr>
            <a:endParaRPr lang="en-US" sz="800" dirty="0"/>
          </a:p>
        </p:txBody>
      </p:sp>
      <p:sp>
        <p:nvSpPr>
          <p:cNvPr id="29" name="Shape 26"/>
          <p:cNvSpPr/>
          <p:nvPr/>
        </p:nvSpPr>
        <p:spPr>
          <a:xfrm>
            <a:off x="6753491" y="914400"/>
            <a:ext cx="1298448" cy="1298448"/>
          </a:xfrm>
          <a:prstGeom prst="ellipse">
            <a:avLst/>
          </a:prstGeom>
          <a:solidFill>
            <a:srgbClr val="F6F9FF"/>
          </a:solidFill>
          <a:ln w="25400">
            <a:solidFill>
              <a:srgbClr val="27AE60"/>
            </a:solidFill>
            <a:prstDash val="solid"/>
          </a:ln>
        </p:spPr>
      </p:sp>
      <p:sp>
        <p:nvSpPr>
          <p:cNvPr id="30" name="Text 27"/>
          <p:cNvSpPr/>
          <p:nvPr/>
        </p:nvSpPr>
        <p:spPr>
          <a:xfrm>
            <a:off x="6766550" y="914400"/>
            <a:ext cx="1298448" cy="1298448"/>
          </a:xfrm>
          <a:prstGeom prst="rect">
            <a:avLst/>
          </a:prstGeom>
          <a:noFill/>
        </p:spPr>
        <p:txBody>
          <a:bodyPr wrap="square" lIns="0" tIns="0" rIns="0" bIns="0" rtlCol="0" anchor="ctr"/>
          <a:lstStyle/>
          <a:p>
            <a:pPr marL="0" indent="0" algn="ctr">
              <a:buNone/>
            </a:pPr>
            <a:r>
              <a:rPr lang="en-US" sz="1000" dirty="0">
                <a:solidFill>
                  <a:srgbClr val="27AE60"/>
                </a:solidFill>
                <a:latin typeface="Calibri" panose="020F0502020204030204" pitchFamily="34" charset="0"/>
                <a:ea typeface="Calibri" panose="020F0502020204030204" pitchFamily="34" charset="-122"/>
                <a:cs typeface="Calibri" panose="020F0502020204030204" pitchFamily="34" charset="-120"/>
              </a:rPr>
              <a:t>Photo</a:t>
            </a:r>
            <a:endParaRPr lang="en-US" sz="1000" dirty="0"/>
          </a:p>
        </p:txBody>
      </p:sp>
      <p:sp>
        <p:nvSpPr>
          <p:cNvPr id="32" name="Shape 29"/>
          <p:cNvSpPr/>
          <p:nvPr/>
        </p:nvSpPr>
        <p:spPr>
          <a:xfrm>
            <a:off x="6296291" y="2286000"/>
            <a:ext cx="2066544" cy="47549"/>
          </a:xfrm>
          <a:prstGeom prst="rect">
            <a:avLst/>
          </a:prstGeom>
          <a:solidFill>
            <a:srgbClr val="27AE60"/>
          </a:solidFill>
          <a:ln w="12700">
            <a:solidFill>
              <a:srgbClr val="27AE60"/>
            </a:solidFill>
            <a:prstDash val="solid"/>
          </a:ln>
        </p:spPr>
      </p:sp>
      <p:sp>
        <p:nvSpPr>
          <p:cNvPr id="33" name="Text 30"/>
          <p:cNvSpPr/>
          <p:nvPr/>
        </p:nvSpPr>
        <p:spPr>
          <a:xfrm>
            <a:off x="6369443" y="2340864"/>
            <a:ext cx="1920240" cy="237744"/>
          </a:xfrm>
          <a:prstGeom prst="rect">
            <a:avLst/>
          </a:prstGeom>
          <a:noFill/>
        </p:spPr>
        <p:txBody>
          <a:bodyPr wrap="square" lIns="0" tIns="0" rIns="0" bIns="0" rtlCol="0" anchor="ctr"/>
          <a:lstStyle/>
          <a:p>
            <a:pPr marL="0" indent="0" algn="ctr">
              <a:buNone/>
            </a:pPr>
            <a:r>
              <a:rPr lang="en-US" sz="1100" b="1" dirty="0">
                <a:solidFill>
                  <a:srgbClr val="27AE60"/>
                </a:solidFill>
                <a:latin typeface="Calibri" panose="020F0502020204030204" pitchFamily="34" charset="0"/>
                <a:ea typeface="Calibri" panose="020F0502020204030204" pitchFamily="34" charset="-122"/>
                <a:cs typeface="Calibri" panose="020F0502020204030204" pitchFamily="34" charset="-120"/>
              </a:rPr>
              <a:t>Member 3</a:t>
            </a:r>
            <a:endParaRPr lang="en-US" sz="1100" dirty="0"/>
          </a:p>
        </p:txBody>
      </p:sp>
      <p:sp>
        <p:nvSpPr>
          <p:cNvPr id="34" name="Text 31"/>
          <p:cNvSpPr/>
          <p:nvPr/>
        </p:nvSpPr>
        <p:spPr>
          <a:xfrm>
            <a:off x="6369443" y="2596896"/>
            <a:ext cx="1920240" cy="182880"/>
          </a:xfrm>
          <a:prstGeom prst="rect">
            <a:avLst/>
          </a:prstGeom>
          <a:noFill/>
        </p:spPr>
        <p:txBody>
          <a:bodyPr wrap="square" lIns="0" tIns="0" rIns="0" bIns="0" rtlCol="0" anchor="ctr"/>
          <a:lstStyle/>
          <a:p>
            <a:pPr marL="0" indent="0" algn="ctr">
              <a:buNone/>
            </a:pPr>
            <a:r>
              <a:rPr lang="en-US" sz="850" dirty="0">
                <a:solidFill>
                  <a:srgbClr val="767676"/>
                </a:solidFill>
                <a:latin typeface="Calibri" panose="020F0502020204030204" pitchFamily="34" charset="0"/>
                <a:ea typeface="Calibri" panose="020F0502020204030204" pitchFamily="34" charset="-122"/>
                <a:cs typeface="Calibri" panose="020F0502020204030204" pitchFamily="34" charset="-120"/>
              </a:rPr>
              <a:t>NAME : DEBI PRASAD BEHERA</a:t>
            </a:r>
          </a:p>
          <a:p>
            <a:pPr marL="0" indent="0" algn="ctr">
              <a:buNone/>
            </a:pPr>
            <a:r>
              <a:rPr lang="en-US" sz="850" dirty="0">
                <a:solidFill>
                  <a:srgbClr val="767676"/>
                </a:solidFill>
                <a:latin typeface="Calibri" panose="020F0502020204030204" pitchFamily="34" charset="0"/>
                <a:ea typeface="Calibri" panose="020F0502020204030204" pitchFamily="34" charset="-122"/>
                <a:cs typeface="Calibri" panose="020F0502020204030204" pitchFamily="34" charset="-120"/>
              </a:rPr>
              <a:t>Roll No: 25CSE072</a:t>
            </a:r>
            <a:endParaRPr lang="en-US" sz="850" dirty="0"/>
          </a:p>
        </p:txBody>
      </p:sp>
      <p:sp>
        <p:nvSpPr>
          <p:cNvPr id="35" name="Text 32"/>
          <p:cNvSpPr/>
          <p:nvPr/>
        </p:nvSpPr>
        <p:spPr>
          <a:xfrm>
            <a:off x="6369443" y="2798064"/>
            <a:ext cx="1920240" cy="182880"/>
          </a:xfrm>
          <a:prstGeom prst="rect">
            <a:avLst/>
          </a:prstGeom>
          <a:noFill/>
        </p:spPr>
        <p:txBody>
          <a:bodyPr wrap="square" lIns="0" tIns="0" rIns="0" bIns="0" rtlCol="0" anchor="ctr"/>
          <a:lstStyle/>
          <a:p>
            <a:pPr marL="0" indent="0" algn="ctr">
              <a:buNone/>
            </a:pPr>
            <a:r>
              <a:rPr lang="en-US" sz="850" dirty="0">
                <a:solidFill>
                  <a:srgbClr val="767676"/>
                </a:solidFill>
                <a:latin typeface="Calibri" panose="020F0502020204030204" pitchFamily="34" charset="0"/>
                <a:ea typeface="Calibri" panose="020F0502020204030204" pitchFamily="34" charset="-122"/>
                <a:cs typeface="Calibri" panose="020F0502020204030204" pitchFamily="34" charset="-120"/>
              </a:rPr>
              <a:t>Sem 2nd · Dept: BSH</a:t>
            </a:r>
            <a:endParaRPr lang="en-US" sz="850" dirty="0"/>
          </a:p>
        </p:txBody>
      </p:sp>
      <p:sp>
        <p:nvSpPr>
          <p:cNvPr id="36" name="Text 33"/>
          <p:cNvSpPr/>
          <p:nvPr/>
        </p:nvSpPr>
        <p:spPr>
          <a:xfrm>
            <a:off x="6387731" y="3035808"/>
            <a:ext cx="1883664" cy="164592"/>
          </a:xfrm>
          <a:prstGeom prst="rect">
            <a:avLst/>
          </a:prstGeom>
          <a:noFill/>
        </p:spPr>
        <p:txBody>
          <a:bodyPr wrap="square" lIns="0" tIns="0" rIns="0" bIns="0" rtlCol="0" anchor="ctr"/>
          <a:lstStyle/>
          <a:p>
            <a:pPr marL="0" indent="0">
              <a:buNone/>
            </a:pPr>
            <a:endParaRPr lang="en-US" sz="800" dirty="0"/>
          </a:p>
        </p:txBody>
      </p:sp>
      <p:sp>
        <p:nvSpPr>
          <p:cNvPr id="37" name="Text 34"/>
          <p:cNvSpPr/>
          <p:nvPr/>
        </p:nvSpPr>
        <p:spPr>
          <a:xfrm>
            <a:off x="6387731" y="3218688"/>
            <a:ext cx="1883664" cy="603504"/>
          </a:xfrm>
          <a:prstGeom prst="rect">
            <a:avLst/>
          </a:prstGeom>
          <a:noFill/>
        </p:spPr>
        <p:txBody>
          <a:bodyPr wrap="square" lIns="0" tIns="0" rIns="0" bIns="0" rtlCol="0" anchor="ctr"/>
          <a:lstStyle/>
          <a:p>
            <a:r>
              <a:rPr lang="en-US" sz="800" b="1" dirty="0">
                <a:solidFill>
                  <a:srgbClr val="6062FF"/>
                </a:solidFill>
                <a:latin typeface="Calibri" panose="020F0502020204030204" pitchFamily="34" charset="0"/>
                <a:ea typeface="Calibri" panose="020F0502020204030204" pitchFamily="34" charset="-122"/>
                <a:cs typeface="Calibri" panose="020F0502020204030204" pitchFamily="34" charset="-120"/>
              </a:rPr>
              <a:t>TEAM:</a:t>
            </a:r>
          </a:p>
          <a:p>
            <a:endParaRPr lang="en-US" sz="800" b="1" dirty="0">
              <a:solidFill>
                <a:srgbClr val="6062FF"/>
              </a:solidFill>
              <a:latin typeface="Calibri" panose="020F0502020204030204" pitchFamily="34" charset="0"/>
              <a:ea typeface="Calibri" panose="020F0502020204030204" pitchFamily="34" charset="-122"/>
              <a:cs typeface="Calibri" panose="020F0502020204030204" pitchFamily="34" charset="-120"/>
            </a:endParaRPr>
          </a:p>
          <a:p>
            <a:r>
              <a:rPr lang="en-US" sz="800" b="1" dirty="0">
                <a:solidFill>
                  <a:srgbClr val="6062FF"/>
                </a:solidFill>
                <a:latin typeface="Calibri" panose="020F0502020204030204" pitchFamily="34" charset="0"/>
                <a:ea typeface="Calibri" panose="020F0502020204030204" pitchFamily="34" charset="-122"/>
                <a:cs typeface="Calibri" panose="020F0502020204030204" pitchFamily="34" charset="-120"/>
              </a:rPr>
              <a:t>COD-THREE</a:t>
            </a:r>
            <a:endParaRPr lang="en-US" sz="800" dirty="0"/>
          </a:p>
          <a:p>
            <a:pPr marL="0" indent="0">
              <a:buNone/>
            </a:pPr>
            <a:endParaRPr lang="en-US" sz="800" dirty="0"/>
          </a:p>
        </p:txBody>
      </p:sp>
      <p:sp>
        <p:nvSpPr>
          <p:cNvPr id="39" name="Text 36"/>
          <p:cNvSpPr/>
          <p:nvPr/>
        </p:nvSpPr>
        <p:spPr>
          <a:xfrm>
            <a:off x="7333488" y="914400"/>
            <a:ext cx="1298448" cy="1298448"/>
          </a:xfrm>
          <a:prstGeom prst="rect">
            <a:avLst/>
          </a:prstGeom>
          <a:noFill/>
        </p:spPr>
        <p:txBody>
          <a:bodyPr wrap="square" lIns="0" tIns="0" rIns="0" bIns="0" rtlCol="0" anchor="ctr"/>
          <a:lstStyle/>
          <a:p>
            <a:pPr marL="0" indent="0" algn="ctr">
              <a:buNone/>
            </a:pPr>
            <a:endParaRPr lang="en-US" sz="1000" dirty="0"/>
          </a:p>
        </p:txBody>
      </p:sp>
      <p:sp>
        <p:nvSpPr>
          <p:cNvPr id="42" name="Text 39"/>
          <p:cNvSpPr/>
          <p:nvPr/>
        </p:nvSpPr>
        <p:spPr>
          <a:xfrm>
            <a:off x="6949440" y="2340864"/>
            <a:ext cx="1920240" cy="237744"/>
          </a:xfrm>
          <a:prstGeom prst="rect">
            <a:avLst/>
          </a:prstGeom>
          <a:noFill/>
        </p:spPr>
        <p:txBody>
          <a:bodyPr wrap="square" lIns="0" tIns="0" rIns="0" bIns="0" rtlCol="0" anchor="ctr"/>
          <a:lstStyle/>
          <a:p>
            <a:pPr marL="0" indent="0" algn="ctr">
              <a:buNone/>
            </a:pPr>
            <a:endParaRPr lang="en-US" sz="1100" dirty="0"/>
          </a:p>
        </p:txBody>
      </p:sp>
      <p:sp>
        <p:nvSpPr>
          <p:cNvPr id="44" name="Text 41"/>
          <p:cNvSpPr/>
          <p:nvPr/>
        </p:nvSpPr>
        <p:spPr>
          <a:xfrm>
            <a:off x="6949440" y="2798064"/>
            <a:ext cx="1920240" cy="182880"/>
          </a:xfrm>
          <a:prstGeom prst="rect">
            <a:avLst/>
          </a:prstGeom>
          <a:noFill/>
        </p:spPr>
        <p:txBody>
          <a:bodyPr wrap="square" lIns="0" tIns="0" rIns="0" bIns="0" rtlCol="0" anchor="ctr"/>
          <a:lstStyle/>
          <a:p>
            <a:pPr marL="0" indent="0" algn="ctr">
              <a:buNone/>
            </a:pPr>
            <a:endParaRPr lang="en-US" sz="850" dirty="0"/>
          </a:p>
        </p:txBody>
      </p:sp>
      <p:sp>
        <p:nvSpPr>
          <p:cNvPr id="46" name="Text 43"/>
          <p:cNvSpPr/>
          <p:nvPr/>
        </p:nvSpPr>
        <p:spPr>
          <a:xfrm>
            <a:off x="6967728" y="3218688"/>
            <a:ext cx="1883664" cy="603504"/>
          </a:xfrm>
          <a:prstGeom prst="rect">
            <a:avLst/>
          </a:prstGeom>
          <a:noFill/>
        </p:spPr>
        <p:txBody>
          <a:bodyPr wrap="square" lIns="0" tIns="0" rIns="0" bIns="0" rtlCol="0" anchor="ctr"/>
          <a:lstStyle/>
          <a:p>
            <a:pPr marL="0" indent="0">
              <a:buNone/>
            </a:pPr>
            <a:r>
              <a:rPr lang="en-US" sz="800" dirty="0">
                <a:solidFill>
                  <a:srgbClr val="333333"/>
                </a:solidFill>
                <a:latin typeface="Calibri" panose="020F0502020204030204" pitchFamily="34" charset="0"/>
                <a:ea typeface="Calibri" panose="020F0502020204030204" pitchFamily="34" charset="-122"/>
                <a:cs typeface="Calibri" panose="020F0502020204030204" pitchFamily="34" charset="-120"/>
              </a:rPr>
              <a:t>r</a:t>
            </a:r>
            <a:endParaRPr lang="en-US" sz="800" dirty="0"/>
          </a:p>
        </p:txBody>
      </p:sp>
      <p:sp>
        <p:nvSpPr>
          <p:cNvPr id="48" name="Text 45"/>
          <p:cNvSpPr/>
          <p:nvPr/>
        </p:nvSpPr>
        <p:spPr>
          <a:xfrm>
            <a:off x="365760" y="4023360"/>
            <a:ext cx="1828800" cy="201168"/>
          </a:xfrm>
          <a:prstGeom prst="rect">
            <a:avLst/>
          </a:prstGeom>
          <a:noFill/>
        </p:spPr>
        <p:txBody>
          <a:bodyPr wrap="square" lIns="0" tIns="0" rIns="0" bIns="0" rtlCol="0" anchor="ctr"/>
          <a:lstStyle/>
          <a:p>
            <a:pPr marL="0" indent="0">
              <a:buNone/>
            </a:pPr>
            <a:endParaRPr lang="en-US" sz="950" dirty="0"/>
          </a:p>
        </p:txBody>
      </p:sp>
      <p:sp>
        <p:nvSpPr>
          <p:cNvPr id="49" name="Text 46"/>
          <p:cNvSpPr/>
          <p:nvPr/>
        </p:nvSpPr>
        <p:spPr>
          <a:xfrm>
            <a:off x="2286000" y="4023360"/>
            <a:ext cx="6492240" cy="201168"/>
          </a:xfrm>
          <a:prstGeom prst="rect">
            <a:avLst/>
          </a:prstGeom>
          <a:noFill/>
        </p:spPr>
        <p:txBody>
          <a:bodyPr wrap="square" lIns="0" tIns="0" rIns="0" bIns="0" rtlCol="0" anchor="ctr"/>
          <a:lstStyle/>
          <a:p>
            <a:pPr marL="0" indent="0">
              <a:buNone/>
            </a:pPr>
            <a:endParaRPr lang="en-US" sz="950" dirty="0"/>
          </a:p>
        </p:txBody>
      </p:sp>
      <p:sp>
        <p:nvSpPr>
          <p:cNvPr id="50" name="Text 47"/>
          <p:cNvSpPr/>
          <p:nvPr/>
        </p:nvSpPr>
        <p:spPr>
          <a:xfrm>
            <a:off x="365760" y="4242816"/>
            <a:ext cx="8412480" cy="182880"/>
          </a:xfrm>
          <a:prstGeom prst="rect">
            <a:avLst/>
          </a:prstGeom>
          <a:noFill/>
        </p:spPr>
        <p:txBody>
          <a:bodyPr wrap="square" lIns="0" tIns="0" rIns="0" bIns="0" rtlCol="0" anchor="ctr"/>
          <a:lstStyle/>
          <a:p>
            <a:pPr marL="0" indent="0">
              <a:buNone/>
            </a:pPr>
            <a:endParaRPr lang="en-US" sz="750" dirty="0"/>
          </a:p>
        </p:txBody>
      </p:sp>
      <p:pic>
        <p:nvPicPr>
          <p:cNvPr id="51" name="Picture 5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7369" y="889368"/>
            <a:ext cx="1345537" cy="132348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52" name="Shape 44"/>
          <p:cNvSpPr/>
          <p:nvPr/>
        </p:nvSpPr>
        <p:spPr>
          <a:xfrm>
            <a:off x="237744" y="3969795"/>
            <a:ext cx="8668512" cy="475488"/>
          </a:xfrm>
          <a:prstGeom prst="rect">
            <a:avLst/>
          </a:prstGeom>
          <a:solidFill>
            <a:srgbClr val="F6F9FF"/>
          </a:solidFill>
          <a:ln w="6350">
            <a:solidFill>
              <a:srgbClr val="D5DAFF"/>
            </a:solidFill>
            <a:prstDash val="solid"/>
          </a:ln>
        </p:spPr>
      </p:sp>
      <p:sp>
        <p:nvSpPr>
          <p:cNvPr id="53" name="Rectangle 52"/>
          <p:cNvSpPr/>
          <p:nvPr/>
        </p:nvSpPr>
        <p:spPr>
          <a:xfrm>
            <a:off x="6317188" y="2340858"/>
            <a:ext cx="2045647" cy="1509290"/>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a:p>
        </p:txBody>
      </p:sp>
      <p:pic>
        <p:nvPicPr>
          <p:cNvPr id="54" name="Picture 5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015463" y="870587"/>
            <a:ext cx="1345537" cy="1345537"/>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56" name="Picture 55"/>
          <p:cNvPicPr>
            <a:picLocks noChangeAspect="1"/>
          </p:cNvPicPr>
          <p:nvPr/>
        </p:nvPicPr>
        <p:blipFill>
          <a:blip r:embed="rId6" cstate="print">
            <a:extLst>
              <a:ext uri="{28A0092B-C50C-407E-A947-70E740481C1C}">
                <a14:useLocalDpi xmlns:a14="http://schemas.microsoft.com/office/drawing/2010/main" val="0"/>
              </a:ext>
            </a:extLst>
          </a:blip>
          <a:srcRect l="-4081" t="22439" r="2063" b="17801"/>
          <a:stretch>
            <a:fillRect/>
          </a:stretch>
        </p:blipFill>
        <p:spPr>
          <a:xfrm>
            <a:off x="6743910" y="783115"/>
            <a:ext cx="1399460" cy="1445056"/>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28000"/>
          </a:blip>
          <a:stretch>
            <a:fillRect/>
          </a:stretch>
        </p:blipFill>
        <p:spPr>
          <a:xfrm>
            <a:off x="0" y="0"/>
            <a:ext cx="9144000" cy="5143500"/>
          </a:xfrm>
          <a:prstGeom prst="rect">
            <a:avLst/>
          </a:prstGeom>
        </p:spPr>
      </p:pic>
      <p:pic>
        <p:nvPicPr>
          <p:cNvPr id="3" name="Image 1" descr="preencoded.png"/>
          <p:cNvPicPr>
            <a:picLocks noChangeAspect="1"/>
          </p:cNvPicPr>
          <p:nvPr/>
        </p:nvPicPr>
        <p:blipFill>
          <a:blip r:embed="rId4">
            <a:alphaModFix amt="45000"/>
          </a:blip>
          <a:stretch>
            <a:fillRect/>
          </a:stretch>
        </p:blipFill>
        <p:spPr>
          <a:xfrm>
            <a:off x="-640080" y="-640080"/>
            <a:ext cx="6400800" cy="6400800"/>
          </a:xfrm>
          <a:prstGeom prst="rect">
            <a:avLst/>
          </a:prstGeom>
        </p:spPr>
      </p:pic>
      <p:sp>
        <p:nvSpPr>
          <p:cNvPr id="4" name="Text 0"/>
          <p:cNvSpPr/>
          <p:nvPr/>
        </p:nvSpPr>
        <p:spPr>
          <a:xfrm>
            <a:off x="530352" y="914400"/>
            <a:ext cx="4754880" cy="1060704"/>
          </a:xfrm>
          <a:prstGeom prst="rect">
            <a:avLst/>
          </a:prstGeom>
          <a:noFill/>
        </p:spPr>
        <p:txBody>
          <a:bodyPr wrap="square" lIns="0" tIns="0" rIns="0" bIns="0" rtlCol="0" anchor="ctr"/>
          <a:lstStyle/>
          <a:p>
            <a:pPr marL="0" indent="0">
              <a:buNone/>
            </a:pPr>
            <a:r>
              <a:rPr lang="en-US" sz="7200" b="1" dirty="0">
                <a:solidFill>
                  <a:srgbClr val="FFFFFF"/>
                </a:solidFill>
                <a:latin typeface="Calibri" panose="020F0502020204030204" pitchFamily="34" charset="0"/>
                <a:ea typeface="Calibri" panose="020F0502020204030204" pitchFamily="34" charset="-122"/>
                <a:cs typeface="Calibri" panose="020F0502020204030204" pitchFamily="34" charset="-120"/>
              </a:rPr>
              <a:t>Thank</a:t>
            </a:r>
            <a:endParaRPr lang="en-US" sz="7200" dirty="0"/>
          </a:p>
        </p:txBody>
      </p:sp>
      <p:sp>
        <p:nvSpPr>
          <p:cNvPr id="5" name="Text 1"/>
          <p:cNvSpPr/>
          <p:nvPr/>
        </p:nvSpPr>
        <p:spPr>
          <a:xfrm>
            <a:off x="530352" y="1993392"/>
            <a:ext cx="4754880" cy="1042416"/>
          </a:xfrm>
          <a:prstGeom prst="rect">
            <a:avLst/>
          </a:prstGeom>
          <a:noFill/>
        </p:spPr>
        <p:txBody>
          <a:bodyPr wrap="square" lIns="0" tIns="0" rIns="0" bIns="0" rtlCol="0" anchor="ctr"/>
          <a:lstStyle/>
          <a:p>
            <a:pPr marL="0" indent="0">
              <a:buNone/>
            </a:pPr>
            <a:r>
              <a:rPr lang="en-US" sz="7200" b="1" dirty="0">
                <a:solidFill>
                  <a:srgbClr val="38B6FF"/>
                </a:solidFill>
                <a:latin typeface="Calibri" panose="020F0502020204030204" pitchFamily="34" charset="0"/>
                <a:ea typeface="Calibri" panose="020F0502020204030204" pitchFamily="34" charset="-122"/>
                <a:cs typeface="Calibri" panose="020F0502020204030204" pitchFamily="34" charset="-120"/>
              </a:rPr>
              <a:t>You</a:t>
            </a:r>
            <a:endParaRPr lang="en-US" sz="7200" dirty="0"/>
          </a:p>
        </p:txBody>
      </p:sp>
      <p:sp>
        <p:nvSpPr>
          <p:cNvPr id="6" name="Text 2"/>
          <p:cNvSpPr/>
          <p:nvPr/>
        </p:nvSpPr>
        <p:spPr>
          <a:xfrm>
            <a:off x="566928" y="3145536"/>
            <a:ext cx="4389120" cy="274320"/>
          </a:xfrm>
          <a:prstGeom prst="rect">
            <a:avLst/>
          </a:prstGeom>
          <a:noFill/>
        </p:spPr>
        <p:txBody>
          <a:bodyPr wrap="square" lIns="0" tIns="0" rIns="0" bIns="0" rtlCol="0" anchor="ctr"/>
          <a:lstStyle/>
          <a:p>
            <a:pPr marL="0" indent="0">
              <a:buNone/>
            </a:pPr>
            <a:endParaRPr lang="en-US" sz="1300" dirty="0"/>
          </a:p>
        </p:txBody>
      </p:sp>
      <p:sp>
        <p:nvSpPr>
          <p:cNvPr id="7" name="Text 3"/>
          <p:cNvSpPr/>
          <p:nvPr/>
        </p:nvSpPr>
        <p:spPr>
          <a:xfrm>
            <a:off x="566928" y="3493008"/>
            <a:ext cx="5029200" cy="676656"/>
          </a:xfrm>
          <a:prstGeom prst="rect">
            <a:avLst/>
          </a:prstGeom>
          <a:noFill/>
        </p:spPr>
        <p:txBody>
          <a:bodyPr wrap="square" lIns="0" tIns="0" rIns="0" bIns="0" rtlCol="0" anchor="ctr"/>
          <a:lstStyle/>
          <a:p>
            <a:pPr marL="0" indent="0">
              <a:buNone/>
            </a:pPr>
            <a:r>
              <a:rPr lang="en-US" sz="1000" dirty="0">
                <a:solidFill>
                  <a:srgbClr val="AAAACC"/>
                </a:solidFill>
                <a:latin typeface="Calibri" panose="020F0502020204030204" pitchFamily="34" charset="0"/>
                <a:ea typeface="Calibri" panose="020F0502020204030204" pitchFamily="34" charset="-122"/>
                <a:cs typeface="Calibri" panose="020F0502020204030204" pitchFamily="34" charset="-120"/>
              </a:rPr>
              <a:t>COD - THREE  |  SafeHer Project  |  </a:t>
            </a:r>
            <a:r>
              <a:rPr lang="en-US" sz="1000" dirty="0" err="1">
                <a:solidFill>
                  <a:srgbClr val="AAAACC"/>
                </a:solidFill>
                <a:latin typeface="Calibri" panose="020F0502020204030204" pitchFamily="34" charset="0"/>
                <a:ea typeface="Calibri" panose="020F0502020204030204" pitchFamily="34" charset="-122"/>
                <a:cs typeface="Calibri" panose="020F0502020204030204" pitchFamily="34" charset="-120"/>
              </a:rPr>
              <a:t>HackNovation</a:t>
            </a:r>
            <a:r>
              <a:rPr lang="en-US" sz="1000" dirty="0">
                <a:solidFill>
                  <a:srgbClr val="AAAACC"/>
                </a:solidFill>
                <a:latin typeface="Calibri" panose="020F0502020204030204" pitchFamily="34" charset="0"/>
                <a:ea typeface="Calibri" panose="020F0502020204030204" pitchFamily="34" charset="-122"/>
                <a:cs typeface="Calibri" panose="020F0502020204030204" pitchFamily="34" charset="-120"/>
              </a:rPr>
              <a:t> 2.0</a:t>
            </a:r>
            <a:endParaRPr lang="en-US" sz="1000" dirty="0"/>
          </a:p>
          <a:p>
            <a:pPr marL="0" indent="0">
              <a:buNone/>
            </a:pPr>
            <a:endParaRPr lang="en-US" sz="1000" dirty="0"/>
          </a:p>
        </p:txBody>
      </p:sp>
      <p:pic>
        <p:nvPicPr>
          <p:cNvPr id="8" name="Image 2" descr="preencoded.png"/>
          <p:cNvPicPr>
            <a:picLocks noChangeAspect="1"/>
          </p:cNvPicPr>
          <p:nvPr/>
        </p:nvPicPr>
        <p:blipFill>
          <a:blip r:embed="rId5">
            <a:alphaModFix amt="88000"/>
          </a:blip>
          <a:stretch>
            <a:fillRect/>
          </a:stretch>
        </p:blipFill>
        <p:spPr>
          <a:xfrm>
            <a:off x="5486400" y="1005840"/>
            <a:ext cx="3383280" cy="3383280"/>
          </a:xfrm>
          <a:prstGeom prst="rect">
            <a:avLst/>
          </a:prstGeom>
        </p:spPr>
      </p:pic>
      <p:sp>
        <p:nvSpPr>
          <p:cNvPr id="9" name="Shape 4"/>
          <p:cNvSpPr/>
          <p:nvPr/>
        </p:nvSpPr>
        <p:spPr>
          <a:xfrm>
            <a:off x="0" y="4544568"/>
            <a:ext cx="9144000" cy="598932"/>
          </a:xfrm>
          <a:prstGeom prst="rect">
            <a:avLst/>
          </a:prstGeom>
          <a:solidFill>
            <a:srgbClr val="FFFFFF"/>
          </a:solidFill>
          <a:ln w="12700">
            <a:solidFill>
              <a:srgbClr val="FFFFFF"/>
            </a:solidFill>
            <a:prstDash val="solid"/>
          </a:ln>
        </p:spPr>
      </p:sp>
      <p:pic>
        <p:nvPicPr>
          <p:cNvPr id="10" name="Image 3" descr="preencoded.png"/>
          <p:cNvPicPr>
            <a:picLocks noChangeAspect="1"/>
          </p:cNvPicPr>
          <p:nvPr/>
        </p:nvPicPr>
        <p:blipFill>
          <a:blip r:embed="rId6"/>
          <a:stretch>
            <a:fillRect/>
          </a:stretch>
        </p:blipFill>
        <p:spPr>
          <a:xfrm>
            <a:off x="201168" y="4572000"/>
            <a:ext cx="1234440" cy="457200"/>
          </a:xfrm>
          <a:prstGeom prst="rect">
            <a:avLst/>
          </a:prstGeom>
        </p:spPr>
      </p:pic>
      <p:pic>
        <p:nvPicPr>
          <p:cNvPr id="11" name="Image 4" descr="preencoded.png"/>
          <p:cNvPicPr>
            <a:picLocks noChangeAspect="1"/>
          </p:cNvPicPr>
          <p:nvPr/>
        </p:nvPicPr>
        <p:blipFill>
          <a:blip r:embed="rId7"/>
          <a:stretch>
            <a:fillRect/>
          </a:stretch>
        </p:blipFill>
        <p:spPr>
          <a:xfrm>
            <a:off x="1627632" y="4581144"/>
            <a:ext cx="1188720" cy="438912"/>
          </a:xfrm>
          <a:prstGeom prst="rect">
            <a:avLst/>
          </a:prstGeom>
        </p:spPr>
      </p:pic>
      <p:pic>
        <p:nvPicPr>
          <p:cNvPr id="12" name="Image 5" descr="preencoded.png"/>
          <p:cNvPicPr>
            <a:picLocks noChangeAspect="1"/>
          </p:cNvPicPr>
          <p:nvPr/>
        </p:nvPicPr>
        <p:blipFill>
          <a:blip r:embed="rId8"/>
          <a:stretch>
            <a:fillRect/>
          </a:stretch>
        </p:blipFill>
        <p:spPr>
          <a:xfrm>
            <a:off x="2999232" y="4572000"/>
            <a:ext cx="1078992" cy="457200"/>
          </a:xfrm>
          <a:prstGeom prst="rect">
            <a:avLst/>
          </a:prstGeom>
        </p:spPr>
      </p:pic>
      <p:pic>
        <p:nvPicPr>
          <p:cNvPr id="13" name="Image 6" descr="preencoded.png"/>
          <p:cNvPicPr>
            <a:picLocks noChangeAspect="1"/>
          </p:cNvPicPr>
          <p:nvPr/>
        </p:nvPicPr>
        <p:blipFill>
          <a:blip r:embed="rId9"/>
          <a:stretch>
            <a:fillRect/>
          </a:stretch>
        </p:blipFill>
        <p:spPr>
          <a:xfrm>
            <a:off x="4251960" y="4608576"/>
            <a:ext cx="1371600" cy="402336"/>
          </a:xfrm>
          <a:prstGeom prst="rect">
            <a:avLst/>
          </a:prstGeom>
        </p:spPr>
      </p:pic>
      <p:pic>
        <p:nvPicPr>
          <p:cNvPr id="14" name="Image 7" descr="preencoded.png"/>
          <p:cNvPicPr>
            <a:picLocks noChangeAspect="1"/>
          </p:cNvPicPr>
          <p:nvPr/>
        </p:nvPicPr>
        <p:blipFill>
          <a:blip r:embed="rId10"/>
          <a:stretch>
            <a:fillRect/>
          </a:stretch>
        </p:blipFill>
        <p:spPr>
          <a:xfrm>
            <a:off x="7680960" y="4544568"/>
            <a:ext cx="1298448" cy="576072"/>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164.16000000000003,&quot;left&quot;:43.2,&quot;top&quot;:119.52000000000001,&quot;width&quot;:652.3199999999999}"/>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164.16000000000003,&quot;left&quot;:43.2,&quot;top&quot;:119.52000000000001,&quot;width&quot;:652.3199999999999}"/>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164.16000000000003,&quot;left&quot;:43.2,&quot;top&quot;:119.52000000000001,&quot;width&quot;:652.3199999999999}"/>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164.16000000000003,&quot;left&quot;:43.2,&quot;top&quot;:119.52000000000001,&quot;width&quot;:652.3199999999999}"/>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164.16000000000003,&quot;left&quot;:43.2,&quot;top&quot;:119.52000000000001,&quot;width&quot;:652.3199999999999}"/>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164.16000000000003,&quot;left&quot;:43.2,&quot;top&quot;:119.52000000000001,&quot;width&quot;:652.3199999999999}"/>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164.16000000000003,&quot;left&quot;:43.2,&quot;top&quot;:119.52000000000001,&quot;width&quot;:652.3199999999999}"/>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164.16000000000003,&quot;left&quot;:43.2,&quot;top&quot;:119.52000000000001,&quot;width&quot;:652.3199999999999}"/>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164.16000000000003,&quot;left&quot;:43.2,&quot;top&quot;:119.52000000000001,&quot;width&quot;:652.3199999999999}"/>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164.16000000000003,&quot;left&quot;:43.2,&quot;top&quot;:119.52000000000001,&quot;width&quot;:652.3199999999999}"/>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164.16000000000003,&quot;left&quot;:43.2,&quot;top&quot;:119.52000000000001,&quot;width&quot;:652.3199999999999}"/>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164.16000000000003,&quot;left&quot;:43.2,&quot;top&quot;:119.52000000000001,&quot;width&quot;:652.3199999999999}"/>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164.16000000000003,&quot;left&quot;:43.2,&quot;top&quot;:119.52000000000001,&quot;width&quot;:652.3199999999999}"/>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164.16000000000003,&quot;left&quot;:43.2,&quot;top&quot;:119.52000000000001,&quot;width&quot;:652.3199999999999}"/>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164.16000000000003,&quot;left&quot;:43.2,&quot;top&quot;:119.52000000000001,&quot;width&quot;:652.3199999999999}"/>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164.16000000000003,&quot;left&quot;:43.2,&quot;top&quot;:119.52000000000001,&quot;width&quot;:652.3199999999999}"/>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164.16000000000003,&quot;left&quot;:43.2,&quot;top&quot;:119.52000000000001,&quot;width&quot;:652.3199999999999}"/>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164.16000000000003,&quot;left&quot;:43.2,&quot;top&quot;:119.52000000000001,&quot;width&quot;:652.3199999999999}"/>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164.16000000000003,&quot;left&quot;:43.2,&quot;top&quot;:119.52000000000001,&quot;width&quot;:652.3199999999999}"/>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164.16000000000003,&quot;left&quot;:43.2,&quot;top&quot;:119.52000000000001,&quot;width&quot;:652.3199999999999}"/>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164.16000000000003,&quot;left&quot;:43.2,&quot;top&quot;:119.52000000000001,&quot;width&quot;:652.3199999999999}"/>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164.16000000000003,&quot;left&quot;:43.2,&quot;top&quot;:119.52000000000001,&quot;width&quot;:652.3199999999999}"/>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164.16000000000003,&quot;left&quot;:43.2,&quot;top&quot;:119.52000000000001,&quot;width&quot;:652.3199999999999}"/>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164.16000000000003,&quot;left&quot;:43.2,&quot;top&quot;:119.52000000000001,&quot;width&quot;:652.3199999999999}"/>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164.16000000000003,&quot;left&quot;:43.2,&quot;top&quot;:119.52000000000001,&quot;width&quot;:652.3199999999999}"/>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164.16000000000003,&quot;left&quot;:43.2,&quot;top&quot;:119.52000000000001,&quot;width&quot;:652.3199999999999}"/>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164.16000000000003,&quot;left&quot;:43.2,&quot;top&quot;:119.52000000000001,&quot;width&quot;:652.3199999999999}"/>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164.16000000000003,&quot;left&quot;:43.2,&quot;top&quot;:119.52000000000001,&quot;width&quot;:652.3199999999999}"/>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164.16000000000003,&quot;left&quot;:43.2,&quot;top&quot;:119.52000000000001,&quot;width&quot;:652.3199999999999}"/>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164.16000000000003,&quot;left&quot;:43.2,&quot;top&quot;:119.52000000000001,&quot;width&quot;:652.3199999999999}"/>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164.16000000000003,&quot;left&quot;:43.2,&quot;top&quot;:119.52000000000001,&quot;width&quot;:652.3199999999999}"/>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1459</Words>
  <Application>Microsoft Office PowerPoint</Application>
  <PresentationFormat>On-screen Show (16:9)</PresentationFormat>
  <Paragraphs>271</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DEBIPRASAD BEHERA</cp:lastModifiedBy>
  <cp:revision>6</cp:revision>
  <dcterms:created xsi:type="dcterms:W3CDTF">2026-02-21T11:11:00Z</dcterms:created>
  <dcterms:modified xsi:type="dcterms:W3CDTF">2026-02-22T08:57:51Z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536C1BF14E5F45CBB8804E6287E01216_12</vt:lpwstr>
  </property>
  <property fmtid="{D5CDD505-2E9C-101B-9397-08002B2CF9AE}" pid="3" name="KSOProductBuildVer">
    <vt:lpwstr>1033-12.2.0.23196</vt:lpwstr>
  </property>
</Properties>
</file>